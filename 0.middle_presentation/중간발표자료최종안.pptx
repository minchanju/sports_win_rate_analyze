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1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8" r:id="rId1"/>
  </p:sldMasterIdLst>
  <p:notesMasterIdLst>
    <p:notesMasterId r:id="rId49"/>
  </p:notesMasterIdLst>
  <p:sldIdLst>
    <p:sldId id="256" r:id="rId2"/>
    <p:sldId id="257" r:id="rId3"/>
    <p:sldId id="274" r:id="rId4"/>
    <p:sldId id="287" r:id="rId5"/>
    <p:sldId id="289" r:id="rId6"/>
    <p:sldId id="290" r:id="rId7"/>
    <p:sldId id="291" r:id="rId8"/>
    <p:sldId id="292" r:id="rId9"/>
    <p:sldId id="294" r:id="rId10"/>
    <p:sldId id="293" r:id="rId11"/>
    <p:sldId id="276" r:id="rId12"/>
    <p:sldId id="280" r:id="rId13"/>
    <p:sldId id="282" r:id="rId14"/>
    <p:sldId id="299" r:id="rId15"/>
    <p:sldId id="281" r:id="rId16"/>
    <p:sldId id="300" r:id="rId17"/>
    <p:sldId id="288" r:id="rId18"/>
    <p:sldId id="301" r:id="rId19"/>
    <p:sldId id="302" r:id="rId20"/>
    <p:sldId id="303" r:id="rId21"/>
    <p:sldId id="278" r:id="rId22"/>
    <p:sldId id="268" r:id="rId23"/>
    <p:sldId id="269" r:id="rId24"/>
    <p:sldId id="270" r:id="rId25"/>
    <p:sldId id="272" r:id="rId26"/>
    <p:sldId id="273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6" r:id="rId35"/>
    <p:sldId id="286" r:id="rId36"/>
    <p:sldId id="295" r:id="rId37"/>
    <p:sldId id="285" r:id="rId38"/>
    <p:sldId id="284" r:id="rId39"/>
    <p:sldId id="306" r:id="rId40"/>
    <p:sldId id="305" r:id="rId41"/>
    <p:sldId id="309" r:id="rId42"/>
    <p:sldId id="304" r:id="rId43"/>
    <p:sldId id="310" r:id="rId44"/>
    <p:sldId id="311" r:id="rId45"/>
    <p:sldId id="308" r:id="rId46"/>
    <p:sldId id="313" r:id="rId47"/>
    <p:sldId id="307" r:id="rId48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4F"/>
    <a:srgbClr val="FF2C63"/>
    <a:srgbClr val="B31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85919A-F75C-5542-8845-48FDC2A5CB51}" v="20" dt="2025-12-27T07:26:19.8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77" autoAdjust="0"/>
    <p:restoredTop sz="91701" autoAdjust="0"/>
  </p:normalViewPr>
  <p:slideViewPr>
    <p:cSldViewPr snapToGrid="0">
      <p:cViewPr>
        <p:scale>
          <a:sx n="75" d="100"/>
          <a:sy n="75" d="100"/>
        </p:scale>
        <p:origin x="144" y="-1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찬 주" userId="6a2b1774923cf756" providerId="LiveId" clId="{6FC2EF64-1E68-562E-838E-92CBEE5D17FB}"/>
    <pc:docChg chg="undo custSel modSld">
      <pc:chgData name="민찬 주" userId="6a2b1774923cf756" providerId="LiveId" clId="{6FC2EF64-1E68-562E-838E-92CBEE5D17FB}" dt="2025-12-27T07:26:19.919" v="32" actId="27636"/>
      <pc:docMkLst>
        <pc:docMk/>
      </pc:docMkLst>
      <pc:sldChg chg="addSp delSp modSp mod">
        <pc:chgData name="민찬 주" userId="6a2b1774923cf756" providerId="LiveId" clId="{6FC2EF64-1E68-562E-838E-92CBEE5D17FB}" dt="2025-12-14T16:08:49.111" v="12" actId="20577"/>
        <pc:sldMkLst>
          <pc:docMk/>
          <pc:sldMk cId="2997020972" sldId="264"/>
        </pc:sldMkLst>
        <pc:spChg chg="mod">
          <ac:chgData name="민찬 주" userId="6a2b1774923cf756" providerId="LiveId" clId="{6FC2EF64-1E68-562E-838E-92CBEE5D17FB}" dt="2025-12-14T16:08:31.481" v="0" actId="20577"/>
          <ac:spMkLst>
            <pc:docMk/>
            <pc:sldMk cId="2997020972" sldId="264"/>
            <ac:spMk id="4" creationId="{C73AB0CB-5134-B2F2-8E26-7F1109EB9148}"/>
          </ac:spMkLst>
        </pc:spChg>
        <pc:spChg chg="mod">
          <ac:chgData name="민찬 주" userId="6a2b1774923cf756" providerId="LiveId" clId="{6FC2EF64-1E68-562E-838E-92CBEE5D17FB}" dt="2025-12-14T16:08:33.976" v="1" actId="20577"/>
          <ac:spMkLst>
            <pc:docMk/>
            <pc:sldMk cId="2997020972" sldId="264"/>
            <ac:spMk id="5" creationId="{9E2BF0ED-0693-5103-E948-77218895341C}"/>
          </ac:spMkLst>
        </pc:spChg>
        <pc:spChg chg="mod">
          <ac:chgData name="민찬 주" userId="6a2b1774923cf756" providerId="LiveId" clId="{6FC2EF64-1E68-562E-838E-92CBEE5D17FB}" dt="2025-12-14T16:08:49.111" v="12" actId="20577"/>
          <ac:spMkLst>
            <pc:docMk/>
            <pc:sldMk cId="2997020972" sldId="264"/>
            <ac:spMk id="6" creationId="{3AAB7563-34D7-3428-0FB9-F3A264ACAF36}"/>
          </ac:spMkLst>
        </pc:spChg>
        <pc:spChg chg="mod">
          <ac:chgData name="민찬 주" userId="6a2b1774923cf756" providerId="LiveId" clId="{6FC2EF64-1E68-562E-838E-92CBEE5D17FB}" dt="2025-12-14T16:08:35.033" v="2" actId="20577"/>
          <ac:spMkLst>
            <pc:docMk/>
            <pc:sldMk cId="2997020972" sldId="264"/>
            <ac:spMk id="7" creationId="{C04B7FFA-6CD0-561D-1499-859B6A2FA7CA}"/>
          </ac:spMkLst>
        </pc:spChg>
        <pc:spChg chg="mod">
          <ac:chgData name="민찬 주" userId="6a2b1774923cf756" providerId="LiveId" clId="{6FC2EF64-1E68-562E-838E-92CBEE5D17FB}" dt="2025-12-14T16:08:47.564" v="11" actId="20577"/>
          <ac:spMkLst>
            <pc:docMk/>
            <pc:sldMk cId="2997020972" sldId="264"/>
            <ac:spMk id="8" creationId="{27D0CE79-1F2C-2BE7-7843-ADFB1A7E54C2}"/>
          </ac:spMkLst>
        </pc:spChg>
        <pc:spChg chg="mod">
          <ac:chgData name="민찬 주" userId="6a2b1774923cf756" providerId="LiveId" clId="{6FC2EF64-1E68-562E-838E-92CBEE5D17FB}" dt="2025-12-14T16:08:42.671" v="7" actId="20577"/>
          <ac:spMkLst>
            <pc:docMk/>
            <pc:sldMk cId="2997020972" sldId="264"/>
            <ac:spMk id="9" creationId="{DB3CFE2E-65FB-2445-8DBD-5750D004ECD9}"/>
          </ac:spMkLst>
        </pc:spChg>
        <pc:spChg chg="mod">
          <ac:chgData name="민찬 주" userId="6a2b1774923cf756" providerId="LiveId" clId="{6FC2EF64-1E68-562E-838E-92CBEE5D17FB}" dt="2025-12-14T16:08:38.107" v="4" actId="20577"/>
          <ac:spMkLst>
            <pc:docMk/>
            <pc:sldMk cId="2997020972" sldId="264"/>
            <ac:spMk id="10" creationId="{5828D0A6-B778-B7DA-9CDE-2B610B83437D}"/>
          </ac:spMkLst>
        </pc:spChg>
        <pc:spChg chg="add del mod">
          <ac:chgData name="민찬 주" userId="6a2b1774923cf756" providerId="LiveId" clId="{6FC2EF64-1E68-562E-838E-92CBEE5D17FB}" dt="2025-12-14T16:08:46.322" v="10" actId="20577"/>
          <ac:spMkLst>
            <pc:docMk/>
            <pc:sldMk cId="2997020972" sldId="264"/>
            <ac:spMk id="11" creationId="{8A7ACC14-BDF3-7763-2715-EA59FE31CB33}"/>
          </ac:spMkLst>
        </pc:spChg>
        <pc:spChg chg="mod">
          <ac:chgData name="민찬 주" userId="6a2b1774923cf756" providerId="LiveId" clId="{6FC2EF64-1E68-562E-838E-92CBEE5D17FB}" dt="2025-12-14T16:08:40.394" v="6" actId="20577"/>
          <ac:spMkLst>
            <pc:docMk/>
            <pc:sldMk cId="2997020972" sldId="264"/>
            <ac:spMk id="154" creationId="{B018C7BE-4ECB-485E-3F54-C84EEEE8DF21}"/>
          </ac:spMkLst>
        </pc:spChg>
        <pc:spChg chg="mod">
          <ac:chgData name="민찬 주" userId="6a2b1774923cf756" providerId="LiveId" clId="{6FC2EF64-1E68-562E-838E-92CBEE5D17FB}" dt="2025-12-14T16:08:39.347" v="5" actId="20577"/>
          <ac:spMkLst>
            <pc:docMk/>
            <pc:sldMk cId="2997020972" sldId="264"/>
            <ac:spMk id="155" creationId="{5CF641FF-8407-BF76-BD9A-DDF64EB1B56F}"/>
          </ac:spMkLst>
        </pc:spChg>
        <pc:cxnChg chg="mod">
          <ac:chgData name="민찬 주" userId="6a2b1774923cf756" providerId="LiveId" clId="{6FC2EF64-1E68-562E-838E-92CBEE5D17FB}" dt="2025-12-14T16:08:45.001" v="9" actId="478"/>
          <ac:cxnSpMkLst>
            <pc:docMk/>
            <pc:sldMk cId="2997020972" sldId="264"/>
            <ac:cxnSpMk id="56" creationId="{F4C1143D-336A-0C4D-F90C-63A8BF98F643}"/>
          </ac:cxnSpMkLst>
        </pc:cxnChg>
        <pc:cxnChg chg="mod">
          <ac:chgData name="민찬 주" userId="6a2b1774923cf756" providerId="LiveId" clId="{6FC2EF64-1E68-562E-838E-92CBEE5D17FB}" dt="2025-12-14T16:08:45.001" v="9" actId="478"/>
          <ac:cxnSpMkLst>
            <pc:docMk/>
            <pc:sldMk cId="2997020972" sldId="264"/>
            <ac:cxnSpMk id="68" creationId="{B1B7D052-3EAA-4695-2DDB-65D4D3C26F10}"/>
          </ac:cxnSpMkLst>
        </pc:cxnChg>
        <pc:cxnChg chg="mod">
          <ac:chgData name="민찬 주" userId="6a2b1774923cf756" providerId="LiveId" clId="{6FC2EF64-1E68-562E-838E-92CBEE5D17FB}" dt="2025-12-14T16:08:45.001" v="9" actId="478"/>
          <ac:cxnSpMkLst>
            <pc:docMk/>
            <pc:sldMk cId="2997020972" sldId="264"/>
            <ac:cxnSpMk id="76" creationId="{30B98F40-2A8D-F5ED-956E-0E60B918F032}"/>
          </ac:cxnSpMkLst>
        </pc:cxnChg>
        <pc:cxnChg chg="mod">
          <ac:chgData name="민찬 주" userId="6a2b1774923cf756" providerId="LiveId" clId="{6FC2EF64-1E68-562E-838E-92CBEE5D17FB}" dt="2025-12-14T16:08:45.001" v="9" actId="478"/>
          <ac:cxnSpMkLst>
            <pc:docMk/>
            <pc:sldMk cId="2997020972" sldId="264"/>
            <ac:cxnSpMk id="127" creationId="{62B8E66F-9B19-1AA1-1EC5-134447DFF4AE}"/>
          </ac:cxnSpMkLst>
        </pc:cxnChg>
        <pc:cxnChg chg="mod">
          <ac:chgData name="민찬 주" userId="6a2b1774923cf756" providerId="LiveId" clId="{6FC2EF64-1E68-562E-838E-92CBEE5D17FB}" dt="2025-12-14T16:08:45.001" v="9" actId="478"/>
          <ac:cxnSpMkLst>
            <pc:docMk/>
            <pc:sldMk cId="2997020972" sldId="264"/>
            <ac:cxnSpMk id="162" creationId="{DCE4A5EB-2ABA-A3C4-637E-8C86E8B79710}"/>
          </ac:cxnSpMkLst>
        </pc:cxnChg>
      </pc:sldChg>
      <pc:sldChg chg="modSp mod">
        <pc:chgData name="민찬 주" userId="6a2b1774923cf756" providerId="LiveId" clId="{6FC2EF64-1E68-562E-838E-92CBEE5D17FB}" dt="2025-12-27T07:26:19.919" v="32" actId="27636"/>
        <pc:sldMkLst>
          <pc:docMk/>
          <pc:sldMk cId="3069909540" sldId="270"/>
        </pc:sldMkLst>
        <pc:spChg chg="mod">
          <ac:chgData name="민찬 주" userId="6a2b1774923cf756" providerId="LiveId" clId="{6FC2EF64-1E68-562E-838E-92CBEE5D17FB}" dt="2025-12-27T07:26:19.919" v="32" actId="27636"/>
          <ac:spMkLst>
            <pc:docMk/>
            <pc:sldMk cId="3069909540" sldId="270"/>
            <ac:spMk id="3" creationId="{CFD3EBB1-E1B8-4AFB-37D7-242640FA803E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1:56:12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1:56:23.3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1183 293 24575,'14'15'0,"-1"0"0,20 30 0,19 23 0,-22-37 0,2-2 0,1-1 0,1-2 0,70 42 0,-371-166 0,227 84 0,-41-14 0,-600-184 0,644 203 0,0-1 0,0-2 0,1-1 0,1-2 0,1-2 0,0-1 0,1-1 0,-42-33 0,71 49 0,0-1 0,0 0 0,0 0 0,1 0 0,-1 0 0,1 0 0,0-1 0,0 1 0,1-1 0,-4-8 0,6 11 0,0 1 0,-1-1 0,1 1 0,0-1 0,0 1 0,0-1 0,0 1 0,0-1 0,0 1 0,1 0 0,-1-1 0,0 1 0,1-1 0,-1 1 0,1-1 0,0 1 0,-1 0 0,1-1 0,0 1 0,0 0 0,0 0 0,0 0 0,0 0 0,0-1 0,0 1 0,0 1 0,0-1 0,1 0 0,-1 0 0,0 0 0,0 1 0,1-1 0,-1 0 0,1 1 0,-1-1 0,0 1 0,1 0 0,-1 0 0,1-1 0,-1 1 0,1 0 0,1 0 0,7-1 0,0 0 0,0 1 0,0 0 0,0 0 0,0 1 0,0 0 0,-1 1 0,1 0 0,0 1 0,12 4 0,13 8 0,46 25 0,270 163 0,-55-30 0,-213-129 0,-29-17 0,0 3 0,-2 2 0,84 69 0,-107-67 0,-29-33 0,0-1 0,1 1 0,-1 0 0,0-1 0,0 1 0,1-1 0,-1 1 0,0 0 0,0-1 0,0 1 0,0 0 0,0-1 0,0 1 0,0 0 0,0-1 0,0 1 0,0 0 0,-1-1 0,1 1 0,0 0 0,0-1 0,-1 2 0,0-2 0,1 1 0,-1 0 0,0 0 0,0-1 0,0 1 0,0-1 0,0 1 0,0-1 0,0 1 0,0-1 0,-1 1 0,1-1 0,0 0 0,0 0 0,0 0 0,0 1 0,-2-1 0,-10-1 0,0-1 0,0 1 0,1-2 0,-1 0 0,1 0 0,0-1 0,0-1 0,0 0 0,-18-11 0,-9-3 0,-981-494 0,1011 508 0,-17-10 0,1 0 0,0-2 0,2-1 0,-35-33 0,57 50 0,9 10 0,14 21 0,-8 8-1365,-10-26-5461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5:07.1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140 45 24575,'-2'-9'0,"-1"18"0,-2 20 0,6-2 0,2 0 0,1 0 0,10 41 0,2 10 0,-36-136 0,-2 1 0,-34-61 0,31 77 0,24 39 0,-1 0 0,1 0 0,-1 0 0,0 0 0,1 0 0,-1 0 0,0 1 0,0-1 0,0 1 0,0-1 0,-1 1 0,1 0 0,0 0 0,0 0 0,-1 0 0,-2-1 0,4 3 0,1-1 0,-1 0 0,1 0 0,-1 1 0,1-1 0,-1 0 0,1 1 0,0-1 0,-1 0 0,1 1 0,0-1 0,-1 1 0,1-1 0,0 0 0,-1 1 0,1-1 0,0 1 0,0-1 0,-1 1 0,1-1 0,0 1 0,0-1 0,0 1 0,0 0 0,0-1 0,0 1 0,0-1 0,0 1 0,0-1 0,0 1 0,0-1 0,0 1 0,0-1 0,0 1 0,1-1 0,-1 1 0,0-1 0,0 1 0,1 0 0,9 33 0,-7-25 0,-2-4 0,21 84 0,60 155 0,-68-209 0,15 32 0,-27-62 0,1 0 0,0 0 0,0-1 0,0 0 0,1 0 0,-1 0 0,1 0 0,0 0 0,0-1 0,7 5 0,-10-7 0,0 0 0,0 0 0,0-1 0,0 1 0,0-1 0,0 1 0,0-1 0,0 1 0,0-1 0,0 0 0,0 1 0,0-1 0,0 0 0,1 0 0,-1 0 0,0 0 0,0 0 0,0 0 0,0 0 0,0 0 0,0-1 0,1 1 0,-1 0 0,0 0 0,0-1 0,0 1 0,0-1 0,0 1 0,0-1 0,0 0 0,0 1 0,0-1 0,-1 0 0,1 0 0,0 1 0,0-1 0,-1 0 0,1 0 0,0 0 0,0-2 0,2-4 0,0-1 0,0 0 0,-1 0 0,0 0 0,1-9 0,7-26 0,0 28 0,0 0 0,0 0 0,2 1 0,0 1 0,0 0 0,1 0 0,25-17 0,109-64 0,-144 92 0,53-24 0,-34 17 0,-32 15 0,-25 11-1365,25-11-5461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5:09.0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69 24575,'0'0'0,"3"35"0,0-31 0,-1-2 0,-1-1 0,0 1 0,1 0 0,-1-1 0,0 1 0,0 0 0,0 0 0,0 0 0,0 0 0,-1 0 0,1 0 0,-1 0 0,1 0 0,-1 0 0,0 0 0,1 0 0,-1 0 0,-1 4 0,9-62 0,-8 50 0,0-22 0,0 28 0,0 0 0,0-1 0,0 1 0,0-1 0,0 1 0,0-1 0,0 1 0,0 0 0,0-1 0,0 1 0,0-1 0,0 1 0,0 0 0,-1-1 0,1 1 0,0-1 0,0 1 0,0 0 0,-1-1 0,1 1 0,0 0 0,0-1 0,-1 1 0,1 0 0,0-1 0,-1 1 0,1 0 0,0 0 0,-1-1 0,1 1 0,0 0 0,-1 0 0,1 0 0,-1-1 0,1 1 0,0 0 0,-1 0 0,1 0 0,-1 0 0,1 0 0,-1 0 0,1 0 0,0 0 0,-1 0 0,-5 26 0,8-13 0,-2-13 0,1 1 0,-1-1 0,0 0 0,0 0 0,1 0 0,-1 0 0,0 0 0,1 0 0,-1 0 0,0 0 0,0 0 0,1 0 0,-1 0 0,0 0 0,0 0 0,1 0 0,-1 0 0,0 0 0,1 0 0,-1 0 0,0 0 0,0 0 0,1 0 0,-1 0 0,0 0 0,0-1 0,1 1 0,-1 0 0,0 0 0,0 0 0,1 0 0,-1-1 0,0 1 0,0 0 0,0 0 0,0-1 0,1 1 0,-1 0 0,0 0 0,0-1 0,27-36 0,-23 30 0,0 0 0,0 1 0,1 0 0,0 0 0,7-6 0,-12 12 0,1 0 0,0 1 0,-1-1 0,1 0 0,-1 1 0,1-1 0,-1 1 0,1-1 0,-1 1 0,1-1 0,-1 1 0,1-1 0,-1 1 0,0-1 0,1 1 0,-1 0 0,0-1 0,0 1 0,1 0 0,-1-1 0,0 1 0,0 0 0,0-1 0,0 1 0,0 0 0,0-1 0,0 1 0,0 0 0,0-1 0,0 1 0,0 1 0,3 27 0,11 332 0,-14-361 0,0 0 0,0 0 0,0 0 0,1 0 0,-1 0 0,0 0 0,0 0 0,0 0 0,0 0 0,0-1 0,0 1 0,0 0 0,0 0 0,0 0 0,0 0 0,0 0 0,0 0 0,0 0 0,1 0 0,-1 0 0,0 0 0,0 0 0,0 0 0,0 0 0,0 0 0,0 0 0,0 0 0,0 0 0,0 0 0,0 0 0,0 0 0,0 0 0,1 0 0,-1 0 0,0 1 0,0-1 0,0 0 0,0 0 0,0 0 0,0 0 0,0 0 0,0 0 0,0 0 0,0 0 0,0 0 0,0 0 0,0 0 0,0 0 0,0 0 0,0 1 0,7-15 0,6-20 0,-3 0 0,-1 0 0,-1 0 0,-3-1 0,0 0 0,-2-69 0,-4 111 0,0 1 0,-1-1 0,0 0 0,0 0 0,0 0 0,-6 10 0,-4 14 0,-3 14 0,3 0 0,2 1 0,-8 90 0,18-136 0,0 0 0,0 0 0,0 0 0,0 0 0,0 0 0,0 0 0,1 0 0,-1 0 0,0 0 0,0 0 0,0 0 0,0 0 0,0 0 0,0 0 0,1 0 0,-1 0 0,0 0 0,0 0 0,0 0 0,0 0 0,0 0 0,0 0 0,0 0 0,1 0 0,-1 1 0,0-1 0,0 0 0,0 0 0,0 0 0,0 0 0,0 0 0,0 0 0,0 0 0,0 0 0,1 0 0,-1 0 0,0 1 0,0-1 0,0 0 0,0 0 0,0 0 0,0 0 0,0 0 0,0 0 0,0 1 0,0-1 0,0 0 0,0 0 0,0 0 0,0 0 0,0 0 0,0 0 0,0 1 0,0-1 0,0 0 0,0 0 0,0 0 0,0 0 0,0 0 0,0 0 0,-1 1 0,10-16 0,7-23 0,-5-13-1365,-8 31-5461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5:14.4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180 186 24575,'2'-3'0,"1"0"0,-1 0 0,0 0 0,0-1 0,0 1 0,-1 0 0,1-1 0,-1 0 0,0 1 0,1-6 0,-1 7 0,4-17 0,-2 1 0,0-1 0,1-33 0,-2 24 0,-1 23 0,1 7 0,2 17 0,4 28 0,-4-6 0,-3-27 0,1-1 0,0 1 0,1-1 0,8 27 0,-8-30 0,0-1 0,-1 1 0,0 0 0,-1 0 0,0 18 0,3 18 0,-47-71 0,39 22 0,-31-35 0,34 37 0,0-1 0,0 1 0,0-1 0,0 0 0,0 0 0,0 1 0,0-1 0,0 0 0,0 0 0,1 0 0,-1 0 0,1 0 0,0 0 0,0 0 0,-1 0 0,1 0 0,0 0 0,1 0 0,-1 0 0,0 0 0,1-3 0,0 5 0,-1-1 0,0 1 0,0 0 0,0-1 0,1 1 0,-1 0 0,0-1 0,0 1 0,1 0 0,-1 0 0,0-1 0,1 1 0,-1 0 0,0 0 0,1 0 0,-1-1 0,1 1 0,-1 0 0,0 0 0,1 0 0,-1 0 0,0 0 0,1 0 0,-1 0 0,1 0 0,-1 0 0,0 0 0,1 0 0,-1 0 0,1 0 0,-1 0 0,0 0 0,1 0 0,-1 0 0,1 1 0,-1-1 0,0 0 0,1 0 0,-1 0 0,0 1 0,1-1 0,-1 0 0,0 0 0,0 1 0,1-1 0,-1 0 0,0 1 0,0-1 0,1 0 0,-1 1 0,0-1 0,0 0 0,0 1 0,0-1 0,0 1 0,1-1 0,-1 1 0,17 28 0,-13-21 0,1-1 0,0-1 0,1 0 0,0 0 0,0 0 0,0 0 0,1-1 0,-1 0 0,1-1 0,1 1 0,-1-1 0,1-1 0,-1 0 0,1 0 0,0 0 0,0-1 0,0 0 0,1 0 0,-1-1 0,0 0 0,10 0 0,-17-1 0,0 0 0,0 0 0,0-1 0,0 1 0,0 0 0,-1 0 0,1 0 0,0 0 0,0-1 0,0 1 0,-1 0 0,1-1 0,0 1 0,0-1 0,-1 1 0,1-1 0,0 1 0,-1-1 0,1 0 0,0 1 0,-1-1 0,1 0 0,-1 1 0,1-1 0,-1 0 0,1 1 0,-1-1 0,0 0 0,1 0 0,-1 0 0,0 0 0,0 1 0,0-1 0,1 0 0,-1 0 0,0 0 0,0 0 0,0 0 0,0 1 0,-1-1 0,1 0 0,0 0 0,0 0 0,0 0 0,-1 0 0,1 1 0,0-1 0,-1 0 0,1 0 0,-1 1 0,1-1 0,-1 0 0,1 1 0,-1-1 0,0 0 0,-2-5 0,-1 1 0,1 0 0,-1 0 0,0 0 0,0 1 0,-7-6 0,2 3 0,-1 2 0,0-1 0,-20-7 0,27 12 0,0-1 0,0 1 0,0 0 0,-1 0 0,1 0 0,0 1 0,-1-1 0,1 1 0,0 0 0,-1 0 0,1 0 0,-1 0 0,1 1 0,0-1 0,-1 1 0,-5 2 0,1 4 0,0 2 0,1-1 0,0 1 0,0 0 0,1 0 0,0 1 0,-5 12 0,-22 69 0,28-65 0,4-21 0,0 0 0,0 0 0,0-1 0,0 1 0,-1 0 0,1 0 0,-1-1 0,-1 1 0,1-1 0,-4 6 0,28-71 0,-15 47 0,0 0 0,0 1 0,1 0 0,1 0 0,0 1 0,14-15 0,-21 25 0,0 0 0,0 0 0,1 0 0,-1 0 0,1 0 0,-1 0 0,1 1 0,0-1 0,-1 1 0,1 0 0,0 0 0,0 0 0,0 0 0,0 0 0,0 1 0,0-1 0,0 1 0,0 0 0,0 0 0,0 0 0,0 0 0,1 1 0,-1-1 0,0 1 0,0-1 0,-1 1 0,1 0 0,0 1 0,0-1 0,0 0 0,-1 1 0,1-1 0,0 1 0,-1 0 0,0 0 0,1 0 0,-1 0 0,3 4 0,3 2 0,0-1 0,-1 0 0,0 0 0,0 1 0,0 0 0,9 17 0,-15-23 0,0-1 0,-1 0 0,1 1 0,-1-1 0,1 1 0,-1-1 0,0 1 0,0-1 0,1 1 0,-1-1 0,0 1 0,0-1 0,-1 1 0,1-1 0,0 1 0,0-1 0,-1 1 0,1-1 0,-1 2 0,-1-1 0,1 0 0,-1 0 0,0 0 0,1 0 0,-1 0 0,0-1 0,0 1 0,0-1 0,0 0 0,0 1 0,0-1 0,-1 0 0,1 0 0,0 0 0,-5 1 0,-22 4 0,-1-1 0,0-1 0,0-2 0,0-1 0,0-1 0,-34-5 0,45 4 0,17 1 0,0 0 0,0 0 0,0 0 0,0 0 0,1 0 0,-1-1 0,0 1 0,0 0 0,0-1 0,1 1 0,-1-1 0,0 0 0,1 0 0,-1 1 0,1-1 0,-1 0 0,0 0 0,1-1 0,0 1 0,-1 0 0,1 0 0,0-1 0,0 1 0,0-1 0,0 1 0,0-1 0,0 1 0,0-1 0,0 0 0,0 1 0,1-1 0,-1 0 0,1 0 0,0 1 0,-1-1 0,1 0 0,0 0 0,0 0 0,0 0 0,0 1 0,0-1 0,1 0 0,-1 0 0,0 0 0,1 1 0,1-4 0,0-2 0,0 1 0,1-1 0,0 1 0,0 0 0,0 0 0,1 0 0,0 1 0,0-1 0,1 1 0,-1 0 0,8-6 0,-9 9 0,6-4 0,0-1 0,0 0 0,-1 0 0,0-1 0,0 0 0,0 0 0,-1-1 0,0 0 0,-1 0 0,7-13 0,8-24 0,22-40 0,-42 107 0,-7 14 0,-30 107 0,31-122 0,4 18 0,1-33 0,0 0 0,0 0 0,0 0 0,0 0 0,-1-1 0,-2 11 0,-1-18 0,0-1 0,1 1 0,-1-1 0,1 0 0,0 0 0,-5-7 0,-159-247 0,165 253 0,12 15 0,14 17 0,32 30 111,-22-25-1587,-28-25-5350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8:22.8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9T12:08:30.4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3AAF688-E8A5-0046-9222-F1AA7125E0B2}" type="datetimeFigureOut">
              <a:rPr kumimoji="1" lang="ko-KR" altLang="en-US" smtClean="0"/>
              <a:t>2025. 12. 27.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5431AF4-9F7E-B749-9451-7CCB967D32D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8287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5468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3436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3544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97751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ko-KR" altLang="en-US" i="0">
                    <a:latin typeface="Cambria Math" panose="02040503050406030204" pitchFamily="18" charset="0"/>
                  </a:rPr>
                  <a:t>"여기에 수식을 입력하십시오."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32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47238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A622-09EF-CC1E-AE6C-50C2AED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C1EF59-B0F1-42AA-E78D-242D008F0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686B0DC-6CB4-2E20-2677-A40C1031B76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686B0DC-6CB4-2E20-2677-A40C1031B76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kumimoji="1" lang="ko-KR" altLang="en-US" i="0">
                    <a:latin typeface="Cambria Math" panose="02040503050406030204" pitchFamily="18" charset="0"/>
                  </a:rPr>
                  <a:t>"여기에 수식을 입력하십시오."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90993A-E7A2-0873-89D3-4EBE4D874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33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9271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36227-D7C4-3E0B-2670-B1C54B85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D101E2-43FC-74FC-64DC-D98A21C08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F2F50F0B-F70B-A860-B3C7-E85A2E2932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여기에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수식을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 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입력하십시오</a:t>
                      </a:fld>
                      <a:fld id="{825F15A7-03F4-43D7-82C5-3E23DA2F108C}" type="mathplaceholder">
                        <a:rPr kumimoji="1" lang="ko-KR" altLang="en-US" i="1" smtClean="0">
                          <a:latin typeface="Cambria Math" panose="02040503050406030204" pitchFamily="18" charset="0"/>
                        </a:rPr>
                        <a:t>.</a:t>
                      </a:fl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F2F50F0B-F70B-A860-B3C7-E85A2E2932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kumimoji="1" lang="ko-KR" altLang="en-US" i="0">
                    <a:latin typeface="Cambria Math" panose="02040503050406030204" pitchFamily="18" charset="0"/>
                  </a:rPr>
                  <a:t>"여기에 수식을 입력하십시오."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95CBC4-2F08-7CF6-412D-0A90BF0B3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34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32299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35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7318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40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65089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78E9-453A-6C39-DF4A-0E702EF0C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27A357-5384-7448-6374-5E6A367C7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2CE361-D272-C308-1D61-F2D2BD294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E8445D-BD21-72C1-6701-CA1CC404A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431AF4-9F7E-B749-9451-7CCB967D32D2}" type="slidenum">
              <a:rPr kumimoji="1" lang="ko-KR" altLang="en-US" smtClean="0"/>
              <a:t>41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1149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4338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67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649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0920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68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864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73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638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314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980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500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379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16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485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229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11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3794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914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6297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32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8925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92165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5705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83865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21247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8504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4720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74409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576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12/27/25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2152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393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607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2255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7030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2171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480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190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7963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46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160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1694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592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955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7779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0698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12/27/25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100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12/27/25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1577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12/27/25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349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471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00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37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12/27/25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4" r:id="rId18"/>
    <p:sldLayoutId id="2147483835" r:id="rId19"/>
    <p:sldLayoutId id="2147483836" r:id="rId20"/>
    <p:sldLayoutId id="2147483837" r:id="rId21"/>
    <p:sldLayoutId id="2147483838" r:id="rId22"/>
    <p:sldLayoutId id="2147483839" r:id="rId23"/>
    <p:sldLayoutId id="2147483840" r:id="rId24"/>
    <p:sldLayoutId id="2147483841" r:id="rId25"/>
    <p:sldLayoutId id="2147483842" r:id="rId26"/>
    <p:sldLayoutId id="2147483843" r:id="rId27"/>
    <p:sldLayoutId id="2147483844" r:id="rId28"/>
    <p:sldLayoutId id="2147483845" r:id="rId29"/>
    <p:sldLayoutId id="2147483846" r:id="rId30"/>
    <p:sldLayoutId id="2147483847" r:id="rId31"/>
    <p:sldLayoutId id="2147483848" r:id="rId32"/>
    <p:sldLayoutId id="2147483849" r:id="rId33"/>
    <p:sldLayoutId id="2147483850" r:id="rId34"/>
    <p:sldLayoutId id="2147483851" r:id="rId35"/>
    <p:sldLayoutId id="2147483852" r:id="rId36"/>
    <p:sldLayoutId id="2147483853" r:id="rId37"/>
    <p:sldLayoutId id="2147483854" r:id="rId38"/>
    <p:sldLayoutId id="2147483867" r:id="rId39"/>
    <p:sldLayoutId id="2147483855" r:id="rId40"/>
    <p:sldLayoutId id="2147483856" r:id="rId41"/>
    <p:sldLayoutId id="2147483857" r:id="rId42"/>
    <p:sldLayoutId id="2147483858" r:id="rId43"/>
    <p:sldLayoutId id="2147483859" r:id="rId44"/>
    <p:sldLayoutId id="2147483860" r:id="rId45"/>
    <p:sldLayoutId id="2147483861" r:id="rId46"/>
    <p:sldLayoutId id="2147483862" r:id="rId47"/>
    <p:sldLayoutId id="2147483863" r:id="rId48"/>
    <p:sldLayoutId id="2147483864" r:id="rId49"/>
    <p:sldLayoutId id="2147483865" r:id="rId50"/>
    <p:sldLayoutId id="2147483866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customXml" Target="../ink/ink3.xml"/><Relationship Id="rId12" Type="http://schemas.openxmlformats.org/officeDocument/2006/relationships/image" Target="../media/image1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11" Type="http://schemas.openxmlformats.org/officeDocument/2006/relationships/customXml" Target="../ink/ink5.xml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20.png"/><Relationship Id="rId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bl.or.kr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ci.go.kr/kciportal/po/search/poSereArtiList.kci?sereId=000739&amp;volIsseId=VOL000013390" TargetMode="Externa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CD806-55D9-323E-A324-78FEA4BBE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76072"/>
            <a:ext cx="5852160" cy="2953512"/>
          </a:xfrm>
        </p:spPr>
        <p:txBody>
          <a:bodyPr anchor="t">
            <a:normAutofit fontScale="90000"/>
          </a:bodyPr>
          <a:lstStyle/>
          <a:p>
            <a:r>
              <a:rPr kumimoji="1" lang="ko-KR" altLang="en-US" dirty="0"/>
              <a:t>스포츠 데이터 분석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ko-KR" altLang="en-US" dirty="0"/>
              <a:t>실시간 승률 예측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C395A7-5311-E7CC-C98C-A2B16087F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923" y="4601718"/>
            <a:ext cx="4681728" cy="1591056"/>
          </a:xfrm>
        </p:spPr>
        <p:txBody>
          <a:bodyPr anchor="ctr">
            <a:normAutofit/>
          </a:bodyPr>
          <a:lstStyle/>
          <a:p>
            <a:r>
              <a:rPr kumimoji="1" lang="ko-KR" altLang="en-US" dirty="0"/>
              <a:t>팀 리더</a:t>
            </a:r>
            <a:r>
              <a:rPr kumimoji="1" lang="en-US" altLang="ko-KR" dirty="0"/>
              <a:t>: 20</a:t>
            </a:r>
            <a:r>
              <a:rPr kumimoji="1" lang="ko-KR" altLang="en-US" dirty="0"/>
              <a:t>학번 김승준</a:t>
            </a:r>
            <a:endParaRPr kumimoji="1" lang="en-US" altLang="ko-KR" dirty="0"/>
          </a:p>
          <a:p>
            <a:r>
              <a:rPr kumimoji="1" lang="ko-KR" altLang="en-US" dirty="0"/>
              <a:t>팀원 </a:t>
            </a:r>
            <a:r>
              <a:rPr kumimoji="1" lang="en-US" altLang="ko-KR" dirty="0"/>
              <a:t>: 	20</a:t>
            </a:r>
            <a:r>
              <a:rPr kumimoji="1" lang="ko-KR" altLang="en-US" dirty="0"/>
              <a:t>학번 </a:t>
            </a:r>
            <a:r>
              <a:rPr kumimoji="1" lang="ko-KR" altLang="en-US" dirty="0" err="1"/>
              <a:t>주민찬</a:t>
            </a:r>
            <a:endParaRPr kumimoji="1" lang="ko-KR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73F04E46-E0F9-86D5-8BEC-00EA6F71BF83}"/>
                  </a:ext>
                </a:extLst>
              </p14:cNvPr>
              <p14:cNvContentPartPr/>
              <p14:nvPr/>
            </p14:nvContentPartPr>
            <p14:xfrm>
              <a:off x="9225219" y="2530980"/>
              <a:ext cx="360" cy="36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73F04E46-E0F9-86D5-8BEC-00EA6F71BF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19099" y="25248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0E27449D-E7B4-BD75-223D-FB448FB64831}"/>
                  </a:ext>
                </a:extLst>
              </p14:cNvPr>
              <p14:cNvContentPartPr/>
              <p14:nvPr/>
            </p14:nvContentPartPr>
            <p14:xfrm>
              <a:off x="9583419" y="776340"/>
              <a:ext cx="550080" cy="26640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0E27449D-E7B4-BD75-223D-FB448FB648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77299" y="770220"/>
                <a:ext cx="562320" cy="27864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9F62F3E-EC9B-4A5C-B6B5-5E0F8B83389E}"/>
              </a:ext>
            </a:extLst>
          </p:cNvPr>
          <p:cNvSpPr/>
          <p:nvPr/>
        </p:nvSpPr>
        <p:spPr>
          <a:xfrm>
            <a:off x="10629360" y="865080"/>
            <a:ext cx="0" cy="0"/>
          </a:xfrm>
          <a:prstGeom prst="line">
            <a:avLst/>
          </a:prstGeom>
          <a:solidFill>
            <a:srgbClr val="FFFFFF">
              <a:alpha val="5000"/>
            </a:srgbClr>
          </a:solidFill>
          <a:ln w="126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rtlCol="0" anchor="ctr" anchorCtr="1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그림 개체 틀 25">
            <a:extLst>
              <a:ext uri="{FF2B5EF4-FFF2-40B4-BE49-F238E27FC236}">
                <a16:creationId xmlns:a16="http://schemas.microsoft.com/office/drawing/2014/main" id="{82E5FDEA-4F4C-31BA-993C-E255066840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solidFill>
            <a:schemeClr val="bg1"/>
          </a:solidFill>
        </p:spPr>
        <p:txBody>
          <a:bodyPr/>
          <a:lstStyle/>
          <a:p>
            <a:endParaRPr lang="ko-KR" altLang="en-US" dirty="0"/>
          </a:p>
        </p:txBody>
      </p:sp>
      <p:pic>
        <p:nvPicPr>
          <p:cNvPr id="27" name="그림 26" descr="텍스트, 로고, 폰트, 그래픽이(가) 표시된 사진">
            <a:extLst>
              <a:ext uri="{FF2B5EF4-FFF2-40B4-BE49-F238E27FC236}">
                <a16:creationId xmlns:a16="http://schemas.microsoft.com/office/drawing/2014/main" id="{DD1A0AB4-F4B5-CDAA-FD6F-19C65DEFD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783504"/>
            <a:ext cx="4654295" cy="3240727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BB30400A-D04A-0A6B-6A49-0F710023AF92}"/>
              </a:ext>
            </a:extLst>
          </p:cNvPr>
          <p:cNvGrpSpPr/>
          <p:nvPr/>
        </p:nvGrpSpPr>
        <p:grpSpPr>
          <a:xfrm>
            <a:off x="7580220" y="218493"/>
            <a:ext cx="268200" cy="262440"/>
            <a:chOff x="7580220" y="218493"/>
            <a:chExt cx="26820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2485F62-87D4-2D69-F818-841302A9294A}"/>
                    </a:ext>
                  </a:extLst>
                </p14:cNvPr>
                <p14:cNvContentPartPr/>
                <p14:nvPr/>
              </p14:nvContentPartPr>
              <p14:xfrm>
                <a:off x="7625220" y="279333"/>
                <a:ext cx="223200" cy="20160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2485F62-87D4-2D69-F818-841302A929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19100" y="273213"/>
                  <a:ext cx="235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7625B05-E953-069C-CCC1-ECE0838E753F}"/>
                    </a:ext>
                  </a:extLst>
                </p14:cNvPr>
                <p14:cNvContentPartPr/>
                <p14:nvPr/>
              </p14:nvContentPartPr>
              <p14:xfrm>
                <a:off x="7638540" y="303813"/>
                <a:ext cx="63000" cy="16380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7625B05-E953-069C-CCC1-ECE0838E753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32420" y="297693"/>
                  <a:ext cx="75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4CFBA9D-526D-1628-7039-2744B43CE759}"/>
                    </a:ext>
                  </a:extLst>
                </p14:cNvPr>
                <p14:cNvContentPartPr/>
                <p14:nvPr/>
              </p14:nvContentPartPr>
              <p14:xfrm>
                <a:off x="7580220" y="218493"/>
                <a:ext cx="144000" cy="17496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4CFBA9D-526D-1628-7039-2744B43CE75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74100" y="212373"/>
                  <a:ext cx="156240" cy="187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1570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D42E3489-3198-40AC-3237-FE21A6F58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74" y="566487"/>
            <a:ext cx="3666744" cy="2624328"/>
          </a:xfrm>
        </p:spPr>
        <p:txBody>
          <a:bodyPr anchor="ctr">
            <a:normAutofit/>
          </a:bodyPr>
          <a:lstStyle/>
          <a:p>
            <a:r>
              <a:rPr kumimoji="1" lang="ko-KR" altLang="en-US" sz="5400" dirty="0"/>
              <a:t>목차</a:t>
            </a:r>
          </a:p>
        </p:txBody>
      </p:sp>
      <p:graphicFrame>
        <p:nvGraphicFramePr>
          <p:cNvPr id="14" name="내용 개체 틀 4">
            <a:extLst>
              <a:ext uri="{FF2B5EF4-FFF2-40B4-BE49-F238E27FC236}">
                <a16:creationId xmlns:a16="http://schemas.microsoft.com/office/drawing/2014/main" id="{1A0E014D-4A6B-F56C-A7B0-1FDA97961B8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16837887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194388" y="1626021"/>
          <a:ext cx="5509458" cy="3129588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38074">
                  <a:extLst>
                    <a:ext uri="{9D8B030D-6E8A-4147-A177-3AD203B41FA5}">
                      <a16:colId xmlns:a16="http://schemas.microsoft.com/office/drawing/2014/main" val="2436437307"/>
                    </a:ext>
                  </a:extLst>
                </a:gridCol>
                <a:gridCol w="3571384">
                  <a:extLst>
                    <a:ext uri="{9D8B030D-6E8A-4147-A177-3AD203B41FA5}">
                      <a16:colId xmlns:a16="http://schemas.microsoft.com/office/drawing/2014/main" val="3805736015"/>
                    </a:ext>
                  </a:extLst>
                </a:gridCol>
              </a:tblGrid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주제선정동기</a:t>
                      </a: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996396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연구방법</a:t>
                      </a: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694665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연구 결과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357973"/>
                  </a:ext>
                </a:extLst>
              </a:tr>
              <a:tr h="782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31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</a:rPr>
                        <a:t>발전 방향성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34381" marR="134381" marT="134381" marB="13438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475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37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만화 영화, 클립아트, 일러스트레이션이(가) 표시된 사진">
            <a:extLst>
              <a:ext uri="{FF2B5EF4-FFF2-40B4-BE49-F238E27FC236}">
                <a16:creationId xmlns:a16="http://schemas.microsoft.com/office/drawing/2014/main" id="{D71A4224-F964-7C0A-532D-4CFCDBD07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70" y="3921878"/>
            <a:ext cx="3999090" cy="27735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0FAB249-17EF-1477-D5B0-551155BBA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45" y="240839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주제 선정 동기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8B08EE-4C34-A744-9B1A-2EF98E04B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181" y="1157039"/>
            <a:ext cx="11327638" cy="57009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/>
              <a:t>다양한 스포츠 경기의 데이터 분석을 해보고 싶다는 생각이 들었고</a:t>
            </a:r>
            <a:r>
              <a:rPr lang="en-US" altLang="ko-KR" sz="2000" dirty="0"/>
              <a:t>, </a:t>
            </a:r>
            <a:r>
              <a:rPr lang="ko-KR" altLang="en-US" sz="2000" dirty="0"/>
              <a:t>스포츠마다 나타날 변수들과 그에 대한 특징들이 궁금하였다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축구와 야구</a:t>
            </a:r>
            <a:r>
              <a:rPr lang="en-US" altLang="ko-KR" sz="2000" dirty="0"/>
              <a:t>, </a:t>
            </a:r>
            <a:r>
              <a:rPr lang="ko-KR" altLang="en-US" sz="2000" dirty="0"/>
              <a:t>농구 등 국내 스포츠 중 인기 있는 스포츠들에 데이터 분석을 같이 해보고 싶어 </a:t>
            </a:r>
            <a:r>
              <a:rPr lang="ko-KR" altLang="en-US" sz="2000" dirty="0">
                <a:solidFill>
                  <a:srgbClr val="FF0000"/>
                </a:solidFill>
              </a:rPr>
              <a:t>각 스포츠에 대한 데이터와 분석 방식에 대해서 알아보았고</a:t>
            </a:r>
            <a:r>
              <a:rPr lang="en-US" altLang="ko-KR" sz="2000" dirty="0"/>
              <a:t>, </a:t>
            </a:r>
            <a:r>
              <a:rPr lang="ko-KR" altLang="en-US" sz="2000" dirty="0"/>
              <a:t>평소 관심을 두고 있었으며 데이터분석을 경험해본 농구를 분석 대상으로 선정하였다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농구는 언급된 스포츠들 중 </a:t>
            </a:r>
            <a:r>
              <a:rPr lang="ko-KR" altLang="en-US" sz="2000" dirty="0">
                <a:solidFill>
                  <a:srgbClr val="FF0000"/>
                </a:solidFill>
              </a:rPr>
              <a:t>지표들의 변동성이 높아 변수가 많다</a:t>
            </a:r>
            <a:r>
              <a:rPr lang="en-US" altLang="ko-KR" sz="2000" dirty="0"/>
              <a:t>. </a:t>
            </a:r>
            <a:r>
              <a:rPr lang="ko-KR" altLang="en-US" sz="2000" dirty="0"/>
              <a:t>따라서 농구 경기를 보고 있으면 이기고 있는 팀이 바뀌는 경우가 빈번하게 일어난다</a:t>
            </a:r>
            <a:r>
              <a:rPr lang="en-US" altLang="ko-KR" sz="2000" dirty="0"/>
              <a:t>. </a:t>
            </a:r>
            <a:r>
              <a:rPr lang="ko-KR" altLang="en-US" sz="2000" dirty="0"/>
              <a:t>이는 축구나 </a:t>
            </a:r>
            <a:r>
              <a:rPr lang="ko-KR" altLang="en-US" sz="2000" dirty="0" err="1"/>
              <a:t>야구같은</a:t>
            </a:r>
            <a:r>
              <a:rPr lang="ko-KR" altLang="en-US" sz="2000" dirty="0"/>
              <a:t> 다른 인기 스포츠와의 차이점이다</a:t>
            </a:r>
            <a:r>
              <a:rPr lang="en-US" altLang="ko-KR" sz="2000" dirty="0"/>
              <a:t>. </a:t>
            </a:r>
            <a:r>
              <a:rPr lang="ko-KR" altLang="en-US" sz="2000" dirty="0"/>
              <a:t>이런 특징 때문에 농구는 팬들에게 끝까지 경기 중계영상을 끌 수 없게 하는데</a:t>
            </a:r>
            <a:r>
              <a:rPr lang="en-US" altLang="ko-KR" sz="2000" dirty="0"/>
              <a:t>, </a:t>
            </a:r>
            <a:r>
              <a:rPr lang="ko-KR" altLang="en-US" sz="2000" dirty="0"/>
              <a:t>이때 팬들에게 </a:t>
            </a:r>
            <a:r>
              <a:rPr lang="ko-KR" altLang="en-US" sz="2000" dirty="0" err="1">
                <a:solidFill>
                  <a:srgbClr val="FF0000"/>
                </a:solidFill>
              </a:rPr>
              <a:t>우리팀이</a:t>
            </a:r>
            <a:r>
              <a:rPr lang="ko-KR" altLang="en-US" sz="2000" dirty="0">
                <a:solidFill>
                  <a:srgbClr val="FF0000"/>
                </a:solidFill>
              </a:rPr>
              <a:t> 이길 확률이 얼마나 되는지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보고있는</a:t>
            </a:r>
            <a:r>
              <a:rPr lang="ko-KR" altLang="en-US" sz="2000" dirty="0"/>
              <a:t> 경기의 상대적 지표들은 </a:t>
            </a:r>
            <a:r>
              <a:rPr lang="ko-KR" altLang="en-US" sz="2000" dirty="0" err="1"/>
              <a:t>어떤지</a:t>
            </a:r>
            <a:r>
              <a:rPr lang="ko-KR" altLang="en-US" sz="2000" dirty="0"/>
              <a:t> 판단할 수 있는 데이터와 자료들을 제공하면 좋지 않을까</a:t>
            </a:r>
            <a:r>
              <a:rPr lang="en-US" altLang="ko-KR" sz="2000" dirty="0"/>
              <a:t>? </a:t>
            </a:r>
            <a:r>
              <a:rPr lang="ko-KR" altLang="en-US" sz="2000" dirty="0"/>
              <a:t>라는 생각을 </a:t>
            </a:r>
            <a:r>
              <a:rPr lang="ko-KR" altLang="en-US" sz="2000" dirty="0" err="1"/>
              <a:t>하게되어</a:t>
            </a:r>
            <a:r>
              <a:rPr lang="en-US" altLang="ko-KR" sz="2000" dirty="0"/>
              <a:t>, </a:t>
            </a:r>
            <a:r>
              <a:rPr lang="ko-KR" altLang="en-US" sz="2000" dirty="0"/>
              <a:t>주제를 결정하게 되었다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반대로 선수들에게는 실시간 승패예측 프로그램을 활용하여 경기 내적으로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</a:rPr>
              <a:t>전략 및 전술의 실시간 수정</a:t>
            </a:r>
            <a:r>
              <a:rPr lang="en-US" altLang="ko-KR" sz="2000" dirty="0"/>
              <a:t>,</a:t>
            </a:r>
            <a:r>
              <a:rPr lang="ko-KR" altLang="en-US" sz="2000" dirty="0"/>
              <a:t> 혹은 경기 종료 후 피드백을 통해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solidFill>
                  <a:srgbClr val="FF0000"/>
                </a:solidFill>
              </a:rPr>
              <a:t>경기력 향상 효과를 기대한다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F7EEC7DC-1EB3-44C5-4BBB-AD6467DE7771}"/>
                  </a:ext>
                </a:extLst>
              </p14:cNvPr>
              <p14:cNvContentPartPr/>
              <p14:nvPr/>
            </p14:nvContentPartPr>
            <p14:xfrm>
              <a:off x="4617895" y="1182069"/>
              <a:ext cx="360" cy="3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F7EEC7DC-1EB3-44C5-4BBB-AD6467DE77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11775" y="117594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90445EE4-7D1F-67AA-377D-C20CB8C35958}"/>
                  </a:ext>
                </a:extLst>
              </p14:cNvPr>
              <p14:cNvContentPartPr/>
              <p14:nvPr/>
            </p14:nvContentPartPr>
            <p14:xfrm>
              <a:off x="12653815" y="3703869"/>
              <a:ext cx="360" cy="3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90445EE4-7D1F-67AA-377D-C20CB8C359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647695" y="369774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260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28A33-3339-CD83-928F-B25A38AC1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294" y="108597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선정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05A3C60-CE78-8967-8B0B-11C52DF25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564497"/>
              </p:ext>
            </p:extLst>
          </p:nvPr>
        </p:nvGraphicFramePr>
        <p:xfrm>
          <a:off x="619760" y="1102149"/>
          <a:ext cx="10954511" cy="5460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890">
                  <a:extLst>
                    <a:ext uri="{9D8B030D-6E8A-4147-A177-3AD203B41FA5}">
                      <a16:colId xmlns:a16="http://schemas.microsoft.com/office/drawing/2014/main" val="365034362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3662267498"/>
                    </a:ext>
                  </a:extLst>
                </a:gridCol>
                <a:gridCol w="7468996">
                  <a:extLst>
                    <a:ext uri="{9D8B030D-6E8A-4147-A177-3AD203B41FA5}">
                      <a16:colId xmlns:a16="http://schemas.microsoft.com/office/drawing/2014/main" val="3570791395"/>
                    </a:ext>
                  </a:extLst>
                </a:gridCol>
              </a:tblGrid>
              <a:tr h="482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리그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League)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국가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지역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간단한 설명 및 특징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(3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가지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839398"/>
                  </a:ext>
                </a:extLst>
              </a:tr>
              <a:tr h="52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NBA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🇺🇸 미국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🇨🇦 캐나다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명실상부한 </a:t>
                      </a:r>
                      <a:r>
                        <a:rPr lang="ko-KR" altLang="en-US" sz="1000" b="1" dirty="0"/>
                        <a:t>세계 최고 수준</a:t>
                      </a:r>
                      <a:r>
                        <a:rPr lang="ko-KR" altLang="en-US" sz="1000" dirty="0"/>
                        <a:t>의 리그로 전 세계 최고 기량의 선수들이 모여 있으며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압도적인 자본력과 시장 규모가 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424690"/>
                  </a:ext>
                </a:extLst>
              </a:tr>
              <a:tr h="722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WNBA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🇺🇸 미국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전 세계 </a:t>
                      </a:r>
                      <a:r>
                        <a:rPr lang="ko-KR" altLang="en-US" sz="1000" b="1" dirty="0"/>
                        <a:t>최고 수준의 여자 농구 리그이다</a:t>
                      </a:r>
                      <a:r>
                        <a:rPr lang="en-US" altLang="ko-KR" sz="1000" b="1" dirty="0"/>
                        <a:t>. </a:t>
                      </a:r>
                      <a:r>
                        <a:rPr lang="en-US" altLang="ko-KR" sz="1000" dirty="0"/>
                        <a:t>NBA </a:t>
                      </a:r>
                      <a:r>
                        <a:rPr lang="ko-KR" altLang="en-US" sz="1000" dirty="0"/>
                        <a:t>시즌이 끝나는 여름</a:t>
                      </a:r>
                      <a:r>
                        <a:rPr lang="en-US" altLang="ko-KR" sz="1000" dirty="0"/>
                        <a:t>(5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~9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에 주로 진행됨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많은 선수가 오프시즌에는 </a:t>
                      </a:r>
                      <a:r>
                        <a:rPr lang="en-US" altLang="ko-KR" sz="1000" dirty="0"/>
                        <a:t>WKBL, </a:t>
                      </a:r>
                      <a:r>
                        <a:rPr lang="ko-KR" altLang="en-US" sz="1000" dirty="0"/>
                        <a:t>유럽 등에서 활약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363129"/>
                  </a:ext>
                </a:extLst>
              </a:tr>
              <a:tr h="52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NBA G </a:t>
                      </a:r>
                      <a:r>
                        <a:rPr lang="ko-KR" altLang="en-US" sz="1200" b="1" dirty="0"/>
                        <a:t>리그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🇺🇸 미국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NBA</a:t>
                      </a:r>
                      <a:r>
                        <a:rPr lang="ko-KR" altLang="en-US" sz="1000" dirty="0"/>
                        <a:t>의 공식 하위 리그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마이너 리그</a:t>
                      </a:r>
                      <a:r>
                        <a:rPr lang="en-US" altLang="ko-KR" sz="1000" dirty="0"/>
                        <a:t>) NBA </a:t>
                      </a:r>
                      <a:r>
                        <a:rPr lang="ko-KR" altLang="en-US" sz="1000" dirty="0"/>
                        <a:t>진출을 노리는 유망주들의 무대</a:t>
                      </a:r>
                      <a:r>
                        <a:rPr lang="en-US" altLang="ko-KR" sz="1000" dirty="0"/>
                        <a:t>. '</a:t>
                      </a:r>
                      <a:r>
                        <a:rPr lang="ko-KR" altLang="en-US" sz="1000" dirty="0"/>
                        <a:t>쇼케이스</a:t>
                      </a:r>
                      <a:r>
                        <a:rPr lang="en-US" altLang="ko-KR" sz="1000" dirty="0"/>
                        <a:t>' </a:t>
                      </a:r>
                      <a:r>
                        <a:rPr lang="ko-KR" altLang="en-US" sz="1000" dirty="0"/>
                        <a:t>성격이 강하며 선수 이동이 잦음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130913"/>
                  </a:ext>
                </a:extLst>
              </a:tr>
              <a:tr h="52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유로리그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🇪🇺 유럽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대륙 전체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유럽 최상위 클럽들이 참가하는 </a:t>
                      </a:r>
                      <a:r>
                        <a:rPr lang="ko-KR" altLang="en-US" sz="1000" b="1" dirty="0"/>
                        <a:t>국제 대항전</a:t>
                      </a:r>
                      <a:r>
                        <a:rPr lang="en-US" altLang="ko-KR" sz="1000" dirty="0"/>
                        <a:t> NBA </a:t>
                      </a:r>
                      <a:r>
                        <a:rPr lang="ko-KR" altLang="en-US" sz="1000" dirty="0"/>
                        <a:t>다음으로 높은 경기 수준 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조직적이고 전술적인 농구 스타일을 보여줌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126961"/>
                  </a:ext>
                </a:extLst>
              </a:tr>
              <a:tr h="722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NBL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🇦🇺 호주 </a:t>
                      </a:r>
                      <a:r>
                        <a:rPr lang="en-US" altLang="ko-KR" sz="1200" dirty="0"/>
                        <a:t>/ </a:t>
                      </a:r>
                      <a:r>
                        <a:rPr lang="ko-KR" altLang="en-US" sz="1200" dirty="0"/>
                        <a:t>🇳🇿 뉴질랜드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아시아</a:t>
                      </a:r>
                      <a:r>
                        <a:rPr lang="en-US" altLang="ko-KR" sz="1000" dirty="0"/>
                        <a:t>-</a:t>
                      </a:r>
                      <a:r>
                        <a:rPr lang="ko-KR" altLang="en-US" sz="1000" dirty="0"/>
                        <a:t>태평양 지역 최고 수준 리그이다</a:t>
                      </a:r>
                      <a:r>
                        <a:rPr lang="en-US" altLang="ko-KR" sz="1000" dirty="0"/>
                        <a:t>. </a:t>
                      </a:r>
                      <a:r>
                        <a:rPr lang="ko-KR" altLang="en-US" sz="1000" dirty="0"/>
                        <a:t>빠르고 </a:t>
                      </a:r>
                      <a:r>
                        <a:rPr lang="ko-KR" altLang="en-US" sz="1000" dirty="0" err="1"/>
                        <a:t>피지컬한</a:t>
                      </a:r>
                      <a:r>
                        <a:rPr lang="ko-KR" altLang="en-US" sz="1000" dirty="0"/>
                        <a:t> 경기 스타일이 특징</a:t>
                      </a:r>
                      <a:br>
                        <a:rPr lang="en-US" altLang="ko-KR" sz="1000" dirty="0"/>
                      </a:br>
                      <a:r>
                        <a:rPr lang="ko-KR" altLang="en-US" sz="1000" dirty="0" err="1"/>
                        <a:t>이현중</a:t>
                      </a:r>
                      <a:r>
                        <a:rPr lang="ko-KR" altLang="en-US" sz="1000" dirty="0"/>
                        <a:t> 선수가 활약하고 있는 리그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90852"/>
                  </a:ext>
                </a:extLst>
              </a:tr>
              <a:tr h="52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KBL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🇰🇷 대한민국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10</a:t>
                      </a:r>
                      <a:r>
                        <a:rPr lang="ko-KR" altLang="en-US" sz="1000" dirty="0"/>
                        <a:t>개 구단으로 구성된 한국의 최상위 </a:t>
                      </a:r>
                      <a:r>
                        <a:rPr lang="ko-KR" altLang="en-US" sz="1000" b="1" dirty="0"/>
                        <a:t>남자</a:t>
                      </a:r>
                      <a:r>
                        <a:rPr lang="ko-KR" altLang="en-US" sz="1000" dirty="0"/>
                        <a:t> 프로 리그 빠르고 조직적인 팀플레이 중시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아시아 쿼터 제도를 운영 중임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123376"/>
                  </a:ext>
                </a:extLst>
              </a:tr>
              <a:tr h="722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WKBL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🇰🇷 대한민국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000" dirty="0"/>
                        <a:t>6</a:t>
                      </a:r>
                      <a:r>
                        <a:rPr lang="ko-KR" altLang="en-US" sz="1000" dirty="0"/>
                        <a:t>개 구단으로 구성된 한국의 최상위 </a:t>
                      </a:r>
                      <a:r>
                        <a:rPr lang="ko-KR" altLang="en-US" sz="1000" b="1" dirty="0"/>
                        <a:t>여자</a:t>
                      </a:r>
                      <a:r>
                        <a:rPr lang="ko-KR" altLang="en-US" sz="1000" dirty="0"/>
                        <a:t> 프로 리그 겨울 시즌</a:t>
                      </a:r>
                      <a:r>
                        <a:rPr lang="en-US" altLang="ko-KR" sz="1000" dirty="0"/>
                        <a:t>(11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~3</a:t>
                      </a:r>
                      <a:r>
                        <a:rPr lang="ko-KR" altLang="en-US" sz="1000" dirty="0"/>
                        <a:t>월</a:t>
                      </a:r>
                      <a:r>
                        <a:rPr lang="en-US" altLang="ko-KR" sz="1000" dirty="0"/>
                        <a:t>)</a:t>
                      </a:r>
                      <a:r>
                        <a:rPr lang="ko-KR" altLang="en-US" sz="1000" dirty="0"/>
                        <a:t>에 주로 진행됨</a:t>
                      </a:r>
                      <a:r>
                        <a:rPr lang="en-US" altLang="ko-KR" sz="1000" dirty="0"/>
                        <a:t> WNBA </a:t>
                      </a:r>
                      <a:r>
                        <a:rPr lang="ko-KR" altLang="en-US" sz="1000" dirty="0"/>
                        <a:t>스타 선수들이 오프시즌에 많이 뛰었던 무대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04249"/>
                  </a:ext>
                </a:extLst>
              </a:tr>
              <a:tr h="722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B.</a:t>
                      </a:r>
                      <a:r>
                        <a:rPr lang="ko-KR" altLang="en-US" sz="1200" b="1" dirty="0"/>
                        <a:t>리그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🇯🇵 일본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/>
                        <a:t>최근 급격한 투자로 빠르게 성장 중</a:t>
                      </a:r>
                      <a:endParaRPr lang="en-US" altLang="ko-KR" sz="1000" dirty="0"/>
                    </a:p>
                    <a:p>
                      <a:pPr>
                        <a:buNone/>
                      </a:pPr>
                      <a:r>
                        <a:rPr lang="en-US" altLang="ko-KR" sz="1000" dirty="0"/>
                        <a:t>1</a:t>
                      </a:r>
                      <a:r>
                        <a:rPr lang="ko-KR" altLang="en-US" sz="1000" dirty="0"/>
                        <a:t>부</a:t>
                      </a:r>
                      <a:r>
                        <a:rPr lang="en-US" altLang="ko-KR" sz="1000" dirty="0"/>
                        <a:t>(B1) </a:t>
                      </a:r>
                      <a:r>
                        <a:rPr lang="ko-KR" altLang="en-US" sz="1000" dirty="0"/>
                        <a:t>리그에만 </a:t>
                      </a:r>
                      <a:r>
                        <a:rPr lang="en-US" altLang="ko-KR" sz="1000" dirty="0"/>
                        <a:t>24</a:t>
                      </a:r>
                      <a:r>
                        <a:rPr lang="ko-KR" altLang="en-US" sz="1000" dirty="0"/>
                        <a:t>개 팀이 참가하는 큰 규모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전체 </a:t>
                      </a:r>
                      <a:r>
                        <a:rPr lang="en-US" altLang="ko-KR" sz="1000" dirty="0"/>
                        <a:t>B1 ~ B3)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KBL</a:t>
                      </a:r>
                      <a:r>
                        <a:rPr lang="ko-KR" altLang="en-US" sz="1000" dirty="0"/>
                        <a:t>과 아시아 시장에서 경쟁 구도 형성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284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9980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64C21-C418-818C-03BF-2AF3C5B2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7EC42-31F1-2398-D127-A557FA3BE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07" y="108597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선정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2E435-E0D5-2B1A-BF5B-B223B435E1F0}"/>
              </a:ext>
            </a:extLst>
          </p:cNvPr>
          <p:cNvSpPr txBox="1"/>
          <p:nvPr/>
        </p:nvSpPr>
        <p:spPr>
          <a:xfrm>
            <a:off x="327434" y="961990"/>
            <a:ext cx="112840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한국 프로 농구 </a:t>
            </a:r>
            <a:r>
              <a:rPr lang="en-US" altLang="ko-KR" sz="2400" dirty="0"/>
              <a:t>25-26 </a:t>
            </a:r>
            <a:r>
              <a:rPr lang="ko-KR" altLang="en-US" sz="2400" dirty="0"/>
              <a:t>시즌 실시간 경기에 승률 예측을 위하여 </a:t>
            </a:r>
            <a:r>
              <a:rPr lang="en-US" altLang="ko-KR" sz="2400" dirty="0"/>
              <a:t>KBL </a:t>
            </a:r>
            <a:r>
              <a:rPr lang="ko-KR" altLang="en-US" sz="2400" dirty="0" err="1"/>
              <a:t>컵대회</a:t>
            </a:r>
            <a:r>
              <a:rPr lang="en-US" altLang="ko-KR" sz="2400" dirty="0"/>
              <a:t>, OPEN MATCH DAY </a:t>
            </a:r>
            <a:r>
              <a:rPr lang="ko-KR" altLang="en-US" sz="2400" dirty="0"/>
              <a:t>경기와 올스타전 경기</a:t>
            </a:r>
            <a:r>
              <a:rPr lang="en-US" altLang="ko-KR" sz="2400" dirty="0"/>
              <a:t>, </a:t>
            </a:r>
            <a:r>
              <a:rPr lang="ko-KR" altLang="en-US" sz="2400" dirty="0"/>
              <a:t>플레이오프 등을 제외한 시즌 정규 경기에 대해서만 자료 수집을 진행하였다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구체적으로 </a:t>
            </a:r>
            <a:r>
              <a:rPr lang="en-US" altLang="ko-KR" sz="2400" dirty="0"/>
              <a:t>21-22 </a:t>
            </a:r>
            <a:r>
              <a:rPr lang="ko-KR" altLang="en-US" sz="2400" dirty="0"/>
              <a:t>시즌 </a:t>
            </a:r>
            <a:r>
              <a:rPr lang="en-US" altLang="ko-KR" sz="2400" dirty="0"/>
              <a:t>270</a:t>
            </a:r>
            <a:r>
              <a:rPr lang="ko-KR" altLang="en-US" sz="2400" dirty="0"/>
              <a:t>경기</a:t>
            </a:r>
            <a:r>
              <a:rPr lang="en-US" altLang="ko-KR" sz="2400" dirty="0"/>
              <a:t>, 22-23</a:t>
            </a:r>
            <a:r>
              <a:rPr lang="ko-KR" altLang="en-US" sz="2400" dirty="0"/>
              <a:t>시즌 </a:t>
            </a:r>
            <a:r>
              <a:rPr lang="en-US" altLang="ko-KR" sz="2400" dirty="0"/>
              <a:t>270</a:t>
            </a:r>
            <a:r>
              <a:rPr lang="ko-KR" altLang="en-US" sz="2400" dirty="0"/>
              <a:t>경기</a:t>
            </a:r>
            <a:r>
              <a:rPr lang="en-US" altLang="ko-KR" sz="2400" dirty="0"/>
              <a:t>, 23-24</a:t>
            </a:r>
            <a:r>
              <a:rPr lang="ko-KR" altLang="en-US" sz="2400" dirty="0"/>
              <a:t>시즌 </a:t>
            </a:r>
            <a:r>
              <a:rPr lang="en-US" altLang="ko-KR" sz="2400" dirty="0"/>
              <a:t>270</a:t>
            </a:r>
            <a:r>
              <a:rPr lang="ko-KR" altLang="en-US" sz="2400" dirty="0"/>
              <a:t>경기</a:t>
            </a:r>
            <a:r>
              <a:rPr lang="en-US" altLang="ko-KR" sz="2400" dirty="0"/>
              <a:t>, 24-25</a:t>
            </a:r>
            <a:r>
              <a:rPr lang="ko-KR" altLang="en-US" sz="2400" dirty="0"/>
              <a:t>시즌 </a:t>
            </a:r>
            <a:r>
              <a:rPr lang="en-US" altLang="ko-KR" sz="2400" dirty="0"/>
              <a:t>270</a:t>
            </a:r>
            <a:r>
              <a:rPr lang="ko-KR" altLang="en-US" sz="2400" dirty="0"/>
              <a:t>경기 로 총 </a:t>
            </a:r>
            <a:r>
              <a:rPr lang="en-US" altLang="ko-KR" sz="2400" dirty="0"/>
              <a:t>1080</a:t>
            </a:r>
            <a:r>
              <a:rPr lang="ko-KR" altLang="en-US" sz="2400" dirty="0"/>
              <a:t>경기에 대한 데이터를 수집 및 선정하였다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181AC6F-D121-BD76-6CC4-4334D81DE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610120"/>
              </p:ext>
            </p:extLst>
          </p:nvPr>
        </p:nvGraphicFramePr>
        <p:xfrm>
          <a:off x="580489" y="3328179"/>
          <a:ext cx="8373012" cy="3300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004">
                  <a:extLst>
                    <a:ext uri="{9D8B030D-6E8A-4147-A177-3AD203B41FA5}">
                      <a16:colId xmlns:a16="http://schemas.microsoft.com/office/drawing/2014/main" val="2285491562"/>
                    </a:ext>
                  </a:extLst>
                </a:gridCol>
                <a:gridCol w="2791004">
                  <a:extLst>
                    <a:ext uri="{9D8B030D-6E8A-4147-A177-3AD203B41FA5}">
                      <a16:colId xmlns:a16="http://schemas.microsoft.com/office/drawing/2014/main" val="2092944145"/>
                    </a:ext>
                  </a:extLst>
                </a:gridCol>
                <a:gridCol w="2791004">
                  <a:extLst>
                    <a:ext uri="{9D8B030D-6E8A-4147-A177-3AD203B41FA5}">
                      <a16:colId xmlns:a16="http://schemas.microsoft.com/office/drawing/2014/main" val="287158522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 시즌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경기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팀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67144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21-22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4334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22-23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922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23-24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451505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24-25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270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078307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>
                              <a:lumMod val="10000"/>
                              <a:lumOff val="90000"/>
                            </a:schemeClr>
                          </a:solidFill>
                        </a:rPr>
                        <a:t>25-26</a:t>
                      </a:r>
                      <a:endParaRPr lang="ko-KR" altLang="en-US" sz="2000" b="1" dirty="0"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>
                              <a:lumMod val="10000"/>
                              <a:lumOff val="90000"/>
                            </a:schemeClr>
                          </a:solidFill>
                        </a:rPr>
                        <a:t>진행중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>
                          <a:solidFill>
                            <a:schemeClr val="tx1">
                              <a:lumMod val="10000"/>
                              <a:lumOff val="90000"/>
                            </a:schemeClr>
                          </a:solidFill>
                        </a:rPr>
                        <a:t>10</a:t>
                      </a:r>
                      <a:endParaRPr lang="ko-KR" altLang="en-US" sz="2000" dirty="0">
                        <a:solidFill>
                          <a:schemeClr val="tx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557936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/>
                        <a:t>합계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1080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40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086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3590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24829-2A93-0958-58EC-E4818F8A3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소프트웨어, 번호이(가) 표시된 사진">
            <a:extLst>
              <a:ext uri="{FF2B5EF4-FFF2-40B4-BE49-F238E27FC236}">
                <a16:creationId xmlns:a16="http://schemas.microsoft.com/office/drawing/2014/main" id="{90BF796F-F57A-22CB-F7E7-B650E5AF6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864" y="436438"/>
            <a:ext cx="5144861" cy="491100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CB5CDED-D068-1665-0D0F-E53AE1119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189206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수집 및 처리 과정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A10C67-37B1-7AE5-5FF9-F61F0078B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464" y="1212759"/>
            <a:ext cx="10954512" cy="49560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sz="2400" dirty="0"/>
              <a:t>실시간 승패예측 시스템을 개발하기 위하여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KBL</a:t>
            </a:r>
            <a:r>
              <a:rPr lang="ko-KR" altLang="en-US" sz="2400" dirty="0"/>
              <a:t>에서 운영하고 있는 공식 홈페이지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(</a:t>
            </a:r>
            <a:r>
              <a:rPr lang="en-US" altLang="ko-KR" sz="2400" dirty="0">
                <a:hlinkClick r:id="rId3"/>
              </a:rPr>
              <a:t>https://www.kbl.or.kr/</a:t>
            </a:r>
            <a:r>
              <a:rPr lang="en-US" altLang="ko-KR" sz="2400" dirty="0"/>
              <a:t>)</a:t>
            </a:r>
            <a:r>
              <a:rPr lang="ko-KR" altLang="en-US" sz="2400" dirty="0"/>
              <a:t>를</a:t>
            </a:r>
            <a:r>
              <a:rPr lang="en-US" altLang="ko-KR" sz="2400" dirty="0"/>
              <a:t> </a:t>
            </a:r>
            <a:r>
              <a:rPr lang="ko-KR" altLang="en-US" sz="2400" dirty="0"/>
              <a:t>통해 직접 제공하고 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있는 경기기록을 수집하였다</a:t>
            </a:r>
            <a:r>
              <a:rPr lang="en-US" altLang="ko-KR" sz="2400" dirty="0"/>
              <a:t>. 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자료수집을 위한 방법으로는 </a:t>
            </a:r>
            <a:r>
              <a:rPr lang="en-US" altLang="ko-KR" sz="2400" dirty="0"/>
              <a:t>Python 3.11 </a:t>
            </a:r>
            <a:r>
              <a:rPr lang="ko-KR" altLang="en-US" sz="2400" dirty="0"/>
              <a:t>를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사용하여 웹 </a:t>
            </a:r>
            <a:r>
              <a:rPr lang="ko-KR" altLang="en-US" sz="2400" dirty="0" err="1"/>
              <a:t>크롤링</a:t>
            </a:r>
            <a:r>
              <a:rPr lang="ko-KR" altLang="en-US" sz="2400" dirty="0"/>
              <a:t> 자동화 코드를 구현하였다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0" name="그림 9" descr="텍스트, 스크린샷, 폰트, 라인이(가) 표시된 사진">
            <a:extLst>
              <a:ext uri="{FF2B5EF4-FFF2-40B4-BE49-F238E27FC236}">
                <a16:creationId xmlns:a16="http://schemas.microsoft.com/office/drawing/2014/main" id="{6871B612-721B-F443-1CFE-1AAD0F2FB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9396" y="5347442"/>
            <a:ext cx="5097329" cy="6257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C61F5C-4BFC-F5A2-9F32-FB75E0BEB0D4}"/>
              </a:ext>
            </a:extLst>
          </p:cNvPr>
          <p:cNvSpPr txBox="1"/>
          <p:nvPr/>
        </p:nvSpPr>
        <p:spPr>
          <a:xfrm>
            <a:off x="7877175" y="6014918"/>
            <a:ext cx="46577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KBL </a:t>
            </a:r>
            <a:r>
              <a:rPr lang="ko-KR" altLang="en-US" sz="1400" b="1" dirty="0"/>
              <a:t>공식 홈페이지 경기기록 예시</a:t>
            </a:r>
          </a:p>
        </p:txBody>
      </p:sp>
    </p:spTree>
    <p:extLst>
      <p:ext uri="{BB962C8B-B14F-4D97-AF65-F5344CB8AC3E}">
        <p14:creationId xmlns:p14="http://schemas.microsoft.com/office/powerpoint/2010/main" val="635322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B4F3-8067-805F-DF56-EB886B1D9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A391E0-A7E5-0EC0-10F3-5B21D0A85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70" y="128262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D5177-E08C-07F8-6DB0-ED815DBBF50C}"/>
              </a:ext>
            </a:extLst>
          </p:cNvPr>
          <p:cNvSpPr txBox="1"/>
          <p:nvPr/>
        </p:nvSpPr>
        <p:spPr>
          <a:xfrm>
            <a:off x="369698" y="1140736"/>
            <a:ext cx="56833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웹 </a:t>
            </a:r>
            <a:r>
              <a:rPr lang="ko-KR" altLang="en-US" sz="2000" dirty="0" err="1"/>
              <a:t>크롤링</a:t>
            </a:r>
            <a:r>
              <a:rPr lang="ko-KR" altLang="en-US" sz="2000" dirty="0"/>
              <a:t> 자동화 프로그램을 활용하여 수집되는 경기기록은 </a:t>
            </a:r>
            <a:r>
              <a:rPr lang="en-US" altLang="ko-KR" sz="2000" dirty="0"/>
              <a:t>1</a:t>
            </a:r>
            <a:r>
              <a:rPr lang="ko-KR" altLang="en-US" sz="2000" dirty="0"/>
              <a:t>경기당 </a:t>
            </a:r>
            <a:r>
              <a:rPr lang="en-US" altLang="ko-KR" sz="2000" dirty="0"/>
              <a:t>36</a:t>
            </a:r>
            <a:r>
              <a:rPr lang="ko-KR" altLang="en-US" sz="2000" dirty="0"/>
              <a:t>개의 기록이 </a:t>
            </a:r>
            <a:r>
              <a:rPr lang="en-US" altLang="ko-KR" sz="2000" b="1" dirty="0"/>
              <a:t>Home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Away </a:t>
            </a:r>
            <a:r>
              <a:rPr lang="ko-KR" altLang="en-US" sz="2000" dirty="0"/>
              <a:t>별로 수집되어</a:t>
            </a:r>
            <a:r>
              <a:rPr lang="ko-KR" altLang="en-US" sz="2000" b="1" dirty="0"/>
              <a:t> </a:t>
            </a:r>
            <a:r>
              <a:rPr lang="ko-KR" altLang="en-US" sz="2000" dirty="0"/>
              <a:t>총 </a:t>
            </a:r>
            <a:r>
              <a:rPr lang="en-US" altLang="ko-KR" sz="2000" dirty="0"/>
              <a:t>72</a:t>
            </a:r>
            <a:r>
              <a:rPr lang="ko-KR" altLang="en-US" sz="2000" dirty="0"/>
              <a:t>개의 경기기록이 수집된다</a:t>
            </a:r>
            <a:r>
              <a:rPr lang="en-US" altLang="ko-KR" sz="2000" dirty="0"/>
              <a:t>. </a:t>
            </a:r>
            <a:br>
              <a:rPr lang="en-US" altLang="ko-KR" sz="2000" dirty="0"/>
            </a:br>
            <a:r>
              <a:rPr lang="en-US" altLang="ko-KR" sz="2000" dirty="0"/>
              <a:t>(</a:t>
            </a:r>
            <a:r>
              <a:rPr lang="ko-KR" altLang="en-US" sz="2000" dirty="0"/>
              <a:t>학습에 포함되지 않는 경기 고유데이터 </a:t>
            </a:r>
            <a:r>
              <a:rPr lang="en-US" altLang="ko-KR" sz="2000" dirty="0"/>
              <a:t>5</a:t>
            </a:r>
            <a:r>
              <a:rPr lang="ko-KR" altLang="en-US" sz="2000" dirty="0"/>
              <a:t>가지 존재</a:t>
            </a:r>
            <a:r>
              <a:rPr lang="en-US" altLang="ko-KR" sz="2000" dirty="0"/>
              <a:t>)</a:t>
            </a:r>
          </a:p>
          <a:p>
            <a:endParaRPr lang="en-US" altLang="ko-KR" sz="2000" dirty="0"/>
          </a:p>
          <a:p>
            <a:r>
              <a:rPr lang="ko-KR" altLang="en-US" sz="2000" dirty="0"/>
              <a:t>따라서 전체 </a:t>
            </a:r>
            <a:r>
              <a:rPr lang="en-US" altLang="ko-KR" sz="2000" dirty="0"/>
              <a:t>1080</a:t>
            </a:r>
            <a:r>
              <a:rPr lang="ko-KR" altLang="en-US" sz="2000" dirty="0"/>
              <a:t>경기에 대한 경기기록을 수집하였으며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1080 * 72 = 77,760</a:t>
            </a:r>
            <a:r>
              <a:rPr lang="ko-KR" altLang="en-US" sz="2000" dirty="0"/>
              <a:t>개의 데이터를 수집하였다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구체적으로 수집된 경기기록은 다음과 같다</a:t>
            </a:r>
            <a:r>
              <a:rPr lang="en-US" altLang="ko-KR" sz="200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4137F1-F929-9487-27D5-E2933BBBD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486591"/>
              </p:ext>
            </p:extLst>
          </p:nvPr>
        </p:nvGraphicFramePr>
        <p:xfrm>
          <a:off x="412623" y="4082796"/>
          <a:ext cx="534035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88">
                  <a:extLst>
                    <a:ext uri="{9D8B030D-6E8A-4147-A177-3AD203B41FA5}">
                      <a16:colId xmlns:a16="http://schemas.microsoft.com/office/drawing/2014/main" val="1763830344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767494672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357478341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89392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0900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TEAM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팀명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PA </a:t>
                      </a:r>
                      <a:r>
                        <a:rPr lang="ko-KR" altLang="en-US" sz="1200" dirty="0" err="1"/>
                        <a:t>개인득점시도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61813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AST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어시스트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STL </a:t>
                      </a:r>
                      <a:r>
                        <a:rPr lang="ko-KR" altLang="en-US" sz="1200" dirty="0"/>
                        <a:t>스틸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0232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BLK 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블록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TTO </a:t>
                      </a:r>
                      <a:r>
                        <a:rPr lang="ko-KR" altLang="en-US" sz="1200" dirty="0"/>
                        <a:t>팀 </a:t>
                      </a:r>
                      <a:r>
                        <a:rPr lang="ko-KR" altLang="en-US" sz="1200" dirty="0" err="1"/>
                        <a:t>턴오버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62826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DREB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수비리바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PTO </a:t>
                      </a:r>
                      <a:r>
                        <a:rPr lang="ko-KR" altLang="en-US" sz="1200" dirty="0"/>
                        <a:t>개인 </a:t>
                      </a:r>
                      <a:r>
                        <a:rPr lang="ko-KR" altLang="en-US" sz="1200" dirty="0" err="1"/>
                        <a:t>턴오버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0662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DKM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덩크슛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MIN </a:t>
                      </a:r>
                      <a:r>
                        <a:rPr lang="ko-KR" altLang="en-US" sz="1200" dirty="0"/>
                        <a:t>경기시간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6129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DKA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덩크슛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UF  U</a:t>
                      </a:r>
                      <a:r>
                        <a:rPr lang="ko-KR" altLang="en-US" sz="1200" dirty="0"/>
                        <a:t>파울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4749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F4D8E13-7E8A-BB64-9FB2-0A66F75574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602809"/>
              </p:ext>
            </p:extLst>
          </p:nvPr>
        </p:nvGraphicFramePr>
        <p:xfrm>
          <a:off x="6353175" y="59436"/>
          <a:ext cx="5340352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88">
                  <a:extLst>
                    <a:ext uri="{9D8B030D-6E8A-4147-A177-3AD203B41FA5}">
                      <a16:colId xmlns:a16="http://schemas.microsoft.com/office/drawing/2014/main" val="1763830344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767494672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357478341"/>
                    </a:ext>
                  </a:extLst>
                </a:gridCol>
                <a:gridCol w="1335088">
                  <a:extLst>
                    <a:ext uri="{9D8B030D-6E8A-4147-A177-3AD203B41FA5}">
                      <a16:colId xmlns:a16="http://schemas.microsoft.com/office/drawing/2014/main" val="189392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변수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20900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OREB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공격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리바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TF   T</a:t>
                      </a:r>
                      <a:r>
                        <a:rPr lang="ko-KR" altLang="en-US" sz="1200" dirty="0"/>
                        <a:t>파울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61813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PRB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개인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리바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TOM </a:t>
                      </a:r>
                      <a:r>
                        <a:rPr lang="ko-KR" altLang="en-US" sz="1200" dirty="0" err="1"/>
                        <a:t>턴오버</a:t>
                      </a:r>
                      <a:r>
                        <a:rPr lang="ko-KR" altLang="en-US" sz="1200" dirty="0"/>
                        <a:t> 득점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0232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TRB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리바</a:t>
                      </a:r>
                      <a:endParaRPr lang="ko-KR" altLang="en-US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EJ </a:t>
                      </a:r>
                      <a:r>
                        <a:rPr lang="ko-KR" altLang="en-US" sz="1200" dirty="0"/>
                        <a:t>반칙 퇴장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662826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2PA 2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점슛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NR  net rating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90662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2PM 2</a:t>
                      </a:r>
                      <a:r>
                        <a:rPr lang="ko-KR" altLang="en-US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점슛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TS% </a:t>
                      </a:r>
                      <a:r>
                        <a:rPr lang="en-US" altLang="ko-KR" sz="1200" dirty="0" err="1"/>
                        <a:t>trueshooting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61298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3PA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 err="1"/>
                        <a:t>점슛</a:t>
                      </a:r>
                      <a:r>
                        <a:rPr lang="ko-KR" altLang="en-US" sz="1200" dirty="0"/>
                        <a:t>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eFG</a:t>
                      </a:r>
                      <a:r>
                        <a:rPr lang="en-US" altLang="ko-KR" sz="1200" dirty="0"/>
                        <a:t>% </a:t>
                      </a:r>
                      <a:r>
                        <a:rPr lang="ko-KR" altLang="en-US" sz="1200" dirty="0" err="1"/>
                        <a:t>야투효율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647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3PM 3</a:t>
                      </a:r>
                      <a:r>
                        <a:rPr lang="ko-KR" altLang="en-US" sz="1200" dirty="0" err="1"/>
                        <a:t>점슛</a:t>
                      </a:r>
                      <a:r>
                        <a:rPr lang="ko-KR" altLang="en-US" sz="1200" dirty="0"/>
                        <a:t>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EFF  </a:t>
                      </a:r>
                      <a:r>
                        <a:rPr lang="ko-KR" altLang="en-US" sz="1200" dirty="0"/>
                        <a:t>선수 효율성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281786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FTA </a:t>
                      </a:r>
                      <a:r>
                        <a:rPr lang="ko-KR" altLang="en-US" sz="1200" dirty="0"/>
                        <a:t>자유투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gameKey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298859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FTM </a:t>
                      </a:r>
                      <a:r>
                        <a:rPr lang="ko-KR" altLang="en-US" sz="1200" dirty="0"/>
                        <a:t>자유투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err="1"/>
                        <a:t>seasonName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712197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SWA </a:t>
                      </a:r>
                      <a:r>
                        <a:rPr lang="ko-KR" altLang="en-US" sz="1200" dirty="0"/>
                        <a:t>팀 속공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Date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310468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17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SWM </a:t>
                      </a:r>
                      <a:r>
                        <a:rPr lang="ko-KR" altLang="en-US" sz="1200" dirty="0"/>
                        <a:t>속공 득점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Winner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383422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18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FGA </a:t>
                      </a:r>
                      <a:r>
                        <a:rPr lang="ko-KR" altLang="en-US" sz="1200" dirty="0" err="1"/>
                        <a:t>필드골</a:t>
                      </a:r>
                      <a:r>
                        <a:rPr lang="ko-KR" altLang="en-US" sz="1200" dirty="0"/>
                        <a:t> 시도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Quarter</a:t>
                      </a:r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86756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FGM </a:t>
                      </a:r>
                      <a:r>
                        <a:rPr lang="ko-KR" altLang="en-US" sz="1200" dirty="0" err="1"/>
                        <a:t>필드골</a:t>
                      </a:r>
                      <a:r>
                        <a:rPr lang="ko-KR" altLang="en-US" sz="1200" dirty="0"/>
                        <a:t> 성공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511681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TPF </a:t>
                      </a:r>
                      <a:r>
                        <a:rPr lang="ko-KR" altLang="en-US" sz="1200" dirty="0"/>
                        <a:t>팀 총합 파울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155740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21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PF </a:t>
                      </a:r>
                      <a:r>
                        <a:rPr lang="ko-KR" altLang="en-US" sz="1200" dirty="0"/>
                        <a:t>개인 파울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44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205967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22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SUB </a:t>
                      </a:r>
                      <a:r>
                        <a:rPr lang="ko-KR" altLang="en-US" sz="1200" dirty="0"/>
                        <a:t>교체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45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879704"/>
                  </a:ext>
                </a:extLst>
              </a:tr>
              <a:tr h="316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23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PP </a:t>
                      </a:r>
                      <a:r>
                        <a:rPr lang="ko-KR" altLang="en-US" sz="1200" dirty="0"/>
                        <a:t>개인 득점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46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451296"/>
                  </a:ext>
                </a:extLst>
              </a:tr>
            </a:tbl>
          </a:graphicData>
        </a:graphic>
      </p:graphicFrame>
      <p:pic>
        <p:nvPicPr>
          <p:cNvPr id="7" name="그림 6" descr="클립아트, 그림, 동물 피규어, 스케치이(가) 표시된 사진">
            <a:extLst>
              <a:ext uri="{FF2B5EF4-FFF2-40B4-BE49-F238E27FC236}">
                <a16:creationId xmlns:a16="http://schemas.microsoft.com/office/drawing/2014/main" id="{262E1B9C-E7D2-2EB6-7E2C-1CC8CD2C57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72" t="12038" r="12937" b="13067"/>
          <a:stretch>
            <a:fillRect/>
          </a:stretch>
        </p:blipFill>
        <p:spPr>
          <a:xfrm rot="10369366" flipV="1">
            <a:off x="10289465" y="5125544"/>
            <a:ext cx="1272051" cy="133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298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39E877-E4CE-B223-2F31-E2CFCA2F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03E18-9933-83E4-00CF-7444A6CC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95" y="143329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수집 및 처리 과정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E56726-D87D-114A-64A1-89AA8A5D0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212760"/>
            <a:ext cx="10954512" cy="49560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8ED31-95F9-5208-A523-12FC1E37C45C}"/>
              </a:ext>
            </a:extLst>
          </p:cNvPr>
          <p:cNvSpPr txBox="1"/>
          <p:nvPr/>
        </p:nvSpPr>
        <p:spPr>
          <a:xfrm>
            <a:off x="428625" y="1760566"/>
            <a:ext cx="4594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크롤링한 </a:t>
            </a:r>
            <a:r>
              <a:rPr lang="en-US" altLang="ko-KR" sz="2000" b="1" dirty="0" err="1"/>
              <a:t>json</a:t>
            </a:r>
            <a:r>
              <a:rPr lang="ko-KR" altLang="en-US" sz="2000" b="1" dirty="0"/>
              <a:t>형태 데이터 파일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549847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F1EFF1-4470-223F-7C80-150B5F2CE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A8FB82-A862-F0CB-FF8B-F14A52985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92467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859804-D99C-984F-448E-C53C9322E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212760"/>
            <a:ext cx="10954512" cy="49560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10" name="그림 9" descr="텍스트, 스크린샷이(가) 표시된 사진">
            <a:extLst>
              <a:ext uri="{FF2B5EF4-FFF2-40B4-BE49-F238E27FC236}">
                <a16:creationId xmlns:a16="http://schemas.microsoft.com/office/drawing/2014/main" id="{AC300C3A-4C81-BCC0-7AB1-282E2EA83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940" y="33336"/>
            <a:ext cx="410412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A49DE1-2CD1-622C-3F6A-FE897CF6EE9B}"/>
              </a:ext>
            </a:extLst>
          </p:cNvPr>
          <p:cNvSpPr txBox="1"/>
          <p:nvPr/>
        </p:nvSpPr>
        <p:spPr>
          <a:xfrm>
            <a:off x="3530414" y="0"/>
            <a:ext cx="4594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2"/>
                </a:solidFill>
              </a:rPr>
              <a:t>크롤링한 </a:t>
            </a:r>
            <a:r>
              <a:rPr lang="en-US" altLang="ko-KR" sz="1400" b="1" dirty="0" err="1">
                <a:solidFill>
                  <a:schemeClr val="bg2"/>
                </a:solidFill>
              </a:rPr>
              <a:t>json</a:t>
            </a:r>
            <a:r>
              <a:rPr lang="ko-KR" altLang="en-US" sz="1400" b="1" dirty="0">
                <a:solidFill>
                  <a:schemeClr val="bg2"/>
                </a:solidFill>
              </a:rPr>
              <a:t>형태 데이터 파일</a:t>
            </a:r>
            <a:endParaRPr lang="en-US" altLang="ko-KR" sz="1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932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139A72-7C5F-C791-F1E1-9842E16CE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B1F00-606B-0B5F-8158-57B6186F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291429"/>
            <a:ext cx="10954512" cy="795528"/>
          </a:xfrm>
        </p:spPr>
        <p:txBody>
          <a:bodyPr/>
          <a:lstStyle/>
          <a:p>
            <a:r>
              <a:rPr lang="ko-KR" altLang="en-US" dirty="0"/>
              <a:t>데이터 수집 및 처리 과정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E2035E-45DF-F637-2D43-C7D1F4F62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212760"/>
            <a:ext cx="10954512" cy="49560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7533E-8BDE-FC9F-20D4-9B687686BB3B}"/>
              </a:ext>
            </a:extLst>
          </p:cNvPr>
          <p:cNvSpPr txBox="1"/>
          <p:nvPr/>
        </p:nvSpPr>
        <p:spPr>
          <a:xfrm>
            <a:off x="6253038" y="6043351"/>
            <a:ext cx="4594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크롤링한 </a:t>
            </a:r>
            <a:r>
              <a:rPr lang="en-US" altLang="ko-KR" sz="1400" b="1" dirty="0"/>
              <a:t>csv</a:t>
            </a:r>
            <a:r>
              <a:rPr lang="ko-KR" altLang="en-US" sz="1400" b="1" dirty="0"/>
              <a:t> 데이터를 전처리한 형태의 데이터 </a:t>
            </a:r>
            <a:endParaRPr lang="en-US" altLang="ko-KR" sz="1400" b="1" dirty="0"/>
          </a:p>
          <a:p>
            <a:r>
              <a:rPr lang="ko-KR" altLang="en-US" sz="1400" b="1" dirty="0"/>
              <a:t> </a:t>
            </a:r>
            <a:endParaRPr lang="en-US" altLang="ko-KR" sz="1400" b="1" dirty="0"/>
          </a:p>
        </p:txBody>
      </p:sp>
      <p:pic>
        <p:nvPicPr>
          <p:cNvPr id="6" name="그림 5" descr="패턴, 다채로움, 예술, 패브릭이(가) 표시된 사진">
            <a:extLst>
              <a:ext uri="{FF2B5EF4-FFF2-40B4-BE49-F238E27FC236}">
                <a16:creationId xmlns:a16="http://schemas.microsoft.com/office/drawing/2014/main" id="{9D28A44C-D5E0-D0BD-212C-8DDABE154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057" y="1212760"/>
            <a:ext cx="6858660" cy="417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53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9D193-0A79-4BC5-814E-08D8E9D5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3" y="-376755"/>
            <a:ext cx="6158541" cy="1444752"/>
          </a:xfrm>
        </p:spPr>
        <p:txBody>
          <a:bodyPr anchor="b">
            <a:normAutofit/>
          </a:bodyPr>
          <a:lstStyle/>
          <a:p>
            <a:r>
              <a:rPr lang="ko-KR" altLang="en-US" dirty="0"/>
              <a:t>데이터 수집 및 처리 과정  </a:t>
            </a:r>
            <a:r>
              <a:rPr lang="en-US" altLang="ko-KR" dirty="0"/>
              <a:t>2.2</a:t>
            </a:r>
            <a:endParaRPr lang="ko-KR" alt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D5137F2-5EDA-942F-80BD-BBA9B39B01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9580" y="1864913"/>
            <a:ext cx="4389120" cy="4797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/>
              <a:t>핵심 과제</a:t>
            </a:r>
            <a:r>
              <a:rPr lang="en-US" altLang="ko-KR" sz="2400" dirty="0"/>
              <a:t>: </a:t>
            </a:r>
            <a:r>
              <a:rPr lang="ko-KR" altLang="en-US" sz="2400" dirty="0"/>
              <a:t>쿼터별 누적 데이터를 분석 가능한 </a:t>
            </a:r>
            <a:r>
              <a:rPr lang="en-US" altLang="ko-KR" sz="2400" dirty="0"/>
              <a:t> </a:t>
            </a:r>
            <a:r>
              <a:rPr lang="ko-KR" altLang="en-US" sz="2400" dirty="0"/>
              <a:t>경기 단위</a:t>
            </a:r>
            <a:r>
              <a:rPr lang="en-US" altLang="ko-KR" sz="2400" dirty="0"/>
              <a:t>(Q4) </a:t>
            </a:r>
            <a:r>
              <a:rPr lang="ko-KR" altLang="en-US" sz="2400" dirty="0"/>
              <a:t>및 실시간</a:t>
            </a:r>
            <a:r>
              <a:rPr lang="en-US" altLang="ko-KR" sz="2400" dirty="0"/>
              <a:t> </a:t>
            </a:r>
            <a:r>
              <a:rPr lang="ko-KR" altLang="en-US" sz="2400" dirty="0"/>
              <a:t>데이터로 분리 및 정제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이를 분석가능한 데이터로 가공하는 것이 첫번째 과제였음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r>
              <a:rPr lang="ko-KR" altLang="en-US" sz="2400" dirty="0"/>
              <a:t>팀 이름</a:t>
            </a:r>
            <a:r>
              <a:rPr lang="en-US" altLang="ko-KR" sz="2400" dirty="0"/>
              <a:t>(</a:t>
            </a:r>
            <a:r>
              <a:rPr lang="ko-KR" altLang="en-US" sz="2400" dirty="0"/>
              <a:t>코드</a:t>
            </a:r>
            <a:r>
              <a:rPr lang="en-US" altLang="ko-KR" sz="2400" dirty="0"/>
              <a:t>) </a:t>
            </a:r>
            <a:r>
              <a:rPr lang="ko-KR" altLang="en-US" sz="2400" dirty="0"/>
              <a:t>정리하는 것 두번째 과제</a:t>
            </a:r>
            <a:r>
              <a:rPr lang="en-US" altLang="ko-KR" sz="2400" dirty="0"/>
              <a:t>?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내용 개체 틀 4" descr="전자제품, 전자 공학, 회로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62671C-57AB-299E-FED1-5892F836613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tretch/>
        </p:blipFill>
        <p:spPr>
          <a:xfrm>
            <a:off x="4837915" y="1235413"/>
            <a:ext cx="7220995" cy="5097294"/>
          </a:xfr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5EF8E1-E026-B2AE-394A-2EFBAA7F22C3}"/>
              </a:ext>
            </a:extLst>
          </p:cNvPr>
          <p:cNvSpPr txBox="1"/>
          <p:nvPr/>
        </p:nvSpPr>
        <p:spPr>
          <a:xfrm>
            <a:off x="6847014" y="6500123"/>
            <a:ext cx="4594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크롤링한 </a:t>
            </a:r>
            <a:r>
              <a:rPr lang="en-US" altLang="ko-KR" sz="1400" b="1" dirty="0"/>
              <a:t>csv</a:t>
            </a:r>
            <a:r>
              <a:rPr lang="ko-KR" altLang="en-US" sz="1400" b="1" dirty="0"/>
              <a:t> 데이터를 전처리한 형태의 데이터 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439426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49F05-3A38-5B2C-2A0B-22E575C1A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89" y="208409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핵심 지표 설명</a:t>
            </a:r>
            <a:r>
              <a:rPr lang="en-US" altLang="ko-KR" sz="4000" dirty="0"/>
              <a:t>(</a:t>
            </a:r>
            <a:r>
              <a:rPr lang="ko-KR" altLang="en-US" sz="4000" dirty="0"/>
              <a:t>생략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101532-F6BC-3020-904D-0FE557BCE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73" y="1427860"/>
            <a:ext cx="10954512" cy="4956047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altLang="ko-KR" sz="3200" b="1" dirty="0"/>
              <a:t>Possessions</a:t>
            </a:r>
          </a:p>
          <a:p>
            <a:pPr marL="342900" indent="-342900">
              <a:buAutoNum type="arabicPeriod"/>
            </a:pPr>
            <a:endParaRPr lang="en-US" altLang="ko-KR" sz="3200" b="1" dirty="0"/>
          </a:p>
          <a:p>
            <a:pPr marL="342900" indent="-342900">
              <a:buAutoNum type="arabicPeriod"/>
            </a:pPr>
            <a:r>
              <a:rPr lang="en-US" altLang="ko-KR" sz="3200" b="1" dirty="0"/>
              <a:t>Net Rating</a:t>
            </a:r>
          </a:p>
          <a:p>
            <a:pPr marL="342900" indent="-342900">
              <a:buAutoNum type="arabicPeriod"/>
            </a:pPr>
            <a:endParaRPr lang="en-US" altLang="ko-KR" sz="3200" b="1" dirty="0"/>
          </a:p>
          <a:p>
            <a:pPr marL="342900" indent="-342900">
              <a:buAutoNum type="arabicPeriod"/>
            </a:pPr>
            <a:r>
              <a:rPr lang="en-US" altLang="ko-KR" sz="3200" b="1" dirty="0"/>
              <a:t>Four Factors</a:t>
            </a:r>
            <a:endParaRPr lang="ko-KR" altLang="en-US" sz="3200" b="1" dirty="0"/>
          </a:p>
        </p:txBody>
      </p:sp>
      <p:pic>
        <p:nvPicPr>
          <p:cNvPr id="4" name="그림 3" descr="텍스트, 만화 영화, 클립아트, 소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42E78E-4801-EF1B-C9C7-E23770524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92" t="12253" r="19249" b="40540"/>
          <a:stretch>
            <a:fillRect/>
          </a:stretch>
        </p:blipFill>
        <p:spPr>
          <a:xfrm>
            <a:off x="7220946" y="936976"/>
            <a:ext cx="4449018" cy="54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31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7515F-86BD-7FF7-C956-073DC0D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053" y="198284"/>
            <a:ext cx="10954512" cy="795528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Possessions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BDFA76-A19C-E282-8ACE-702A1385D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44" y="1199895"/>
            <a:ext cx="10954512" cy="49560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000" dirty="0" err="1"/>
              <a:t>포제션이란</a:t>
            </a:r>
            <a:r>
              <a:rPr lang="en-US" altLang="ko-KR" sz="2000" b="1" dirty="0"/>
              <a:t>? : </a:t>
            </a:r>
            <a:r>
              <a:rPr lang="ko-KR" altLang="en-US" sz="2000" dirty="0"/>
              <a:t>한 팀의 공격 기회</a:t>
            </a:r>
            <a:r>
              <a:rPr lang="en-US" altLang="ko-KR" sz="2000" dirty="0"/>
              <a:t> </a:t>
            </a:r>
            <a:r>
              <a:rPr lang="ko-KR" altLang="en-US" sz="2000" dirty="0"/>
              <a:t>총 횟수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총 </a:t>
            </a:r>
            <a:r>
              <a:rPr lang="ko-KR" altLang="en-US" sz="2000" dirty="0" err="1"/>
              <a:t>포제션</a:t>
            </a:r>
            <a:r>
              <a:rPr lang="ko-KR" altLang="en-US" sz="2000" dirty="0"/>
              <a:t> 수 </a:t>
            </a:r>
            <a:r>
              <a:rPr lang="en-US" altLang="ko-KR" sz="2000" dirty="0"/>
              <a:t>= </a:t>
            </a:r>
            <a:r>
              <a:rPr lang="ko-KR" altLang="en-US" sz="2000" dirty="0" err="1"/>
              <a:t>필드골</a:t>
            </a:r>
            <a:r>
              <a:rPr lang="ko-KR" altLang="en-US" sz="2000" dirty="0"/>
              <a:t> 시도횟수 </a:t>
            </a:r>
            <a:r>
              <a:rPr lang="en-US" altLang="ko-KR" sz="2000" dirty="0"/>
              <a:t>+ 0.44 × </a:t>
            </a:r>
            <a:r>
              <a:rPr lang="ko-KR" altLang="en-US" sz="2000" dirty="0"/>
              <a:t>자유투 시도횟수</a:t>
            </a:r>
            <a:r>
              <a:rPr lang="en-US" altLang="ko-KR" sz="2000" dirty="0"/>
              <a:t> + </a:t>
            </a:r>
            <a:r>
              <a:rPr lang="ko-KR" altLang="en-US" sz="2000" dirty="0" err="1"/>
              <a:t>턴오버</a:t>
            </a:r>
            <a:r>
              <a:rPr lang="ko-KR" altLang="en-US" sz="2000" dirty="0"/>
              <a:t> 수</a:t>
            </a:r>
            <a:r>
              <a:rPr lang="en-US" altLang="ko-KR" sz="2000" dirty="0"/>
              <a:t> − Offensive Rebounds</a:t>
            </a:r>
          </a:p>
          <a:p>
            <a:pPr marL="0" indent="0">
              <a:buNone/>
            </a:pPr>
            <a:r>
              <a:rPr lang="ko-KR" altLang="en-US" sz="2000" dirty="0" err="1"/>
              <a:t>오펜스</a:t>
            </a:r>
            <a:r>
              <a:rPr lang="ko-KR" altLang="en-US" sz="2000" dirty="0"/>
              <a:t> 리바운드 빼는 이유는 한 </a:t>
            </a:r>
            <a:r>
              <a:rPr lang="ko-KR" altLang="en-US" sz="2000" dirty="0" err="1"/>
              <a:t>포제션이</a:t>
            </a:r>
            <a:r>
              <a:rPr lang="ko-KR" altLang="en-US" sz="2000" dirty="0"/>
              <a:t> 백코트에서 </a:t>
            </a:r>
            <a:r>
              <a:rPr lang="ko-KR" altLang="en-US" sz="2000" dirty="0" err="1"/>
              <a:t>프론트코트로</a:t>
            </a:r>
            <a:r>
              <a:rPr lang="ko-KR" altLang="en-US" sz="2000" dirty="0"/>
              <a:t> 넘어오는 것을 의미하기 때문</a:t>
            </a:r>
            <a:r>
              <a:rPr lang="en-US" altLang="ko-KR" sz="2000" dirty="0"/>
              <a:t>.</a:t>
            </a:r>
          </a:p>
          <a:p>
            <a:r>
              <a:rPr lang="ko-KR" altLang="en-US" sz="1600" dirty="0" err="1"/>
              <a:t>오펜스</a:t>
            </a:r>
            <a:r>
              <a:rPr lang="ko-KR" altLang="en-US" sz="1600" dirty="0"/>
              <a:t> 리바운드는 공격 횟수를 한번 더 늘린다는 점에서 </a:t>
            </a:r>
            <a:r>
              <a:rPr lang="ko-KR" altLang="en-US" sz="1600" dirty="0" err="1"/>
              <a:t>포제션과</a:t>
            </a:r>
            <a:r>
              <a:rPr lang="ko-KR" altLang="en-US" sz="1600" dirty="0"/>
              <a:t> 비슷한 수치이지만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프론트코트에서만</a:t>
            </a:r>
            <a:r>
              <a:rPr lang="ko-KR" altLang="en-US" sz="1600" dirty="0"/>
              <a:t> 이루어진다는 특징이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r>
              <a:rPr lang="ko-KR" altLang="ko-KR" sz="2000" dirty="0">
                <a:latin typeface="Arial" panose="020B0604020202020204" pitchFamily="34" charset="0"/>
              </a:rPr>
              <a:t>단순 득점이 아닌 </a:t>
            </a:r>
            <a:r>
              <a:rPr lang="ko-KR" altLang="ko-KR" sz="2000" dirty="0">
                <a:solidFill>
                  <a:srgbClr val="FF0000"/>
                </a:solidFill>
                <a:latin typeface="Arial" panose="020B0604020202020204" pitchFamily="34" charset="0"/>
              </a:rPr>
              <a:t>공격 기회 대비 효율</a:t>
            </a:r>
            <a:r>
              <a:rPr lang="ko-KR" altLang="ko-KR" sz="2000" dirty="0">
                <a:latin typeface="Arial" panose="020B0604020202020204" pitchFamily="34" charset="0"/>
              </a:rPr>
              <a:t>을</a:t>
            </a:r>
            <a:r>
              <a:rPr lang="ko-KR" altLang="ko-KR" sz="20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ko-KR" altLang="ko-KR" sz="2000" dirty="0">
                <a:latin typeface="Arial" panose="020B0604020202020204" pitchFamily="34" charset="0"/>
              </a:rPr>
              <a:t>측정하는 기준점</a:t>
            </a:r>
          </a:p>
          <a:p>
            <a:pPr marL="0" indent="0">
              <a:buNone/>
            </a:pPr>
            <a:r>
              <a:rPr lang="ko-KR" altLang="ko-KR" sz="2000" dirty="0">
                <a:latin typeface="Arial" panose="020B0604020202020204" pitchFamily="34" charset="0"/>
              </a:rPr>
              <a:t>팀의 공격 속도(</a:t>
            </a:r>
            <a:r>
              <a:rPr lang="ko-KR" altLang="ko-KR" sz="2000" dirty="0" err="1">
                <a:latin typeface="Arial" panose="020B0604020202020204" pitchFamily="34" charset="0"/>
              </a:rPr>
              <a:t>Pace</a:t>
            </a:r>
            <a:r>
              <a:rPr lang="ko-KR" altLang="ko-KR" sz="2000" dirty="0">
                <a:latin typeface="Arial" panose="020B0604020202020204" pitchFamily="34" charset="0"/>
              </a:rPr>
              <a:t>)</a:t>
            </a:r>
            <a:r>
              <a:rPr lang="ko-KR" altLang="ko-KR" sz="2000" dirty="0" err="1">
                <a:latin typeface="Arial" panose="020B0604020202020204" pitchFamily="34" charset="0"/>
              </a:rPr>
              <a:t>를</a:t>
            </a:r>
            <a:r>
              <a:rPr lang="ko-KR" altLang="ko-KR" sz="2000" dirty="0">
                <a:latin typeface="Arial" panose="020B0604020202020204" pitchFamily="34" charset="0"/>
              </a:rPr>
              <a:t> 파악하고 모든 효율성 지표의 분모가 됨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2000" b="1" dirty="0"/>
              <a:t>Pace</a:t>
            </a:r>
          </a:p>
          <a:p>
            <a:pPr>
              <a:buFontTx/>
              <a:buChar char="-"/>
            </a:pPr>
            <a:r>
              <a:rPr lang="en-US" altLang="ko-KR" sz="2000" dirty="0"/>
              <a:t>10</a:t>
            </a:r>
            <a:r>
              <a:rPr lang="ko-KR" altLang="en-US" sz="2000" dirty="0"/>
              <a:t>분 </a:t>
            </a:r>
            <a:r>
              <a:rPr lang="en-US" altLang="ko-KR" sz="2000" dirty="0"/>
              <a:t>4</a:t>
            </a:r>
            <a:r>
              <a:rPr lang="ko-KR" altLang="en-US" sz="2000" dirty="0"/>
              <a:t>쿼터 경기로 운영되는 </a:t>
            </a:r>
            <a:r>
              <a:rPr lang="en-US" altLang="ko-KR" sz="2000" dirty="0"/>
              <a:t>KBL </a:t>
            </a:r>
            <a:r>
              <a:rPr lang="ko-KR" altLang="en-US" sz="2000" dirty="0"/>
              <a:t>리그에서 한 팀이 몇번의 공격 기회를 가져가는지에 대한 지표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경기 페이스가 빠른 경기에서는 점수 차가 크게 벌어지더라도 역전 가능성이 조금 더 높게 나타날 수 있지만</a:t>
            </a:r>
            <a:r>
              <a:rPr lang="en-US" altLang="ko-KR" sz="2000" dirty="0"/>
              <a:t>, </a:t>
            </a:r>
            <a:r>
              <a:rPr lang="ko-KR" altLang="en-US" sz="2000" dirty="0"/>
              <a:t>페이스가 느린 경기에서는 적은 점수 차이도 역전하기 힘들 수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91339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6DC9B-6C21-8487-11B1-6AB5E402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Pace</a:t>
            </a:r>
            <a:endParaRPr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DCC0822-7986-0067-89E5-FAF1E113CD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8" y="1728215"/>
                <a:ext cx="9709912" cy="18379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b="1" dirty="0"/>
                  <a:t>Pace  = 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팀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총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포</m:t>
                        </m:r>
                        <m:r>
                          <a:rPr lang="ko-KR" altLang="en-US" sz="2400" b="1" i="0" smtClean="0">
                            <a:latin typeface="Cambria Math" panose="02040503050406030204" pitchFamily="18" charset="0"/>
                          </a:rPr>
                          <m:t>제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션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상</m:t>
                        </m:r>
                        <m:r>
                          <a:rPr lang="ko-KR" altLang="en-US" sz="2400" b="1" i="0" smtClean="0">
                            <a:latin typeface="Cambria Math" panose="02040503050406030204" pitchFamily="18" charset="0"/>
                          </a:rPr>
                          <m:t>대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팀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총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포</m:t>
                        </m:r>
                        <m:r>
                          <a:rPr lang="ko-KR" altLang="en-US" sz="2400" b="1" i="0" smtClean="0">
                            <a:latin typeface="Cambria Math" panose="02040503050406030204" pitchFamily="18" charset="0"/>
                          </a:rPr>
                          <m:t>제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</a:rPr>
                          <m:t>션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 )</m:t>
                        </m:r>
                      </m:num>
                      <m:den>
                        <m:r>
                          <a:rPr lang="en-US" altLang="ko-KR" sz="2400" b="1" i="0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ko-KR" sz="2400" b="1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f>
                      <m:f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𝟐𝟒𝟎𝟎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ko-KR" altLang="en-US" sz="2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총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경</m:t>
                        </m:r>
                        <m:r>
                          <a:rPr lang="ko-KR" altLang="en-US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기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시</m:t>
                        </m:r>
                        <m:r>
                          <a:rPr lang="ko-KR" altLang="en-US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간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sz="2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초</m:t>
                        </m:r>
                        <m:r>
                          <a:rPr lang="en-US" altLang="ko-KR" sz="2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ko-KR" sz="2400" b="1" dirty="0"/>
                  <a:t>)</a:t>
                </a:r>
                <a:endParaRPr lang="ko-KR" altLang="en-US" sz="2400" b="1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DCC0822-7986-0067-89E5-FAF1E113C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8" y="1728215"/>
                <a:ext cx="9709912" cy="1837945"/>
              </a:xfrm>
              <a:blipFill>
                <a:blip r:embed="rId2"/>
                <a:stretch>
                  <a:fillRect l="-10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5325E8-F3E9-3AE3-CE0C-827DAADB4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784128"/>
              </p:ext>
            </p:extLst>
          </p:nvPr>
        </p:nvGraphicFramePr>
        <p:xfrm>
          <a:off x="792480" y="3921759"/>
          <a:ext cx="8036670" cy="1828800"/>
        </p:xfrm>
        <a:graphic>
          <a:graphicData uri="http://schemas.openxmlformats.org/drawingml/2006/table">
            <a:tbl>
              <a:tblPr/>
              <a:tblGrid>
                <a:gridCol w="4018335">
                  <a:extLst>
                    <a:ext uri="{9D8B030D-6E8A-4147-A177-3AD203B41FA5}">
                      <a16:colId xmlns:a16="http://schemas.microsoft.com/office/drawing/2014/main" val="2986611559"/>
                    </a:ext>
                  </a:extLst>
                </a:gridCol>
                <a:gridCol w="4018335">
                  <a:extLst>
                    <a:ext uri="{9D8B030D-6E8A-4147-A177-3AD203B41FA5}">
                      <a16:colId xmlns:a16="http://schemas.microsoft.com/office/drawing/2014/main" val="2845264447"/>
                    </a:ext>
                  </a:extLst>
                </a:gridCol>
              </a:tblGrid>
              <a:tr h="229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effectLst/>
                          <a:latin typeface="Google Sans Text"/>
                        </a:rPr>
                        <a:t>시즌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>
                          <a:effectLst/>
                          <a:latin typeface="Google Sans Text"/>
                        </a:rPr>
                        <a:t>한 팀당 평균 포제션 </a:t>
                      </a:r>
                      <a:r>
                        <a:rPr lang="en-US" altLang="ko-KR" b="1">
                          <a:effectLst/>
                          <a:latin typeface="Google Sans Text"/>
                        </a:rPr>
                        <a:t>(Pace)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681186"/>
                  </a:ext>
                </a:extLst>
              </a:tr>
              <a:tr h="229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>
                          <a:effectLst/>
                          <a:latin typeface="Google Sans Text"/>
                        </a:rPr>
                        <a:t>2024-2025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  <a:latin typeface="Google Sans Text"/>
                        </a:rPr>
                        <a:t>약 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73.5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404362"/>
                  </a:ext>
                </a:extLst>
              </a:tr>
              <a:tr h="229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>
                          <a:effectLst/>
                          <a:latin typeface="Google Sans Text"/>
                        </a:rPr>
                        <a:t>2023-2024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  <a:latin typeface="Google Sans Text"/>
                        </a:rPr>
                        <a:t>약 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73.8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597993"/>
                  </a:ext>
                </a:extLst>
              </a:tr>
              <a:tr h="229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>
                          <a:effectLst/>
                          <a:latin typeface="Google Sans Text"/>
                        </a:rPr>
                        <a:t>2022-2023</a:t>
                      </a:r>
                      <a:endParaRPr lang="ko-KR" altLang="en-US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effectLst/>
                          <a:latin typeface="Google Sans Text"/>
                        </a:rPr>
                        <a:t>약 </a:t>
                      </a:r>
                      <a:r>
                        <a:rPr lang="en-US" altLang="ko-KR">
                          <a:effectLst/>
                          <a:latin typeface="Google Sans Text"/>
                        </a:rPr>
                        <a:t>74.2</a:t>
                      </a:r>
                      <a:r>
                        <a:rPr lang="ko-KR" altLang="en-US">
                          <a:effectLst/>
                          <a:latin typeface="Google Sans Text"/>
                        </a:rPr>
                        <a:t>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803734"/>
                  </a:ext>
                </a:extLst>
              </a:tr>
              <a:tr h="229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>
                          <a:effectLst/>
                          <a:latin typeface="Google Sans Text"/>
                        </a:rPr>
                        <a:t>2021-2022</a:t>
                      </a:r>
                      <a:endParaRPr lang="ko-KR" altLang="en-US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effectLst/>
                          <a:latin typeface="Google Sans Text"/>
                        </a:rPr>
                        <a:t>약 </a:t>
                      </a:r>
                      <a:r>
                        <a:rPr lang="en-US" altLang="ko-KR" dirty="0">
                          <a:effectLst/>
                          <a:latin typeface="Google Sans Text"/>
                        </a:rPr>
                        <a:t>74.0</a:t>
                      </a:r>
                      <a:r>
                        <a:rPr lang="ko-KR" altLang="en-US" dirty="0">
                          <a:effectLst/>
                          <a:latin typeface="Google Sans Text"/>
                        </a:rPr>
                        <a:t>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598675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B3D5A126-AB32-3819-529E-590EE38E8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877" y="3688954"/>
            <a:ext cx="8945162" cy="232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497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73D9F3-4832-14CC-E718-5B497021E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8" y="247650"/>
            <a:ext cx="10954512" cy="795528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Net Rating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CB4C47-FAD9-86AC-7A6A-C849C421D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148" y="1266698"/>
            <a:ext cx="10954512" cy="52478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000" dirty="0"/>
              <a:t>넷 </a:t>
            </a:r>
            <a:r>
              <a:rPr lang="ko-KR" altLang="en-US" sz="2000" dirty="0" err="1"/>
              <a:t>레이팅이란</a:t>
            </a:r>
            <a:r>
              <a:rPr lang="en-US" altLang="ko-KR" sz="2000" dirty="0"/>
              <a:t>? 100</a:t>
            </a:r>
            <a:r>
              <a:rPr lang="ko-KR" altLang="en-US" sz="2000" dirty="0"/>
              <a:t>번의 공수교환에서 상대보다 </a:t>
            </a:r>
            <a:r>
              <a:rPr lang="ko-KR" altLang="en-US" sz="2000" dirty="0" err="1"/>
              <a:t>몇점의</a:t>
            </a:r>
            <a:r>
              <a:rPr lang="ko-KR" altLang="en-US" sz="2000" dirty="0"/>
              <a:t> 점수를 더 얻거나 잃었는지를 보여주는 지표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넷 </a:t>
            </a:r>
            <a:r>
              <a:rPr lang="ko-KR" altLang="en-US" sz="2000" dirty="0" err="1"/>
              <a:t>레이팅은</a:t>
            </a:r>
            <a:r>
              <a:rPr lang="ko-KR" altLang="en-US" sz="2000" dirty="0"/>
              <a:t> 경기를 하고 있거나</a:t>
            </a:r>
            <a:r>
              <a:rPr lang="en-US" altLang="ko-KR" sz="2000" dirty="0"/>
              <a:t>, </a:t>
            </a:r>
            <a:r>
              <a:rPr lang="ko-KR" altLang="en-US" sz="2000" dirty="0"/>
              <a:t>경기기록이 있는 팀에 대한 상대적 지표이다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경기가 진행 중인 두 팀의 실시간 넷 </a:t>
            </a:r>
            <a:r>
              <a:rPr lang="ko-KR" altLang="en-US" sz="2000" dirty="0" err="1"/>
              <a:t>레이팅을</a:t>
            </a:r>
            <a:r>
              <a:rPr lang="ko-KR" altLang="en-US" sz="2000" dirty="0"/>
              <a:t> 계산해보면 지고 있는 팀의 넷 </a:t>
            </a:r>
            <a:r>
              <a:rPr lang="ko-KR" altLang="en-US" sz="2000" dirty="0" err="1"/>
              <a:t>레이팅이</a:t>
            </a:r>
            <a:r>
              <a:rPr lang="ko-KR" altLang="en-US" sz="2000" dirty="0"/>
              <a:t> 더 높을 수도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이 경우에는 대부분 두 팀의 점수 차가 크지 않다</a:t>
            </a:r>
            <a:r>
              <a:rPr lang="en-US" altLang="ko-KR" sz="2000" dirty="0"/>
              <a:t>. </a:t>
            </a:r>
            <a:r>
              <a:rPr lang="ko-KR" altLang="en-US" sz="2000" dirty="0"/>
              <a:t>이때</a:t>
            </a:r>
            <a:r>
              <a:rPr lang="en-US" altLang="ko-KR" sz="2000" dirty="0"/>
              <a:t>, </a:t>
            </a:r>
            <a:r>
              <a:rPr lang="ko-KR" altLang="en-US" sz="2000" dirty="0"/>
              <a:t>지고 있는 팀은 이기고 있는 팀보다 </a:t>
            </a:r>
            <a:r>
              <a:rPr lang="ko-KR" altLang="en-US" sz="2000" dirty="0" err="1"/>
              <a:t>야투성공</a:t>
            </a:r>
            <a:r>
              <a:rPr lang="ko-KR" altLang="en-US" sz="2000" dirty="0"/>
              <a:t> 횟수가 적지만</a:t>
            </a:r>
            <a:r>
              <a:rPr lang="en-US" altLang="ko-KR" sz="2000" dirty="0"/>
              <a:t> </a:t>
            </a:r>
            <a:r>
              <a:rPr lang="ko-KR" altLang="en-US" sz="2000" dirty="0"/>
              <a:t>효율성이 높은 농구를 하고 있다고 볼 수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ko-KR" altLang="en-US" sz="2000" dirty="0"/>
              <a:t>넷 </a:t>
            </a:r>
            <a:r>
              <a:rPr lang="ko-KR" altLang="en-US" sz="2000" dirty="0" err="1"/>
              <a:t>레이팅은</a:t>
            </a:r>
            <a:r>
              <a:rPr lang="ko-KR" altLang="en-US" sz="2000" dirty="0"/>
              <a:t> 현재 점수 차에 숨겨진 경기의 </a:t>
            </a:r>
            <a:r>
              <a:rPr lang="ko-KR" altLang="en-US" sz="2000" dirty="0">
                <a:solidFill>
                  <a:srgbClr val="FF0000"/>
                </a:solidFill>
              </a:rPr>
              <a:t>본질적인 효율성</a:t>
            </a:r>
            <a:r>
              <a:rPr lang="ko-KR" altLang="en-US" sz="2000" dirty="0"/>
              <a:t>을</a:t>
            </a:r>
            <a:r>
              <a:rPr lang="ko-KR" altLang="en-US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/>
              <a:t>보여주는 지표이다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400" b="1" dirty="0"/>
              <a:t>Net Rating = Offensive Rating – Defensive Rating</a:t>
            </a:r>
          </a:p>
          <a:p>
            <a:pPr marL="0" indent="0">
              <a:buNone/>
            </a:pPr>
            <a:r>
              <a:rPr lang="en-US" altLang="ko-KR" sz="2400" b="1" dirty="0"/>
              <a:t>  Offensive Rating = (</a:t>
            </a:r>
            <a:r>
              <a:rPr lang="ko-KR" altLang="en-US" sz="2400" b="1" dirty="0"/>
              <a:t>총 득점  </a:t>
            </a:r>
            <a:r>
              <a:rPr lang="en-US" altLang="ko-KR" sz="2400" b="1" dirty="0"/>
              <a:t>/  </a:t>
            </a:r>
            <a:r>
              <a:rPr lang="ko-KR" altLang="en-US" sz="2400" b="1" dirty="0"/>
              <a:t>총 </a:t>
            </a:r>
            <a:r>
              <a:rPr lang="ko-KR" altLang="en-US" sz="2400" b="1" dirty="0" err="1"/>
              <a:t>포제션</a:t>
            </a:r>
            <a:r>
              <a:rPr lang="ko-KR" altLang="en-US" sz="2400" b="1" dirty="0"/>
              <a:t> 수</a:t>
            </a:r>
            <a:r>
              <a:rPr lang="en-US" altLang="ko-KR" sz="2400" b="1" dirty="0"/>
              <a:t>) * 100</a:t>
            </a:r>
          </a:p>
          <a:p>
            <a:pPr marL="0" indent="0">
              <a:buNone/>
            </a:pPr>
            <a:r>
              <a:rPr lang="en-US" altLang="ko-KR" sz="2400" b="1" dirty="0"/>
              <a:t>  Defensive Rating = (</a:t>
            </a:r>
            <a:r>
              <a:rPr lang="ko-KR" altLang="en-US" sz="2400" b="1" dirty="0"/>
              <a:t>상대 팀 총 득점  </a:t>
            </a:r>
            <a:r>
              <a:rPr lang="en-US" altLang="ko-KR" sz="2400" b="1" dirty="0"/>
              <a:t>/  </a:t>
            </a:r>
            <a:r>
              <a:rPr lang="ko-KR" altLang="en-US" sz="2400" b="1" dirty="0"/>
              <a:t>총 </a:t>
            </a:r>
            <a:r>
              <a:rPr lang="ko-KR" altLang="en-US" sz="2400" b="1" dirty="0" err="1"/>
              <a:t>포제션</a:t>
            </a:r>
            <a:r>
              <a:rPr lang="ko-KR" altLang="en-US" sz="2400" b="1" dirty="0"/>
              <a:t> 수</a:t>
            </a:r>
            <a:r>
              <a:rPr lang="en-US" altLang="ko-KR" sz="2400" b="1" dirty="0"/>
              <a:t>) * 100 </a:t>
            </a:r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118921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4FC333-9771-5169-FA6B-B3B0D191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계산기이(가) 표시된 사진">
            <a:extLst>
              <a:ext uri="{FF2B5EF4-FFF2-40B4-BE49-F238E27FC236}">
                <a16:creationId xmlns:a16="http://schemas.microsoft.com/office/drawing/2014/main" id="{96F849CE-4376-8ACC-FD6E-22A29E20DF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43" t="24741" r="6212"/>
          <a:stretch>
            <a:fillRect/>
          </a:stretch>
        </p:blipFill>
        <p:spPr>
          <a:xfrm>
            <a:off x="5353050" y="948340"/>
            <a:ext cx="6838950" cy="53701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1005D31-4BD4-7DAE-0056-0FCCA265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183" y="566927"/>
            <a:ext cx="10954512" cy="795528"/>
          </a:xfrm>
        </p:spPr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sz="4400" dirty="0"/>
              <a:t>Four Factors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0BAB14-F11B-B433-3AF8-D8C8FBDD7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171" y="1362455"/>
            <a:ext cx="10954512" cy="495604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2000" dirty="0"/>
              <a:t>- </a:t>
            </a:r>
            <a:r>
              <a:rPr lang="ko-KR" altLang="en-US" sz="2000" dirty="0" err="1"/>
              <a:t>승패에</a:t>
            </a:r>
            <a:r>
              <a:rPr lang="ko-KR" altLang="en-US" sz="2000" dirty="0"/>
              <a:t> 가장 큰 영향을 미치는 </a:t>
            </a:r>
            <a:r>
              <a:rPr lang="en-US" altLang="ko-KR" sz="2000" dirty="0"/>
              <a:t>4</a:t>
            </a:r>
            <a:r>
              <a:rPr lang="ko-KR" altLang="en-US" sz="2000" dirty="0"/>
              <a:t>가지 요소를 의미한다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 err="1"/>
              <a:t>eFG</a:t>
            </a:r>
            <a:r>
              <a:rPr lang="en-US" altLang="ko-KR" sz="2000" dirty="0"/>
              <a:t>%   </a:t>
            </a:r>
            <a:r>
              <a:rPr lang="ko-KR" altLang="en-US" sz="2000" dirty="0"/>
              <a:t>유효 </a:t>
            </a:r>
            <a:r>
              <a:rPr lang="ko-KR" altLang="en-US" sz="2000" dirty="0" err="1"/>
              <a:t>필드골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성공율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(3</a:t>
            </a:r>
            <a:r>
              <a:rPr lang="ko-KR" altLang="en-US" sz="2000" dirty="0"/>
              <a:t>점 슛 가치 포함</a:t>
            </a:r>
            <a:r>
              <a:rPr lang="en-US" altLang="ko-KR" sz="2000" dirty="0"/>
              <a:t>, </a:t>
            </a:r>
            <a:r>
              <a:rPr lang="ko-KR" altLang="en-US" sz="2000" dirty="0"/>
              <a:t>자유투 미포함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br>
              <a:rPr lang="en-US" altLang="ko-KR" sz="2000" dirty="0"/>
            </a:br>
            <a:r>
              <a:rPr lang="en-US" altLang="ko-KR" sz="2000" dirty="0"/>
              <a:t> TOV%   </a:t>
            </a:r>
            <a:r>
              <a:rPr lang="ko-KR" altLang="en-US" sz="2000" dirty="0" err="1"/>
              <a:t>턴오버</a:t>
            </a:r>
            <a:r>
              <a:rPr lang="ko-KR" altLang="en-US" sz="2000" dirty="0"/>
              <a:t> 비율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</a:t>
            </a:r>
            <a:r>
              <a:rPr lang="ko-KR" altLang="en-US" sz="2000" dirty="0"/>
              <a:t>전체 공격 대비 턴오버의 횟수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br>
              <a:rPr lang="en-US" altLang="ko-KR" sz="2000" dirty="0"/>
            </a:br>
            <a:r>
              <a:rPr lang="en-US" altLang="ko-KR" sz="2000" dirty="0"/>
              <a:t> OREB%   </a:t>
            </a:r>
            <a:r>
              <a:rPr lang="ko-KR" altLang="en-US" sz="2000" dirty="0" err="1"/>
              <a:t>공격리바운드</a:t>
            </a:r>
            <a:r>
              <a:rPr lang="ko-KR" altLang="en-US" sz="2000" dirty="0"/>
              <a:t> 비율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</a:t>
            </a:r>
            <a:r>
              <a:rPr lang="ko-KR" altLang="en-US" sz="2000" dirty="0"/>
              <a:t>슛 실패 이후 공격 리바운드 잡아서 다시 공격권 가져오는 비율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FT Rate    </a:t>
            </a:r>
            <a:r>
              <a:rPr lang="ko-KR" altLang="en-US" sz="2000" dirty="0"/>
              <a:t>자유투 얻는 비율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(</a:t>
            </a:r>
            <a:r>
              <a:rPr lang="ko-KR" altLang="en-US" sz="2000" dirty="0" err="1"/>
              <a:t>야투</a:t>
            </a:r>
            <a:r>
              <a:rPr lang="ko-KR" altLang="en-US" sz="2000" dirty="0"/>
              <a:t> 시도 시에 자유투를 얼마나 얻었는가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0405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도표이(가) 표시된 사진">
            <a:extLst>
              <a:ext uri="{FF2B5EF4-FFF2-40B4-BE49-F238E27FC236}">
                <a16:creationId xmlns:a16="http://schemas.microsoft.com/office/drawing/2014/main" id="{35CBB8DC-F8A1-E18A-6489-35492EEE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55"/>
          <a:stretch>
            <a:fillRect/>
          </a:stretch>
        </p:blipFill>
        <p:spPr>
          <a:xfrm>
            <a:off x="6882581" y="0"/>
            <a:ext cx="5309419" cy="671708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AC8D63C-8C3B-65BC-B8E3-67C6F1795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75" y="225281"/>
            <a:ext cx="10954512" cy="1165643"/>
          </a:xfrm>
        </p:spPr>
        <p:txBody>
          <a:bodyPr>
            <a:normAutofit fontScale="90000"/>
          </a:bodyPr>
          <a:lstStyle/>
          <a:p>
            <a:r>
              <a:rPr lang="ko-KR" altLang="en-US" sz="4000" dirty="0"/>
              <a:t>승률에 영향을 주는 변수들의</a:t>
            </a:r>
            <a:br>
              <a:rPr lang="en-US" altLang="ko-KR" sz="4000" dirty="0"/>
            </a:br>
            <a:r>
              <a:rPr lang="ko-KR" altLang="en-US" sz="4000" dirty="0"/>
              <a:t>상관관계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33391F-4E54-76A3-5C92-854381C5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660" y="1575982"/>
            <a:ext cx="10954512" cy="4956047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altLang="ko-KR" sz="3200" b="1" dirty="0"/>
              <a:t>Heatmap</a:t>
            </a:r>
          </a:p>
          <a:p>
            <a:pPr marL="0" indent="0">
              <a:buNone/>
            </a:pPr>
            <a:r>
              <a:rPr lang="ko-KR" altLang="en-US" sz="2000" dirty="0" err="1"/>
              <a:t>히트맵은</a:t>
            </a:r>
            <a:r>
              <a:rPr lang="ko-KR" altLang="en-US" sz="2000" dirty="0"/>
              <a:t> 데이터를 색상의 강도</a:t>
            </a:r>
            <a:r>
              <a:rPr lang="en-US" altLang="ko-KR" sz="2000" dirty="0"/>
              <a:t>(Intensity)</a:t>
            </a:r>
            <a:r>
              <a:rPr lang="ko-KR" altLang="en-US" sz="2000" dirty="0"/>
              <a:t>나 색조</a:t>
            </a:r>
            <a:r>
              <a:rPr lang="en-US" altLang="ko-KR" sz="2000" dirty="0"/>
              <a:t>(Hue)</a:t>
            </a:r>
            <a:r>
              <a:rPr lang="ko-KR" altLang="en-US" sz="2000" dirty="0"/>
              <a:t>로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표현하여 </a:t>
            </a:r>
            <a:r>
              <a:rPr lang="ko-KR" altLang="en-US" sz="2000" dirty="0" err="1"/>
              <a:t>시각화하는</a:t>
            </a:r>
            <a:r>
              <a:rPr lang="ko-KR" altLang="en-US" sz="2000" dirty="0"/>
              <a:t> 방법입니다</a:t>
            </a:r>
            <a:r>
              <a:rPr lang="en-US" altLang="ko-KR" sz="2000" dirty="0"/>
              <a:t>. </a:t>
            </a:r>
            <a:r>
              <a:rPr lang="ko-KR" altLang="en-US" sz="2000" dirty="0"/>
              <a:t>주로 </a:t>
            </a:r>
            <a:r>
              <a:rPr lang="en-US" altLang="ko-KR" sz="2000" dirty="0"/>
              <a:t>2</a:t>
            </a:r>
            <a:r>
              <a:rPr lang="ko-KR" altLang="en-US" sz="2000" dirty="0"/>
              <a:t>차원 데이터를 표현할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때 사용되며</a:t>
            </a:r>
            <a:r>
              <a:rPr lang="en-US" altLang="ko-KR" sz="2000" dirty="0"/>
              <a:t>, </a:t>
            </a:r>
            <a:r>
              <a:rPr lang="ko-KR" altLang="en-US" sz="2000" dirty="0"/>
              <a:t>데이터의 밀도</a:t>
            </a:r>
            <a:r>
              <a:rPr lang="en-US" altLang="ko-KR" sz="2000" dirty="0"/>
              <a:t>, </a:t>
            </a:r>
            <a:r>
              <a:rPr lang="ko-KR" altLang="en-US" sz="2000" dirty="0"/>
              <a:t>분포</a:t>
            </a:r>
            <a:r>
              <a:rPr lang="en-US" altLang="ko-KR" sz="2000" dirty="0"/>
              <a:t>, </a:t>
            </a:r>
            <a:r>
              <a:rPr lang="ko-KR" altLang="en-US" sz="2000" dirty="0"/>
              <a:t>관계 등을 한눈에 파악하기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용이합니다</a:t>
            </a:r>
            <a:r>
              <a:rPr lang="en-US" altLang="ko-KR" sz="2000" dirty="0"/>
              <a:t>.</a:t>
            </a:r>
            <a:endParaRPr lang="en-US" altLang="ko-KR" sz="2000" b="1" dirty="0"/>
          </a:p>
          <a:p>
            <a:pPr marL="0" indent="0">
              <a:buNone/>
            </a:pPr>
            <a:endParaRPr lang="en-US" altLang="ko-KR" sz="2000" b="1" dirty="0"/>
          </a:p>
          <a:p>
            <a:pPr marL="0" indent="0">
              <a:buNone/>
            </a:pPr>
            <a:r>
              <a:rPr lang="en-US" altLang="ko-KR" sz="3200" b="1" dirty="0"/>
              <a:t>2.Bar graph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2F93E1-613A-468F-4CCC-61EAEB334046}"/>
              </a:ext>
            </a:extLst>
          </p:cNvPr>
          <p:cNvSpPr txBox="1"/>
          <p:nvPr/>
        </p:nvSpPr>
        <p:spPr>
          <a:xfrm>
            <a:off x="7249885" y="4088701"/>
            <a:ext cx="3113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Heatmap example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823155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라인, 스크린샷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35842E-BC63-5CE6-C946-0D66CB2123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5" b="1779"/>
          <a:stretch>
            <a:fillRect/>
          </a:stretch>
        </p:blipFill>
        <p:spPr>
          <a:xfrm>
            <a:off x="20" y="0"/>
            <a:ext cx="7718941" cy="6857999"/>
          </a:xfrm>
          <a:prstGeom prst="rect">
            <a:avLst/>
          </a:prstGeom>
          <a:noFill/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38C3C54-E8E3-B79F-DB57-AC1511888260}"/>
              </a:ext>
            </a:extLst>
          </p:cNvPr>
          <p:cNvSpPr txBox="1">
            <a:spLocks/>
          </p:cNvSpPr>
          <p:nvPr/>
        </p:nvSpPr>
        <p:spPr>
          <a:xfrm>
            <a:off x="8372420" y="898506"/>
            <a:ext cx="3401567" cy="194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3"/>
                </a:solidFill>
              </a:rPr>
              <a:t>학습에 사용된 </a:t>
            </a:r>
            <a:endParaRPr lang="en-US" altLang="ko-KR" dirty="0">
              <a:solidFill>
                <a:schemeClr val="accent3"/>
              </a:solidFill>
            </a:endParaRPr>
          </a:p>
          <a:p>
            <a:r>
              <a:rPr lang="ko-KR" altLang="en-US" dirty="0">
                <a:solidFill>
                  <a:schemeClr val="accent3"/>
                </a:solidFill>
              </a:rPr>
              <a:t>전체 변수들의 상관관계</a:t>
            </a:r>
          </a:p>
        </p:txBody>
      </p:sp>
    </p:spTree>
    <p:extLst>
      <p:ext uri="{BB962C8B-B14F-4D97-AF65-F5344CB8AC3E}">
        <p14:creationId xmlns:p14="http://schemas.microsoft.com/office/powerpoint/2010/main" val="500596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개체 틀 5" descr="텍스트, 패턴, 스크린샷, 사각형이(가) 표시된 사진">
            <a:extLst>
              <a:ext uri="{FF2B5EF4-FFF2-40B4-BE49-F238E27FC236}">
                <a16:creationId xmlns:a16="http://schemas.microsoft.com/office/drawing/2014/main" id="{0A79BCBB-0D4F-AA9B-A98F-03756A20F53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514" t="2699" r="514"/>
          <a:stretch>
            <a:fillRect/>
          </a:stretch>
        </p:blipFill>
        <p:spPr>
          <a:xfrm>
            <a:off x="0" y="0"/>
            <a:ext cx="7513362" cy="6857849"/>
          </a:xfr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8B5CF030-1382-8A74-D082-2948B1799F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13362" y="122490"/>
                <a:ext cx="4473039" cy="1197864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ko-KR" sz="2000" b="1" dirty="0"/>
                  <a:t>‘Winner’</a:t>
                </a:r>
                <a:r>
                  <a:rPr lang="ko-KR" altLang="en-US" sz="2000" b="1" dirty="0"/>
                  <a:t>와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altLang="ko-KR" sz="2000" b="1" dirty="0"/>
                  <a:t> &gt; 0.2</a:t>
                </a:r>
                <a:r>
                  <a:rPr lang="ko-KR" altLang="en-US" sz="2000" b="1" dirty="0"/>
                  <a:t> 변수들 간 </a:t>
                </a:r>
                <a:r>
                  <a:rPr lang="en-US" altLang="ko-KR" sz="2000" b="1" dirty="0"/>
                  <a:t>Heatmap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7" name="Subtitle 2">
                <a:extLst>
                  <a:ext uri="{FF2B5EF4-FFF2-40B4-BE49-F238E27FC236}">
                    <a16:creationId xmlns:a16="http://schemas.microsoft.com/office/drawing/2014/main" id="{8B5CF030-1382-8A74-D082-2948B1799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362" y="122490"/>
                <a:ext cx="4473039" cy="1197864"/>
              </a:xfrm>
              <a:prstGeom prst="rect">
                <a:avLst/>
              </a:prstGeom>
              <a:blipFill>
                <a:blip r:embed="rId3"/>
                <a:stretch>
                  <a:fillRect l="-1501" t="-508" r="-12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itle 1">
            <a:extLst>
              <a:ext uri="{FF2B5EF4-FFF2-40B4-BE49-F238E27FC236}">
                <a16:creationId xmlns:a16="http://schemas.microsoft.com/office/drawing/2014/main" id="{2F0A4034-A0D8-7ABD-9C5A-B68844069357}"/>
              </a:ext>
            </a:extLst>
          </p:cNvPr>
          <p:cNvSpPr txBox="1">
            <a:spLocks/>
          </p:cNvSpPr>
          <p:nvPr/>
        </p:nvSpPr>
        <p:spPr>
          <a:xfrm>
            <a:off x="8415963" y="1320354"/>
            <a:ext cx="3570438" cy="194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3"/>
                </a:solidFill>
              </a:rPr>
              <a:t>학습에 사용된 </a:t>
            </a:r>
            <a:endParaRPr lang="en-US" altLang="ko-KR" dirty="0">
              <a:solidFill>
                <a:schemeClr val="accent3"/>
              </a:solidFill>
            </a:endParaRPr>
          </a:p>
          <a:p>
            <a:r>
              <a:rPr lang="ko-KR" altLang="en-US" dirty="0">
                <a:solidFill>
                  <a:schemeClr val="accent3"/>
                </a:solidFill>
              </a:rPr>
              <a:t>주요 변수들 간 상관관계</a:t>
            </a:r>
            <a:endParaRPr lang="en-US" altLang="ko-KR" dirty="0">
              <a:solidFill>
                <a:schemeClr val="accent3"/>
              </a:solidFill>
            </a:endParaRPr>
          </a:p>
          <a:p>
            <a:endParaRPr lang="ko-KR" alt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873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>
            <a:extLst>
              <a:ext uri="{FF2B5EF4-FFF2-40B4-BE49-F238E27FC236}">
                <a16:creationId xmlns:a16="http://schemas.microsoft.com/office/drawing/2014/main" id="{5EA4B0C5-3366-5FB5-7F7D-0C75683D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2536" y="-231648"/>
            <a:ext cx="5138927" cy="1581912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solidFill>
                  <a:schemeClr val="accent3"/>
                </a:solidFill>
              </a:rPr>
              <a:t>Bar graph</a:t>
            </a:r>
            <a:endParaRPr lang="en-US" sz="4000" dirty="0">
              <a:solidFill>
                <a:schemeClr val="accent3"/>
              </a:solidFill>
            </a:endParaRPr>
          </a:p>
        </p:txBody>
      </p:sp>
      <p:pic>
        <p:nvPicPr>
          <p:cNvPr id="6" name="그림 5" descr="텍스트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FDCD04-F3B3-7A3D-3E13-6B7E1896E1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9" b="2222"/>
          <a:stretch>
            <a:fillRect/>
          </a:stretch>
        </p:blipFill>
        <p:spPr>
          <a:xfrm>
            <a:off x="562789" y="0"/>
            <a:ext cx="4526283" cy="6858000"/>
          </a:xfrm>
          <a:prstGeom prst="rect">
            <a:avLst/>
          </a:prstGeom>
          <a:noFill/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2EB9C85-E40D-265A-649A-C5F806E7740D}"/>
              </a:ext>
            </a:extLst>
          </p:cNvPr>
          <p:cNvSpPr txBox="1">
            <a:spLocks/>
          </p:cNvSpPr>
          <p:nvPr/>
        </p:nvSpPr>
        <p:spPr>
          <a:xfrm>
            <a:off x="5241471" y="6346154"/>
            <a:ext cx="5291487" cy="11978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상관계수 </a:t>
            </a:r>
            <a:r>
              <a:rPr lang="en-US" altLang="ko-KR" sz="2000" b="1" dirty="0"/>
              <a:t>(Correlation)</a:t>
            </a:r>
            <a:endParaRPr lang="en-US" sz="2000" b="1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84B2428-DC0A-E769-43C2-4712E11331F0}"/>
              </a:ext>
            </a:extLst>
          </p:cNvPr>
          <p:cNvSpPr txBox="1">
            <a:spLocks/>
          </p:cNvSpPr>
          <p:nvPr/>
        </p:nvSpPr>
        <p:spPr>
          <a:xfrm>
            <a:off x="5241472" y="152400"/>
            <a:ext cx="5291487" cy="11978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/>
              <a:t>‘Winner’</a:t>
            </a:r>
            <a:r>
              <a:rPr lang="ko-KR" altLang="en-US" sz="2000" b="1" dirty="0"/>
              <a:t>와 변수와의 상관관계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509901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27C8A-F43C-5368-9566-50011BBDD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96" y="398207"/>
            <a:ext cx="10954512" cy="79552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모델 개발 및 시스템 구축</a:t>
            </a:r>
            <a:r>
              <a:rPr lang="en-US" altLang="ko-KR" sz="4000" dirty="0"/>
              <a:t> </a:t>
            </a:r>
            <a:r>
              <a:rPr lang="ko-KR" altLang="en-US" sz="4000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A425D1-34B5-F14D-D078-1860B9E0E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744" y="1901953"/>
            <a:ext cx="10954512" cy="4956047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SoftMax </a:t>
            </a:r>
            <a:r>
              <a:rPr lang="ko-KR" altLang="en-US" sz="2800" dirty="0"/>
              <a:t>함수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MLP </a:t>
            </a:r>
          </a:p>
          <a:p>
            <a:endParaRPr lang="en-US" altLang="ko-KR" sz="2800" dirty="0"/>
          </a:p>
          <a:p>
            <a:r>
              <a:rPr lang="ko-KR" altLang="en-US" sz="2800" dirty="0"/>
              <a:t>학습 파라미터 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모델 </a:t>
            </a:r>
            <a:r>
              <a:rPr lang="ko-KR" altLang="en-US" sz="2800" dirty="0" err="1"/>
              <a:t>아키텍쳐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57038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16743-D261-E79A-194B-B23AE090B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17871"/>
            <a:ext cx="10954512" cy="795528"/>
          </a:xfrm>
        </p:spPr>
        <p:txBody>
          <a:bodyPr>
            <a:normAutofit/>
          </a:bodyPr>
          <a:lstStyle/>
          <a:p>
            <a:r>
              <a:rPr kumimoji="1" lang="en-US" altLang="ko-KR" sz="4000" dirty="0" err="1"/>
              <a:t>Softmax</a:t>
            </a:r>
            <a:r>
              <a:rPr kumimoji="1" lang="en-US" altLang="ko-KR" sz="4000" dirty="0"/>
              <a:t> </a:t>
            </a:r>
            <a:r>
              <a:rPr kumimoji="1" lang="ko-KR" altLang="en-US" sz="4000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995273-6A76-B792-5DA8-8EEB1D7F8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484082"/>
            <a:ext cx="10954512" cy="4956047"/>
          </a:xfrm>
        </p:spPr>
        <p:txBody>
          <a:bodyPr>
            <a:normAutofit/>
          </a:bodyPr>
          <a:lstStyle/>
          <a:p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함수는 주어진 벡터를 </a:t>
            </a:r>
            <a:r>
              <a:rPr kumimoji="1" lang="ko-KR" altLang="en-US" sz="2000" dirty="0" err="1"/>
              <a:t>입력값으로</a:t>
            </a:r>
            <a:r>
              <a:rPr kumimoji="1" lang="ko-KR" altLang="en-US" sz="2000" dirty="0"/>
              <a:t> 받아 각 원소가 </a:t>
            </a:r>
            <a:r>
              <a:rPr kumimoji="1" lang="en-US" altLang="ko-KR" sz="2000" dirty="0"/>
              <a:t>0</a:t>
            </a:r>
            <a:r>
              <a:rPr kumimoji="1" lang="ko-KR" altLang="en-US" sz="2000" dirty="0"/>
              <a:t>과 </a:t>
            </a:r>
            <a:r>
              <a:rPr kumimoji="1" lang="en-US" altLang="ko-KR" sz="2000" dirty="0"/>
              <a:t>1 </a:t>
            </a:r>
            <a:r>
              <a:rPr kumimoji="1" lang="ko-KR" altLang="en-US" sz="2000" dirty="0"/>
              <a:t>사이의 </a:t>
            </a:r>
            <a:r>
              <a:rPr kumimoji="1" lang="ko-KR" altLang="en-US" sz="2000" dirty="0" err="1"/>
              <a:t>실수값을</a:t>
            </a:r>
            <a:r>
              <a:rPr kumimoji="1" lang="ko-KR" altLang="en-US" sz="2000" dirty="0"/>
              <a:t> 가지며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모든 원소의 합이 </a:t>
            </a:r>
            <a:r>
              <a:rPr kumimoji="1" lang="en-US" altLang="ko-KR" sz="2000" dirty="0"/>
              <a:t>1</a:t>
            </a:r>
            <a:r>
              <a:rPr kumimoji="1" lang="ko-KR" altLang="en-US" sz="2000" dirty="0"/>
              <a:t>이 되도록 변환해주는 함수입니다</a:t>
            </a:r>
            <a:r>
              <a:rPr kumimoji="1" lang="en-US" altLang="ko-KR" sz="2000" dirty="0"/>
              <a:t>. </a:t>
            </a:r>
          </a:p>
          <a:p>
            <a:endParaRPr kumimoji="1" lang="en-US" altLang="ko-KR" sz="2000" dirty="0"/>
          </a:p>
          <a:p>
            <a:r>
              <a:rPr kumimoji="1" lang="ko-KR" altLang="en-US" sz="2000" dirty="0"/>
              <a:t>이 함수는 분류</a:t>
            </a:r>
            <a:r>
              <a:rPr kumimoji="1" lang="en-US" altLang="ko-KR" sz="2000" dirty="0"/>
              <a:t>(classification)</a:t>
            </a:r>
            <a:r>
              <a:rPr kumimoji="1" lang="ko-KR" altLang="en-US" sz="2000" dirty="0"/>
              <a:t> 문제에서 다중 클래스의 확률을 예측하는 데 주로 사용됩니다</a:t>
            </a:r>
            <a:r>
              <a:rPr kumimoji="1" lang="en-US" altLang="ko-KR" sz="2000" dirty="0"/>
              <a:t>. </a:t>
            </a:r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함수는 입력 벡터의 각 원소가 어떤 클래스에 속할 확률을 나타내도록 변환해줍니다</a:t>
            </a:r>
            <a:r>
              <a:rPr kumimoji="1" lang="en-US" altLang="ko-KR" sz="2000" dirty="0"/>
              <a:t>.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09900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51DA8-74CD-2665-CF3F-DB64B89C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 err="1"/>
              <a:t>Softmax</a:t>
            </a:r>
            <a:r>
              <a:rPr kumimoji="1" lang="en-US" altLang="ko-KR" sz="4000" dirty="0"/>
              <a:t> </a:t>
            </a:r>
            <a:r>
              <a:rPr kumimoji="1" lang="ko-KR" altLang="en-US" sz="4000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213491-6C73-CD4F-1FD3-D671C1505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444753"/>
            <a:ext cx="10954512" cy="4956047"/>
          </a:xfrm>
        </p:spPr>
        <p:txBody>
          <a:bodyPr>
            <a:normAutofit/>
          </a:bodyPr>
          <a:lstStyle/>
          <a:p>
            <a:r>
              <a:rPr kumimoji="1" lang="ko-KR" altLang="en-US" sz="2000" dirty="0"/>
              <a:t>예를 들어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다음과 같은 입력 벡터를 가정해보겠습니다</a:t>
            </a:r>
            <a:r>
              <a:rPr kumimoji="1" lang="en-US" altLang="ko-KR" sz="2000" dirty="0"/>
              <a:t>: [1, 2, 3].</a:t>
            </a:r>
            <a:br>
              <a:rPr kumimoji="1" lang="en-US" altLang="ko-KR" sz="2000" dirty="0"/>
            </a:br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함수를 적용하면 각 원소를 </a:t>
            </a:r>
            <a:r>
              <a:rPr kumimoji="1" lang="en-US" altLang="ko-KR" sz="2000" dirty="0"/>
              <a:t>0</a:t>
            </a:r>
            <a:r>
              <a:rPr kumimoji="1" lang="ko-KR" altLang="en-US" sz="2000" dirty="0"/>
              <a:t>과 </a:t>
            </a:r>
            <a:r>
              <a:rPr kumimoji="1" lang="en-US" altLang="ko-KR" sz="2000" dirty="0"/>
              <a:t>1 </a:t>
            </a:r>
            <a:r>
              <a:rPr kumimoji="1" lang="ko-KR" altLang="en-US" sz="2000" dirty="0"/>
              <a:t>사이의 값으로 변환하고 모든 원소의 합이 </a:t>
            </a:r>
            <a:r>
              <a:rPr kumimoji="1" lang="en-US" altLang="ko-KR" sz="2000" dirty="0"/>
              <a:t>1</a:t>
            </a:r>
            <a:r>
              <a:rPr kumimoji="1" lang="ko-KR" altLang="en-US" sz="2000" dirty="0"/>
              <a:t>이 되도록 만들어줍니다</a:t>
            </a:r>
            <a:r>
              <a:rPr kumimoji="1" lang="en-US" altLang="ko-KR" sz="2000" dirty="0"/>
              <a:t>.</a:t>
            </a:r>
            <a:br>
              <a:rPr kumimoji="1" lang="en-US" altLang="ko-KR" sz="2000" dirty="0"/>
            </a:br>
            <a:r>
              <a:rPr kumimoji="1" lang="ko-KR" altLang="en-US" sz="2000" dirty="0"/>
              <a:t>따라서 이 입력 벡터에 </a:t>
            </a:r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함수를 적용하면 다음과 같은 출력 벡터를 얻을 수 있습니다</a:t>
            </a:r>
            <a:br>
              <a:rPr kumimoji="1" lang="en-US" altLang="ko-KR" sz="2000" dirty="0"/>
            </a:br>
            <a:r>
              <a:rPr kumimoji="1" lang="en-US" altLang="ko-KR" sz="2000" dirty="0"/>
              <a:t>[0.090, 0.244, 0.665]. </a:t>
            </a:r>
          </a:p>
          <a:p>
            <a:endParaRPr kumimoji="1" lang="en-US" altLang="ko-KR" sz="2000" dirty="0"/>
          </a:p>
          <a:p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함수는 주로 출력 벡터를 확률로 해석하므로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이 예제에서는 입력 벡터의 첫 번째 원소가 </a:t>
            </a:r>
            <a:r>
              <a:rPr kumimoji="1" lang="en-US" altLang="ko-KR" sz="2000" dirty="0"/>
              <a:t>0.090</a:t>
            </a:r>
            <a:r>
              <a:rPr kumimoji="1" lang="ko-KR" altLang="en-US" sz="2000" dirty="0"/>
              <a:t>의 확률로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두 번째 원소가 </a:t>
            </a:r>
            <a:r>
              <a:rPr kumimoji="1" lang="en-US" altLang="ko-KR" sz="2000" dirty="0"/>
              <a:t>0.244</a:t>
            </a:r>
            <a:r>
              <a:rPr kumimoji="1" lang="ko-KR" altLang="en-US" sz="2000" dirty="0"/>
              <a:t>의 확률로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세 번째 원소가 </a:t>
            </a:r>
            <a:r>
              <a:rPr kumimoji="1" lang="en-US" altLang="ko-KR" sz="2000" dirty="0"/>
              <a:t>0.665</a:t>
            </a:r>
            <a:r>
              <a:rPr kumimoji="1" lang="ko-KR" altLang="en-US" sz="2000" dirty="0"/>
              <a:t>의 확률로 속한다고 볼 수 있습니다</a:t>
            </a:r>
            <a:r>
              <a:rPr kumimoji="1" lang="en-US" altLang="ko-KR" sz="2000" dirty="0"/>
              <a:t>.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79460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122E9-5D8A-EFD8-ADD9-B678BB8B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59387-6968-C54B-326B-6F371783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 err="1"/>
              <a:t>Softmax</a:t>
            </a:r>
            <a:r>
              <a:rPr kumimoji="1" lang="en-US" altLang="ko-KR" sz="4000" dirty="0"/>
              <a:t> </a:t>
            </a:r>
            <a:r>
              <a:rPr kumimoji="1" lang="ko-KR" altLang="en-US" sz="4000" dirty="0"/>
              <a:t>함수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FD3EBB1-E1B8-4AFB-37D7-242640FA8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kumimoji="1" lang="en" altLang="ko-KR" sz="2000" dirty="0" err="1"/>
                  <a:t>Softmax</a:t>
                </a:r>
                <a:r>
                  <a:rPr kumimoji="1" lang="ko-KR" altLang="en-US" sz="2000" dirty="0"/>
                  <a:t> 함수는 입력 벡터의 각 원소를 확률로 해석하기 위해 지수 함수</a:t>
                </a:r>
                <a:r>
                  <a:rPr kumimoji="1" lang="en-US" altLang="ko-KR" sz="2000" dirty="0"/>
                  <a:t>(</a:t>
                </a:r>
                <a:r>
                  <a:rPr kumimoji="1" lang="en" altLang="ko-KR" sz="2000" dirty="0"/>
                  <a:t>exponential function)</a:t>
                </a:r>
                <a:r>
                  <a:rPr kumimoji="1" lang="ko-KR" altLang="en-US" sz="2000" dirty="0" err="1"/>
                  <a:t>를</a:t>
                </a:r>
                <a:r>
                  <a:rPr kumimoji="1" lang="ko-KR" altLang="en-US" sz="2000" dirty="0"/>
                  <a:t> 사용하여 변환합니다</a:t>
                </a:r>
                <a:r>
                  <a:rPr kumimoji="1" lang="en-US" altLang="ko-KR" sz="2000" dirty="0"/>
                  <a:t>. </a:t>
                </a:r>
                <a:r>
                  <a:rPr kumimoji="1" lang="ko-KR" altLang="en-US" sz="2000" dirty="0"/>
                  <a:t>주어진 입력 벡터 </a:t>
                </a:r>
                <a:r>
                  <a:rPr kumimoji="1" lang="en" altLang="ko-KR" sz="2000" dirty="0"/>
                  <a:t>a</a:t>
                </a:r>
                <a:r>
                  <a:rPr kumimoji="1" lang="ko-KR" altLang="en-US" sz="2000" dirty="0" err="1"/>
                  <a:t>에</a:t>
                </a:r>
                <a:r>
                  <a:rPr kumimoji="1" lang="ko-KR" altLang="en-US" sz="2000" dirty="0"/>
                  <a:t> 대해 </a:t>
                </a:r>
                <a:r>
                  <a:rPr kumimoji="1" lang="en" altLang="ko-KR" sz="2000" dirty="0" err="1"/>
                  <a:t>Softmax</a:t>
                </a:r>
                <a:r>
                  <a:rPr kumimoji="1" lang="ko-KR" altLang="en-US" sz="2000" dirty="0"/>
                  <a:t> 함수의 수식은 다음과 같습니다</a:t>
                </a:r>
                <a:r>
                  <a:rPr kumimoji="1" lang="en-US" altLang="ko-KR" sz="2000" dirty="0"/>
                  <a:t>.</a:t>
                </a:r>
              </a:p>
              <a:p>
                <a:pPr marL="0" indent="0">
                  <a:buNone/>
                </a:pPr>
                <a:endParaRPr kumimoji="1"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kumimoji="1" lang="en-US" altLang="ko-KR" sz="2400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a:rPr kumimoji="1" lang="en-US" altLang="ko-KR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3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kumimoji="1" lang="en-US" altLang="ko-KR" sz="2400" dirty="0"/>
              </a:p>
              <a:p>
                <a:pPr marL="0" indent="0">
                  <a:buNone/>
                </a:pPr>
                <a:endParaRPr kumimoji="1" lang="en-US" altLang="ko-K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altLang="ko-KR" sz="2400" i="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" altLang="ko-K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" altLang="ko-K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" altLang="ko-K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" altLang="ko-KR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" altLang="ko-KR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" altLang="ko-K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" altLang="ko-K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" altLang="ko-KR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" altLang="ko-KR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" altLang="ko-KR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" altLang="ko-KR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" altLang="ko-KR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" altLang="ko-KR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sz="24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ko-KR" sz="240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ko-KR" sz="20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ko-KR" altLang="en-US" sz="2000" dirty="0"/>
                  <a:t>는 입력 벡터의 </a:t>
                </a:r>
                <a:r>
                  <a:rPr kumimoji="1" lang="en-US" altLang="ko-KR" sz="2000" dirty="0" err="1"/>
                  <a:t>i</a:t>
                </a:r>
                <a:r>
                  <a:rPr kumimoji="1" lang="ko-KR" altLang="en-US" sz="2000" dirty="0"/>
                  <a:t>번째 원소를 나타내며</a:t>
                </a:r>
                <a:r>
                  <a:rPr kumimoji="1" lang="en-US" altLang="ko-KR" sz="2000" dirty="0"/>
                  <a:t>, N</a:t>
                </a:r>
                <a:r>
                  <a:rPr kumimoji="1" lang="ko-KR" altLang="en-US" sz="2000" dirty="0"/>
                  <a:t>은 입력 벡터의 길이입니다</a:t>
                </a:r>
                <a:r>
                  <a:rPr kumimoji="1" lang="en-US" altLang="ko-KR" sz="2000" dirty="0"/>
                  <a:t>. </a:t>
                </a:r>
                <a:r>
                  <a:rPr kumimoji="1" lang="ko-KR" altLang="en-US" sz="2000" dirty="0"/>
                  <a:t>이 수식은 각 원소를 지수 함수로 변환하여 양수로 만들고</a:t>
                </a:r>
                <a:r>
                  <a:rPr kumimoji="1" lang="en-US" altLang="ko-KR" sz="2000" dirty="0"/>
                  <a:t>, </a:t>
                </a:r>
                <a:r>
                  <a:rPr kumimoji="1" lang="ko-KR" altLang="en-US" sz="2000" dirty="0"/>
                  <a:t>이들의 합으로 나누어서 확률로 </a:t>
                </a:r>
                <a:r>
                  <a:rPr kumimoji="1" lang="ko-KR" altLang="en-US" sz="2000" dirty="0" err="1"/>
                  <a:t>정규화합니다</a:t>
                </a:r>
                <a:r>
                  <a:rPr kumimoji="1" lang="en-US" altLang="ko-KR" sz="2000" dirty="0"/>
                  <a:t>.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FD3EBB1-E1B8-4AFB-37D7-242640FA8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9" b="-10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909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050403-5122-9723-049A-1C1F1E7C1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89CAB-0FBF-4E50-B61B-F68EA479E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70387"/>
            <a:ext cx="10954512" cy="795528"/>
          </a:xfrm>
        </p:spPr>
        <p:txBody>
          <a:bodyPr>
            <a:normAutofit/>
          </a:bodyPr>
          <a:lstStyle/>
          <a:p>
            <a:r>
              <a:rPr kumimoji="1" lang="en-US" altLang="ko-KR" sz="4000" dirty="0" err="1"/>
              <a:t>Softmax</a:t>
            </a:r>
            <a:r>
              <a:rPr kumimoji="1" lang="en-US" altLang="ko-KR" sz="4000" dirty="0"/>
              <a:t> </a:t>
            </a:r>
            <a:r>
              <a:rPr kumimoji="1" lang="ko-KR" altLang="en-US" sz="4000" dirty="0"/>
              <a:t>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CBDA58-34F7-3D89-4BAB-C5AC1BF7A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ko-KR" altLang="en-US" sz="2000" dirty="0" err="1"/>
              <a:t>로짓</a:t>
            </a:r>
            <a:r>
              <a:rPr kumimoji="1" lang="en-US" altLang="ko-KR" sz="2000" dirty="0"/>
              <a:t>(</a:t>
            </a:r>
            <a:r>
              <a:rPr kumimoji="1" lang="en" altLang="ko-KR" sz="2000" dirty="0"/>
              <a:t>LOGIT)</a:t>
            </a:r>
            <a:r>
              <a:rPr kumimoji="1" lang="ko-KR" altLang="en-US" sz="2000" dirty="0"/>
              <a:t>과 </a:t>
            </a:r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의 관계</a:t>
            </a:r>
          </a:p>
          <a:p>
            <a:r>
              <a:rPr kumimoji="1" lang="ko-KR" altLang="en-US" sz="2000" dirty="0" err="1"/>
              <a:t>로짓이란</a:t>
            </a:r>
            <a:r>
              <a:rPr kumimoji="1" lang="en-US" altLang="ko-KR" sz="2000" dirty="0"/>
              <a:t>? [0,1] </a:t>
            </a:r>
            <a:r>
              <a:rPr kumimoji="1" lang="ko-KR" altLang="en-US" sz="2000" dirty="0"/>
              <a:t>사이의 값을 무한의 실수 값으로 변환함</a:t>
            </a:r>
            <a:r>
              <a:rPr kumimoji="1" lang="en-US" altLang="ko-KR" sz="2000" dirty="0"/>
              <a:t>.</a:t>
            </a:r>
          </a:p>
          <a:p>
            <a:r>
              <a:rPr kumimoji="1" lang="ko-KR" altLang="en-US" sz="2000" dirty="0" err="1"/>
              <a:t>로짓은</a:t>
            </a:r>
            <a:r>
              <a:rPr kumimoji="1" lang="ko-KR" altLang="en-US" sz="2000" dirty="0"/>
              <a:t> 확률 값으로 변환되기 직전의 최종 결과 값이다</a:t>
            </a:r>
            <a:r>
              <a:rPr kumimoji="1" lang="en-US" altLang="ko-KR" sz="2000" dirty="0"/>
              <a:t>. </a:t>
            </a:r>
            <a:r>
              <a:rPr kumimoji="1" lang="ko-KR" altLang="en-US" sz="2000" dirty="0"/>
              <a:t>다른 말로 </a:t>
            </a:r>
            <a:r>
              <a:rPr kumimoji="1" lang="en" altLang="ko-KR" sz="2000" dirty="0"/>
              <a:t>SCORE</a:t>
            </a:r>
            <a:r>
              <a:rPr kumimoji="1" lang="ko-KR" altLang="en-US" sz="2000" dirty="0"/>
              <a:t>라고도 하며</a:t>
            </a:r>
            <a:r>
              <a:rPr kumimoji="1" lang="en-US" altLang="ko-KR" sz="2000" dirty="0"/>
              <a:t>, </a:t>
            </a:r>
            <a:r>
              <a:rPr kumimoji="1" lang="ko-KR" altLang="en-US" sz="2000" dirty="0"/>
              <a:t>분류</a:t>
            </a:r>
            <a:r>
              <a:rPr kumimoji="1" lang="en-US" altLang="ko-KR" sz="2000" dirty="0"/>
              <a:t>(</a:t>
            </a:r>
            <a:r>
              <a:rPr kumimoji="1" lang="en" altLang="ko-KR" sz="2000" dirty="0"/>
              <a:t>classification) </a:t>
            </a:r>
            <a:r>
              <a:rPr kumimoji="1" lang="ko-KR" altLang="en-US" sz="2000" dirty="0"/>
              <a:t>계열의 신경망 모델의 마지막 </a:t>
            </a:r>
            <a:r>
              <a:rPr kumimoji="1" lang="en" altLang="ko-KR" sz="2000" dirty="0"/>
              <a:t>layer</a:t>
            </a:r>
            <a:r>
              <a:rPr kumimoji="1" lang="ko-KR" altLang="en-US" sz="2000" dirty="0"/>
              <a:t>에서 소프트 맥스 함수가 활용되는데 </a:t>
            </a:r>
            <a:r>
              <a:rPr kumimoji="1" lang="ko-KR" altLang="en-US" sz="2000" dirty="0" err="1"/>
              <a:t>로짓</a:t>
            </a:r>
            <a:r>
              <a:rPr kumimoji="1" lang="ko-KR" altLang="en-US" sz="2000" dirty="0"/>
              <a:t> 함수는 소프트 맥스 함수에 그 값을 전달해주는 역할을 한다</a:t>
            </a:r>
            <a:r>
              <a:rPr kumimoji="1" lang="en-US" altLang="ko-KR" sz="20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6509F7-FC22-7A09-1163-98F4D9BFE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02" y="3687097"/>
            <a:ext cx="4108817" cy="274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53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CCEB6F9-6B3B-3E59-3F6D-E94D0C9E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6623F-E946-0888-CDBB-36ADFF2A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 err="1"/>
              <a:t>Softmax</a:t>
            </a:r>
            <a:r>
              <a:rPr kumimoji="1" lang="en-US" altLang="ko-KR" sz="4000" dirty="0"/>
              <a:t> </a:t>
            </a:r>
            <a:r>
              <a:rPr kumimoji="1" lang="ko-KR" altLang="en-US" sz="4000" dirty="0"/>
              <a:t>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8B424B-3BA0-DBDD-833D-A69839652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ko-KR" i="1" dirty="0">
              <a:latin typeface="Cambria Math" panose="02040503050406030204" pitchFamily="18" charset="0"/>
            </a:endParaRPr>
          </a:p>
          <a:p>
            <a:r>
              <a:rPr kumimoji="1" lang="ko-KR" altLang="en-US" sz="2000" dirty="0"/>
              <a:t>큰 값 </a:t>
            </a:r>
            <a:r>
              <a:rPr kumimoji="1" lang="ko-KR" altLang="en-US" sz="2000" dirty="0" err="1"/>
              <a:t>입력시</a:t>
            </a:r>
            <a:r>
              <a:rPr kumimoji="1" lang="en-US" altLang="ko-KR" sz="2000" dirty="0"/>
              <a:t>, O</a:t>
            </a:r>
            <a:r>
              <a:rPr kumimoji="1" lang="en" altLang="ko-KR" sz="2000" dirty="0" err="1"/>
              <a:t>verflow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너무 큰 값은 컴퓨터에서 계산이 안됨</a:t>
            </a:r>
            <a:r>
              <a:rPr kumimoji="1" lang="en-US" altLang="ko-KR" sz="2000" dirty="0"/>
              <a:t>)</a:t>
            </a:r>
            <a:r>
              <a:rPr kumimoji="1" lang="ko-KR" altLang="en-US" sz="2000" dirty="0" err="1"/>
              <a:t>에</a:t>
            </a:r>
            <a:r>
              <a:rPr kumimoji="1" lang="ko-KR" altLang="en-US" sz="2000" dirty="0"/>
              <a:t> 취약</a:t>
            </a:r>
            <a:endParaRPr kumimoji="1" lang="en-US" altLang="ko-KR" sz="2000" dirty="0"/>
          </a:p>
          <a:p>
            <a:endParaRPr kumimoji="1" lang="ko-KR" altLang="en-US" sz="2000" dirty="0"/>
          </a:p>
          <a:p>
            <a:r>
              <a:rPr kumimoji="1" lang="ko-KR" altLang="en-US" sz="2000" dirty="0"/>
              <a:t>함수 </a:t>
            </a:r>
            <a:r>
              <a:rPr kumimoji="1" lang="en" altLang="ko-KR" sz="2000" dirty="0"/>
              <a:t>y = exp(x)</a:t>
            </a:r>
            <a:r>
              <a:rPr kumimoji="1" lang="ko-KR" altLang="en-US" sz="2000" dirty="0"/>
              <a:t>가 증가 함수이기 때문에</a:t>
            </a:r>
            <a:r>
              <a:rPr kumimoji="1" lang="en-US" altLang="ko-KR" sz="2000" dirty="0"/>
              <a:t>, </a:t>
            </a:r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함수를 적용해도 각 원소의 대소 관계는 변하지 않음</a:t>
            </a:r>
            <a:r>
              <a:rPr kumimoji="1" lang="en-US" altLang="ko-KR" sz="2000" dirty="0"/>
              <a:t>.</a:t>
            </a:r>
          </a:p>
          <a:p>
            <a:endParaRPr kumimoji="1" lang="ko-KR" altLang="en-US" sz="2000" dirty="0"/>
          </a:p>
          <a:p>
            <a:r>
              <a:rPr kumimoji="1" lang="ko-KR" altLang="en-US" sz="2000" dirty="0"/>
              <a:t>입력 벡터 중 큰 값을 가진 원소에 대해서는 </a:t>
            </a:r>
            <a:r>
              <a:rPr kumimoji="1" lang="en" altLang="ko-KR" sz="2000" dirty="0" err="1"/>
              <a:t>Softmax</a:t>
            </a:r>
            <a:r>
              <a:rPr kumimoji="1" lang="ko-KR" altLang="en-US" sz="2000" dirty="0"/>
              <a:t> 함수의 </a:t>
            </a:r>
            <a:r>
              <a:rPr kumimoji="1" lang="ko-KR" altLang="en-US" sz="2000" dirty="0" err="1"/>
              <a:t>출력값이</a:t>
            </a:r>
            <a:r>
              <a:rPr kumimoji="1" lang="ko-KR" altLang="en-US" sz="2000" dirty="0"/>
              <a:t> 더 크게 나타나게 된다</a:t>
            </a:r>
            <a:r>
              <a:rPr kumimoji="1"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743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495BB-F1DF-E831-7CB1-B944530EF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anchor="t">
            <a:normAutofit/>
          </a:bodyPr>
          <a:lstStyle/>
          <a:p>
            <a:r>
              <a:rPr kumimoji="1" lang="ko-KR" altLang="en-US" sz="4000" dirty="0"/>
              <a:t>인공지능 </a:t>
            </a:r>
            <a:r>
              <a:rPr kumimoji="1" lang="en-US" altLang="ko-KR" sz="4000" dirty="0"/>
              <a:t>vs </a:t>
            </a:r>
            <a:r>
              <a:rPr kumimoji="1" lang="ko-KR" altLang="en-US" sz="4000" dirty="0" err="1"/>
              <a:t>머신러닝</a:t>
            </a:r>
            <a:r>
              <a:rPr kumimoji="1" lang="ko-KR" altLang="en-US" sz="4000" dirty="0"/>
              <a:t> </a:t>
            </a:r>
            <a:r>
              <a:rPr kumimoji="1" lang="en-US" altLang="ko-KR" sz="4000" dirty="0"/>
              <a:t>vs </a:t>
            </a:r>
            <a:r>
              <a:rPr kumimoji="1" lang="ko-KR" altLang="en-US" sz="4000" dirty="0"/>
              <a:t>딥러닝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7C522B-9C43-EA0C-A483-3AD9267EB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92040" y="1393089"/>
            <a:ext cx="6675120" cy="407182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72120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A79DC-ABB2-6E46-0B37-ED6BEFE6C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356" y="42347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Machine Learning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2B11D6-92F8-4DA4-918D-ABED8D985F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7847" y="792155"/>
            <a:ext cx="10371727" cy="5087536"/>
          </a:xfrm>
        </p:spPr>
        <p:txBody>
          <a:bodyPr>
            <a:noAutofit/>
          </a:bodyPr>
          <a:lstStyle/>
          <a:p>
            <a:r>
              <a:rPr kumimoji="1" lang="en-US" altLang="ko-KR" sz="2000" dirty="0"/>
              <a:t>ML: </a:t>
            </a:r>
            <a:r>
              <a:rPr kumimoji="1" lang="ko-KR" altLang="en-US" sz="2000" dirty="0"/>
              <a:t>머신 러닝은 주어진 데이터를 이용하여 컴퓨터 스스로 학습하여 인공지능 성능을 향상시키는 기술</a:t>
            </a:r>
            <a:endParaRPr kumimoji="1" lang="en-US" altLang="ko-KR" sz="2000" dirty="0"/>
          </a:p>
          <a:p>
            <a:r>
              <a:rPr kumimoji="1" lang="ko-KR" altLang="en-US" sz="2000" dirty="0"/>
              <a:t>특징</a:t>
            </a:r>
            <a:r>
              <a:rPr kumimoji="1" lang="en-US" altLang="ko-KR" sz="2000" dirty="0"/>
              <a:t>:</a:t>
            </a:r>
          </a:p>
          <a:p>
            <a:pPr lvl="1"/>
            <a:r>
              <a:rPr kumimoji="1" lang="ko-KR" altLang="en-US" sz="2000" dirty="0"/>
              <a:t>사전에 학습 데이터</a:t>
            </a:r>
            <a:r>
              <a:rPr kumimoji="1" lang="en-US" altLang="ko-KR" sz="2000" dirty="0"/>
              <a:t> </a:t>
            </a:r>
            <a:r>
              <a:rPr kumimoji="1" lang="ko-KR" altLang="en-US" sz="2000" dirty="0" err="1"/>
              <a:t>전처리</a:t>
            </a:r>
            <a:r>
              <a:rPr kumimoji="1" lang="ko-KR" altLang="en-US" sz="2000" dirty="0"/>
              <a:t> 필요</a:t>
            </a:r>
            <a:endParaRPr kumimoji="1" lang="en-US" altLang="ko-KR" sz="2000" dirty="0"/>
          </a:p>
          <a:p>
            <a:r>
              <a:rPr kumimoji="1" lang="ko-KR" altLang="en-US" sz="2000" dirty="0"/>
              <a:t>종류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지도 학습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정답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문제를 모두 알려주고 컴퓨터를 학습시키는 방법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비지도 학습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정답을 가르쳐 주지 않고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스스로 문제를 풀고 추론할 수 있도록 하는 학습 방법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강화 학습</a:t>
            </a:r>
            <a:r>
              <a:rPr kumimoji="1" lang="en-US" altLang="ko-KR" sz="2000" dirty="0"/>
              <a:t>:</a:t>
            </a:r>
            <a:r>
              <a:rPr kumimoji="1" lang="ko-KR" altLang="en-US" sz="2000" dirty="0"/>
              <a:t> 행동에 대한 보상을 통해 행위를 강화해 나가는 방법</a:t>
            </a:r>
            <a:endParaRPr kumimoji="1" lang="en-US" altLang="ko-KR" sz="2000" dirty="0"/>
          </a:p>
          <a:p>
            <a:r>
              <a:rPr kumimoji="1" lang="ko-KR" altLang="en-US" sz="2000" dirty="0"/>
              <a:t>예시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선형 회귀</a:t>
            </a:r>
            <a:endParaRPr kumimoji="1" lang="en-US" altLang="ko-KR" sz="2000" dirty="0"/>
          </a:p>
          <a:p>
            <a:pPr lvl="1"/>
            <a:r>
              <a:rPr kumimoji="1" lang="en-US" altLang="ko-KR" sz="2000" dirty="0"/>
              <a:t>SVM</a:t>
            </a:r>
          </a:p>
          <a:p>
            <a:pPr lvl="1"/>
            <a:r>
              <a:rPr kumimoji="1" lang="en-US" altLang="ko-KR" sz="2000" dirty="0"/>
              <a:t>Decision Tree</a:t>
            </a:r>
          </a:p>
          <a:p>
            <a:pPr lvl="1"/>
            <a:r>
              <a:rPr kumimoji="1" lang="ko-KR" altLang="en-US" sz="2000" dirty="0" err="1"/>
              <a:t>부스팅</a:t>
            </a:r>
            <a:r>
              <a:rPr kumimoji="1" lang="ko-KR" altLang="en-US" sz="2000" dirty="0"/>
              <a:t> 기법 </a:t>
            </a:r>
            <a:r>
              <a:rPr kumimoji="1" lang="en-US" altLang="ko-KR" sz="2000" dirty="0"/>
              <a:t>(</a:t>
            </a:r>
            <a:r>
              <a:rPr kumimoji="1" lang="en-US" altLang="ko-KR" sz="2000" dirty="0" err="1"/>
              <a:t>XGBoost</a:t>
            </a:r>
            <a:r>
              <a:rPr kumimoji="1" lang="en-US" altLang="ko-KR" sz="2000" dirty="0"/>
              <a:t>, </a:t>
            </a:r>
            <a:r>
              <a:rPr kumimoji="1" lang="en-US" altLang="ko-KR" sz="2000" dirty="0" err="1"/>
              <a:t>LightGBM</a:t>
            </a:r>
            <a:r>
              <a:rPr kumimoji="1" lang="en-US" altLang="ko-KR" sz="2000" dirty="0"/>
              <a:t> </a:t>
            </a:r>
            <a:r>
              <a:rPr kumimoji="1" lang="ko-KR" altLang="en-US" sz="2000" dirty="0"/>
              <a:t>등</a:t>
            </a:r>
            <a:r>
              <a:rPr kumimoji="1" lang="en-US" altLang="ko-KR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44006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8FD4D5-BD89-4966-B164-16F684F2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2DAF3-4FD4-91FF-5DF8-6FAC2D352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022" y="189173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Deep Learning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C157F3-200F-36B4-DE93-EDFAFD9A1F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7343" y="1327327"/>
            <a:ext cx="10371727" cy="4640854"/>
          </a:xfrm>
        </p:spPr>
        <p:txBody>
          <a:bodyPr>
            <a:normAutofit/>
          </a:bodyPr>
          <a:lstStyle/>
          <a:p>
            <a:r>
              <a:rPr kumimoji="1" lang="en-US" altLang="ko-KR" sz="2000" dirty="0"/>
              <a:t>DL: </a:t>
            </a:r>
            <a:r>
              <a:rPr kumimoji="1" lang="ko-KR" altLang="en-US" sz="2000" dirty="0" err="1"/>
              <a:t>딥러닝은</a:t>
            </a:r>
            <a:r>
              <a:rPr kumimoji="1" lang="ko-KR" altLang="en-US" sz="2000" dirty="0"/>
              <a:t> 인공신경망을 </a:t>
            </a:r>
            <a:r>
              <a:rPr kumimoji="1" lang="ko-KR" altLang="en-US" sz="2000" dirty="0" err="1"/>
              <a:t>머신러닝에</a:t>
            </a:r>
            <a:r>
              <a:rPr kumimoji="1" lang="ko-KR" altLang="en-US" sz="2000" dirty="0"/>
              <a:t> 적용한 기술</a:t>
            </a:r>
            <a:endParaRPr kumimoji="1" lang="en-US" altLang="ko-KR" sz="2000" dirty="0"/>
          </a:p>
          <a:p>
            <a:r>
              <a:rPr kumimoji="1" lang="ko-KR" altLang="en-US" sz="2000" dirty="0"/>
              <a:t>특징</a:t>
            </a:r>
            <a:r>
              <a:rPr kumimoji="1" lang="en-US" altLang="ko-KR" sz="2000" dirty="0"/>
              <a:t>:</a:t>
            </a:r>
          </a:p>
          <a:p>
            <a:pPr lvl="1"/>
            <a:r>
              <a:rPr kumimoji="1" lang="ko-KR" altLang="en-US" sz="2000" dirty="0"/>
              <a:t>인간이 처리해 줘야 하는 작업은 생략되고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알고리즘이 스스로 분석하고 답을 찾아냄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기본 데이터가 많아야 좋음</a:t>
            </a:r>
            <a:endParaRPr kumimoji="1" lang="en-US" altLang="ko-KR" sz="2000" dirty="0"/>
          </a:p>
          <a:p>
            <a:pPr lvl="1"/>
            <a:r>
              <a:rPr kumimoji="1" lang="ko-KR" altLang="en-US" sz="2000" dirty="0" err="1"/>
              <a:t>연산량이</a:t>
            </a:r>
            <a:r>
              <a:rPr kumimoji="1" lang="ko-KR" altLang="en-US" sz="2000" dirty="0"/>
              <a:t> 많음 </a:t>
            </a:r>
            <a:r>
              <a:rPr kumimoji="1" lang="en-US" altLang="ko-KR" sz="2000" dirty="0"/>
              <a:t>-&gt;</a:t>
            </a:r>
            <a:r>
              <a:rPr kumimoji="1" lang="ko-KR" altLang="en-US" sz="2000" dirty="0"/>
              <a:t> 학습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튜닝 시간이 </a:t>
            </a:r>
            <a:r>
              <a:rPr kumimoji="1" lang="ko-KR" altLang="en-US" sz="2000" dirty="0" err="1"/>
              <a:t>길어짐</a:t>
            </a:r>
            <a:endParaRPr kumimoji="1" lang="en-US" altLang="ko-KR" sz="2000" dirty="0"/>
          </a:p>
          <a:p>
            <a:endParaRPr kumimoji="1" lang="en-US" altLang="ko-KR" sz="2000" dirty="0"/>
          </a:p>
          <a:p>
            <a:r>
              <a:rPr kumimoji="1" lang="ko-KR" altLang="en-US" sz="2000" dirty="0"/>
              <a:t>대표 구조</a:t>
            </a:r>
            <a:endParaRPr kumimoji="1" lang="en-US" altLang="ko-KR" sz="2000" dirty="0"/>
          </a:p>
          <a:p>
            <a:pPr lvl="1"/>
            <a:r>
              <a:rPr kumimoji="1" lang="en-US" altLang="ko-KR" sz="2000" dirty="0"/>
              <a:t>MLP</a:t>
            </a:r>
          </a:p>
          <a:p>
            <a:pPr lvl="1"/>
            <a:r>
              <a:rPr kumimoji="1" lang="en-US" altLang="ko-KR" sz="2000" dirty="0"/>
              <a:t>CNN</a:t>
            </a:r>
          </a:p>
          <a:p>
            <a:pPr lvl="1"/>
            <a:r>
              <a:rPr kumimoji="1" lang="en-US" altLang="ko-KR" sz="2000" dirty="0"/>
              <a:t>RNN/LSTM/GRU </a:t>
            </a:r>
            <a:r>
              <a:rPr kumimoji="1" lang="ko-KR" altLang="en-US" sz="2000" dirty="0"/>
              <a:t>등</a:t>
            </a:r>
            <a:endParaRPr kumimoji="1"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374862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3353C-873E-4C9C-D174-D5ACAB34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58AFB-83F6-56DC-67E9-BDDA6D17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02" y="228502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Multi-Layer Perceptron</a:t>
            </a:r>
            <a:endParaRPr kumimoji="1"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2795C1-1869-2074-C5CB-58451637B9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2402" y="1234440"/>
            <a:ext cx="10371727" cy="4389120"/>
          </a:xfrm>
        </p:spPr>
        <p:txBody>
          <a:bodyPr>
            <a:noAutofit/>
          </a:bodyPr>
          <a:lstStyle/>
          <a:p>
            <a:r>
              <a:rPr kumimoji="1" lang="en-US" altLang="ko-KR" sz="2000" dirty="0"/>
              <a:t>MLP: Perceptron</a:t>
            </a:r>
            <a:r>
              <a:rPr kumimoji="1" lang="ko-KR" altLang="en-US" sz="2000" dirty="0"/>
              <a:t>을 여러 층으로 쌓아 올린 기법</a:t>
            </a:r>
            <a:endParaRPr kumimoji="1" lang="en-US" altLang="ko-KR" sz="2000" dirty="0"/>
          </a:p>
          <a:p>
            <a:endParaRPr kumimoji="1" lang="en-US" altLang="ko-KR" sz="2000" dirty="0"/>
          </a:p>
          <a:p>
            <a:r>
              <a:rPr kumimoji="1" lang="en-US" altLang="ko-KR" sz="2000" dirty="0"/>
              <a:t>Perceptron: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Perceptron</a:t>
            </a:r>
            <a:r>
              <a:rPr kumimoji="1" lang="ko-KR" altLang="en-US" sz="2000" dirty="0"/>
              <a:t>은 아주 간단한 인공지능 모델</a:t>
            </a:r>
            <a:r>
              <a:rPr kumimoji="1" lang="en-US" altLang="ko-KR" sz="2000" dirty="0"/>
              <a:t>.</a:t>
            </a:r>
          </a:p>
          <a:p>
            <a:pPr lvl="1"/>
            <a:r>
              <a:rPr kumimoji="1" lang="ko-KR" altLang="en-US" sz="2000" dirty="0" err="1"/>
              <a:t>입력값이</a:t>
            </a:r>
            <a:r>
              <a:rPr kumimoji="1" lang="ko-KR" altLang="en-US" sz="2000" dirty="0"/>
              <a:t> 들어오면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각 입력에 가중치를 곱해서 더하고</a:t>
            </a:r>
            <a:r>
              <a:rPr kumimoji="1" lang="en-US" altLang="ko-KR" sz="2000" dirty="0"/>
              <a:t>,</a:t>
            </a:r>
            <a:r>
              <a:rPr kumimoji="1" lang="ko-KR" altLang="en-US" sz="2000" dirty="0"/>
              <a:t> 마지막에 활성 함수를 거쳐 결과를 나타냄</a:t>
            </a:r>
            <a:endParaRPr kumimoji="1" lang="en-US" altLang="ko-KR" sz="2000" dirty="0"/>
          </a:p>
          <a:p>
            <a:endParaRPr kumimoji="1" lang="en-US" altLang="ko-KR" sz="2000" dirty="0"/>
          </a:p>
          <a:p>
            <a:r>
              <a:rPr kumimoji="1" lang="ko-KR" altLang="en-US" sz="2000" dirty="0"/>
              <a:t>구조</a:t>
            </a:r>
            <a:endParaRPr kumimoji="1" lang="en-US" altLang="ko-KR" sz="2000" dirty="0"/>
          </a:p>
          <a:p>
            <a:pPr lvl="1"/>
            <a:r>
              <a:rPr kumimoji="1" lang="ko-KR" altLang="en-US" sz="2000" dirty="0" err="1"/>
              <a:t>입력층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(Input Layer): </a:t>
            </a:r>
            <a:r>
              <a:rPr kumimoji="1" lang="ko-KR" altLang="en-US" sz="2000" dirty="0"/>
              <a:t>데이터가 들어오는 부분</a:t>
            </a:r>
            <a:endParaRPr kumimoji="1" lang="en-US" altLang="ko-KR" sz="2000" dirty="0"/>
          </a:p>
          <a:p>
            <a:pPr lvl="1"/>
            <a:r>
              <a:rPr kumimoji="1" lang="ko-KR" altLang="en-US" sz="2000" dirty="0" err="1"/>
              <a:t>은닉층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(Hidden Layer): </a:t>
            </a:r>
            <a:r>
              <a:rPr kumimoji="1" lang="ko-KR" altLang="en-US" sz="2000" dirty="0"/>
              <a:t>데이터에서 패턴을 찾는 중간 계산 단계</a:t>
            </a:r>
            <a:r>
              <a:rPr kumimoji="1" lang="en-US" altLang="ko-KR" sz="2000" dirty="0"/>
              <a:t>. </a:t>
            </a:r>
            <a:r>
              <a:rPr kumimoji="1" lang="ko-KR" altLang="en-US" sz="2000" dirty="0"/>
              <a:t>여러 층을 거치면서 점점 복잡한 특징을 학습</a:t>
            </a:r>
            <a:endParaRPr kumimoji="1" lang="en-US" altLang="ko-KR" sz="2000" dirty="0"/>
          </a:p>
          <a:p>
            <a:pPr lvl="1"/>
            <a:r>
              <a:rPr kumimoji="1" lang="ko-KR" altLang="en-US" sz="2000" dirty="0" err="1"/>
              <a:t>출력층</a:t>
            </a:r>
            <a:r>
              <a:rPr kumimoji="1" lang="ko-KR" altLang="en-US" sz="2000" dirty="0"/>
              <a:t> </a:t>
            </a:r>
            <a:r>
              <a:rPr kumimoji="1" lang="en-US" altLang="ko-KR" sz="2000" dirty="0"/>
              <a:t>(Output Layer): </a:t>
            </a:r>
            <a:r>
              <a:rPr kumimoji="1" lang="ko-KR" altLang="en-US" sz="2000" dirty="0"/>
              <a:t>최종 결과를 출력</a:t>
            </a:r>
            <a:endParaRPr kumimoji="1"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676344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BD884-A145-AB87-D223-7CBDA5DC4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03" y="283133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Multi-Layer Perceptron</a:t>
            </a:r>
            <a:endParaRPr kumimoji="1" lang="ko-KR" altLang="en-US" sz="4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87A41A4-D366-9546-DE0A-9D713458223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562" y="1509926"/>
            <a:ext cx="8769852" cy="506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꺾인 연결선[E] 4">
            <a:extLst>
              <a:ext uri="{FF2B5EF4-FFF2-40B4-BE49-F238E27FC236}">
                <a16:creationId xmlns:a16="http://schemas.microsoft.com/office/drawing/2014/main" id="{D53D0E71-B333-40B4-8BE0-83177DFDA051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6546849" y="1694592"/>
            <a:ext cx="796843" cy="507219"/>
          </a:xfrm>
          <a:prstGeom prst="bentConnector3">
            <a:avLst>
              <a:gd name="adj1" fmla="val -491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oval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92E107-DFA3-F1E2-1D9C-2C728641FF48}"/>
              </a:ext>
            </a:extLst>
          </p:cNvPr>
          <p:cNvSpPr txBox="1"/>
          <p:nvPr/>
        </p:nvSpPr>
        <p:spPr>
          <a:xfrm>
            <a:off x="7343692" y="1509926"/>
            <a:ext cx="1994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Node </a:t>
            </a:r>
            <a:r>
              <a:rPr kumimoji="1" lang="ko-KR" altLang="en-US" dirty="0"/>
              <a:t>또는 </a:t>
            </a:r>
            <a:r>
              <a:rPr kumimoji="1" lang="en-US" altLang="ko-KR" dirty="0"/>
              <a:t>Neuron</a:t>
            </a:r>
            <a:endParaRPr kumimoji="1"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86FB20-ABB6-5A62-9BF8-3E367747E42C}"/>
              </a:ext>
            </a:extLst>
          </p:cNvPr>
          <p:cNvSpPr/>
          <p:nvPr/>
        </p:nvSpPr>
        <p:spPr>
          <a:xfrm>
            <a:off x="4548136" y="1969532"/>
            <a:ext cx="630936" cy="3772900"/>
          </a:xfrm>
          <a:prstGeom prst="rect">
            <a:avLst/>
          </a:prstGeom>
          <a:noFill/>
          <a:ln w="190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" name="꺾인 연결선[E] 12">
            <a:extLst>
              <a:ext uri="{FF2B5EF4-FFF2-40B4-BE49-F238E27FC236}">
                <a16:creationId xmlns:a16="http://schemas.microsoft.com/office/drawing/2014/main" id="{999430CC-FA70-0C7B-6762-1DD06DAC7D2B}"/>
              </a:ext>
            </a:extLst>
          </p:cNvPr>
          <p:cNvCxnSpPr>
            <a:cxnSpLocks/>
            <a:stCxn id="12" idx="0"/>
            <a:endCxn id="20" idx="3"/>
          </p:cNvCxnSpPr>
          <p:nvPr/>
        </p:nvCxnSpPr>
        <p:spPr>
          <a:xfrm rot="16200000" flipV="1">
            <a:off x="4370414" y="1476341"/>
            <a:ext cx="274941" cy="711441"/>
          </a:xfrm>
          <a:prstGeom prst="bentConnector2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98B357-15DF-2942-A9F5-CFB4A27EAC6E}"/>
              </a:ext>
            </a:extLst>
          </p:cNvPr>
          <p:cNvSpPr txBox="1"/>
          <p:nvPr/>
        </p:nvSpPr>
        <p:spPr>
          <a:xfrm>
            <a:off x="3441712" y="150992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Layer</a:t>
            </a:r>
            <a:endParaRPr kumimoji="1"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2B4D364-9C22-C7FF-1B82-8D52CE0AA2A5}"/>
              </a:ext>
            </a:extLst>
          </p:cNvPr>
          <p:cNvSpPr/>
          <p:nvPr/>
        </p:nvSpPr>
        <p:spPr>
          <a:xfrm>
            <a:off x="2307856" y="1981006"/>
            <a:ext cx="8275320" cy="376142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5" name="꺾인 연결선[E] 24">
            <a:extLst>
              <a:ext uri="{FF2B5EF4-FFF2-40B4-BE49-F238E27FC236}">
                <a16:creationId xmlns:a16="http://schemas.microsoft.com/office/drawing/2014/main" id="{C7B4A74A-DE03-0F7F-0334-EEED52544108}"/>
              </a:ext>
            </a:extLst>
          </p:cNvPr>
          <p:cNvCxnSpPr>
            <a:cxnSpLocks/>
            <a:stCxn id="23" idx="1"/>
            <a:endCxn id="26" idx="2"/>
          </p:cNvCxnSpPr>
          <p:nvPr/>
        </p:nvCxnSpPr>
        <p:spPr>
          <a:xfrm rot="10800000">
            <a:off x="1460252" y="2856337"/>
            <a:ext cx="847604" cy="10053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31C2D12-1860-FBB3-A7DC-74CCE384627C}"/>
              </a:ext>
            </a:extLst>
          </p:cNvPr>
          <p:cNvSpPr txBox="1"/>
          <p:nvPr/>
        </p:nvSpPr>
        <p:spPr>
          <a:xfrm>
            <a:off x="612648" y="2487004"/>
            <a:ext cx="1695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Neural Network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985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68801-F3D3-EB58-550C-B96B58F9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D5858-9A9F-5F2D-2405-C58683F5D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45" y="246888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Multi-Layer Perceptron</a:t>
            </a:r>
            <a:endParaRPr kumimoji="1"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1DDD6A-85A1-AD42-015D-E794901E97F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kumimoji="1" lang="ko-KR" altLang="en-US" sz="2000" dirty="0"/>
                  <a:t>계산 방법</a:t>
                </a:r>
                <a:endParaRPr kumimoji="1" lang="en-US" altLang="ko-K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400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kumimoji="1"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ko-K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ko-KR" sz="2400" dirty="0"/>
              </a:p>
              <a:p>
                <a:pPr marL="0" indent="0">
                  <a:buNone/>
                </a:pPr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이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전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층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의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출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력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(=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현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재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층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의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입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력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가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중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치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행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렬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학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습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에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따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라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변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경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편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향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학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습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에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따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라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변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경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형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결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합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결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endParaRPr kumimoji="1" lang="en-US" altLang="ko-KR" sz="20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활성화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함수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(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𝑅𝑒𝐿𝑈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𝑆𝑖𝑔𝑚𝑜𝑖𝑑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𝑆𝑜𝑓𝑡𝑚𝑎𝑥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등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최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종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출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력</m:t>
                    </m:r>
                    <m:r>
                      <a:rPr kumimoji="1"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다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음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층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입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력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이전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층의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노드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현재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층의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노드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kumimoji="1" lang="en-US" altLang="ko-KR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1DDD6A-85A1-AD42-015D-E794901E97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  <a:blipFill>
                <a:blip r:embed="rId3"/>
                <a:stretch>
                  <a:fillRect l="-863" t="-252" b="-102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564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D71160-759D-0418-50D5-FB710F9B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76358-DE5C-BAE1-BE32-414A64DA2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016" y="257696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Multi-Layer Perceptron</a:t>
            </a:r>
            <a:endParaRPr kumimoji="1" lang="ko-KR" altLang="en-US" sz="40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73AB0CB-5134-B2F2-8E26-7F1109EB9148}"/>
              </a:ext>
            </a:extLst>
          </p:cNvPr>
          <p:cNvSpPr/>
          <p:nvPr/>
        </p:nvSpPr>
        <p:spPr>
          <a:xfrm>
            <a:off x="4220023" y="2808616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E2BF0ED-0693-5103-E948-77218895341C}"/>
              </a:ext>
            </a:extLst>
          </p:cNvPr>
          <p:cNvSpPr/>
          <p:nvPr/>
        </p:nvSpPr>
        <p:spPr>
          <a:xfrm>
            <a:off x="4220023" y="4009775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AAB7563-34D7-3428-0FB9-F3A264ACAF36}"/>
              </a:ext>
            </a:extLst>
          </p:cNvPr>
          <p:cNvSpPr/>
          <p:nvPr/>
        </p:nvSpPr>
        <p:spPr>
          <a:xfrm>
            <a:off x="6260143" y="2307889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04B7FFA-6CD0-561D-1499-859B6A2FA7CA}"/>
              </a:ext>
            </a:extLst>
          </p:cNvPr>
          <p:cNvSpPr/>
          <p:nvPr/>
        </p:nvSpPr>
        <p:spPr>
          <a:xfrm>
            <a:off x="6260143" y="4579993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7D0CE79-1F2C-2BE7-7843-ADFB1A7E54C2}"/>
              </a:ext>
            </a:extLst>
          </p:cNvPr>
          <p:cNvSpPr/>
          <p:nvPr/>
        </p:nvSpPr>
        <p:spPr>
          <a:xfrm>
            <a:off x="6260143" y="3443941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B3CFE2E-65FB-2445-8DBD-5750D004ECD9}"/>
              </a:ext>
            </a:extLst>
          </p:cNvPr>
          <p:cNvSpPr/>
          <p:nvPr/>
        </p:nvSpPr>
        <p:spPr>
          <a:xfrm>
            <a:off x="8282129" y="2307889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828D0A6-B778-B7DA-9CDE-2B610B83437D}"/>
              </a:ext>
            </a:extLst>
          </p:cNvPr>
          <p:cNvSpPr/>
          <p:nvPr/>
        </p:nvSpPr>
        <p:spPr>
          <a:xfrm>
            <a:off x="8282129" y="4579993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A7ACC14-BDF3-7763-2715-EA59FE31CB33}"/>
              </a:ext>
            </a:extLst>
          </p:cNvPr>
          <p:cNvSpPr/>
          <p:nvPr/>
        </p:nvSpPr>
        <p:spPr>
          <a:xfrm>
            <a:off x="8282129" y="3443941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B548C12-A891-CAD1-A1E9-2B156449D9C4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4940023" y="2667889"/>
            <a:ext cx="1320120" cy="5007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B84EE0C-8A97-9638-B584-368066EFC596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4940023" y="3168616"/>
            <a:ext cx="1320120" cy="63532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4F85E41-120C-8F72-7505-D5C2DE59336A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>
            <a:off x="4940023" y="3168616"/>
            <a:ext cx="1320120" cy="17713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1FD7E49-4734-FEE9-2AAA-CEB251A54BC8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4940023" y="3803941"/>
            <a:ext cx="1320120" cy="56583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F51AF78-63EE-F0AC-E28E-38BCED0FEEB9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>
          <a:xfrm>
            <a:off x="4940023" y="4369775"/>
            <a:ext cx="1320120" cy="57021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C7B2C4C-0E7D-B306-FBDC-78EBB749A843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 flipV="1">
            <a:off x="4940023" y="2667889"/>
            <a:ext cx="1320120" cy="17018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0EA0714-BE47-7DD3-7B58-CBC187ECC846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>
            <a:off x="6980143" y="2667889"/>
            <a:ext cx="130198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4C1143D-336A-0C4D-F90C-63A8BF98F643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6980143" y="2667889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F6D8272-64CC-4CAA-FC20-7C58A80F3C8A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6980143" y="3803941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169DB0A7-9822-109A-D9F3-515F0ED8942B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>
            <a:off x="6980143" y="2667889"/>
            <a:ext cx="1301986" cy="2272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7A08E890-3BFE-4AB0-BFF2-156C7529791E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6980143" y="2667889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B1B7D052-3EAA-4695-2DDB-65D4D3C26F10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6980143" y="3803941"/>
            <a:ext cx="130198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024430D3-8928-2B61-244B-A3EE17DD02F4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6980143" y="2667889"/>
            <a:ext cx="1301986" cy="227210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30B98F40-2A8D-F5ED-956E-0E60B918F032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 flipV="1">
            <a:off x="6980143" y="3803941"/>
            <a:ext cx="1301986" cy="113605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0D15879C-404D-EE9E-650A-9474F9690FCE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6980143" y="4939993"/>
            <a:ext cx="130198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D9F65189-4DF9-BCCE-886A-2999695B5E74}"/>
              </a:ext>
            </a:extLst>
          </p:cNvPr>
          <p:cNvCxnSpPr>
            <a:cxnSpLocks/>
            <a:stCxn id="9" idx="6"/>
            <a:endCxn id="154" idx="2"/>
          </p:cNvCxnSpPr>
          <p:nvPr/>
        </p:nvCxnSpPr>
        <p:spPr>
          <a:xfrm>
            <a:off x="9002129" y="2667889"/>
            <a:ext cx="1225812" cy="5007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62B8E66F-9B19-1AA1-1EC5-134447DFF4AE}"/>
              </a:ext>
            </a:extLst>
          </p:cNvPr>
          <p:cNvCxnSpPr>
            <a:cxnSpLocks/>
            <a:stCxn id="11" idx="6"/>
            <a:endCxn id="154" idx="2"/>
          </p:cNvCxnSpPr>
          <p:nvPr/>
        </p:nvCxnSpPr>
        <p:spPr>
          <a:xfrm flipV="1">
            <a:off x="9002129" y="3168616"/>
            <a:ext cx="1225812" cy="63532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26B07E0F-8BD7-D102-4E28-882CA2699D57}"/>
              </a:ext>
            </a:extLst>
          </p:cNvPr>
          <p:cNvCxnSpPr>
            <a:cxnSpLocks/>
            <a:stCxn id="10" idx="6"/>
            <a:endCxn id="154" idx="2"/>
          </p:cNvCxnSpPr>
          <p:nvPr/>
        </p:nvCxnSpPr>
        <p:spPr>
          <a:xfrm flipV="1">
            <a:off x="9002129" y="3168616"/>
            <a:ext cx="1225812" cy="177137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7907F6F5-E653-5A1B-DD83-09817BA58E73}"/>
              </a:ext>
            </a:extLst>
          </p:cNvPr>
          <p:cNvSpPr/>
          <p:nvPr/>
        </p:nvSpPr>
        <p:spPr>
          <a:xfrm>
            <a:off x="6180895" y="2185453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C430AF07-BA38-E758-5325-20CE659980B3}"/>
              </a:ext>
            </a:extLst>
          </p:cNvPr>
          <p:cNvSpPr/>
          <p:nvPr/>
        </p:nvSpPr>
        <p:spPr>
          <a:xfrm>
            <a:off x="8198645" y="2185453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46765FA-B69F-17C9-233E-E4BDE2DC96EC}"/>
              </a:ext>
            </a:extLst>
          </p:cNvPr>
          <p:cNvSpPr/>
          <p:nvPr/>
        </p:nvSpPr>
        <p:spPr>
          <a:xfrm>
            <a:off x="4136539" y="2183261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4F9292EF-C141-ADBB-7FFE-D664743F2700}"/>
              </a:ext>
            </a:extLst>
          </p:cNvPr>
          <p:cNvSpPr/>
          <p:nvPr/>
        </p:nvSpPr>
        <p:spPr>
          <a:xfrm>
            <a:off x="10144457" y="2183239"/>
            <a:ext cx="886968" cy="3209544"/>
          </a:xfrm>
          <a:prstGeom prst="rect">
            <a:avLst/>
          </a:prstGeom>
          <a:noFill/>
          <a:ln w="19050">
            <a:solidFill>
              <a:schemeClr val="tx1">
                <a:lumMod val="25000"/>
                <a:lumOff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5EF665F-7B4C-2A42-7DCA-F11813FD4B28}"/>
              </a:ext>
            </a:extLst>
          </p:cNvPr>
          <p:cNvSpPr txBox="1"/>
          <p:nvPr/>
        </p:nvSpPr>
        <p:spPr>
          <a:xfrm>
            <a:off x="3957895" y="5505827"/>
            <a:ext cx="124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입력 층</a:t>
            </a:r>
            <a:endParaRPr kumimoji="1" lang="en-US" altLang="ko-KR" sz="1400" dirty="0"/>
          </a:p>
          <a:p>
            <a:pPr algn="ctr"/>
            <a:r>
              <a:rPr kumimoji="1" lang="en-US" altLang="ko-KR" sz="1400" dirty="0"/>
              <a:t>(Input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Layer)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86FE098-89F7-3F42-CF5C-62BF0BCD147E}"/>
              </a:ext>
            </a:extLst>
          </p:cNvPr>
          <p:cNvSpPr txBox="1"/>
          <p:nvPr/>
        </p:nvSpPr>
        <p:spPr>
          <a:xfrm>
            <a:off x="5925535" y="5504910"/>
            <a:ext cx="138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은닉 층</a:t>
            </a:r>
            <a:r>
              <a:rPr kumimoji="1" lang="en-US" altLang="ko-KR" sz="1400" dirty="0"/>
              <a:t> 1</a:t>
            </a:r>
          </a:p>
          <a:p>
            <a:pPr algn="ctr"/>
            <a:r>
              <a:rPr kumimoji="1" lang="en-US" altLang="ko-KR" sz="1400" dirty="0"/>
              <a:t>(Hidden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 1)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79EA57E-E052-86E6-6D40-CF40F80EE338}"/>
              </a:ext>
            </a:extLst>
          </p:cNvPr>
          <p:cNvSpPr txBox="1"/>
          <p:nvPr/>
        </p:nvSpPr>
        <p:spPr>
          <a:xfrm>
            <a:off x="7947521" y="5504910"/>
            <a:ext cx="138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은닉 층</a:t>
            </a:r>
            <a:r>
              <a:rPr kumimoji="1" lang="en-US" altLang="ko-KR" sz="1400" dirty="0"/>
              <a:t> 2</a:t>
            </a:r>
          </a:p>
          <a:p>
            <a:pPr algn="ctr"/>
            <a:r>
              <a:rPr kumimoji="1" lang="en-US" altLang="ko-KR" sz="1400" dirty="0"/>
              <a:t>(Hidden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 2)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CB7060E-E7D5-F579-F755-4BD1F144F693}"/>
              </a:ext>
            </a:extLst>
          </p:cNvPr>
          <p:cNvSpPr txBox="1"/>
          <p:nvPr/>
        </p:nvSpPr>
        <p:spPr>
          <a:xfrm>
            <a:off x="9893333" y="5502695"/>
            <a:ext cx="13892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dirty="0"/>
              <a:t>출력 층</a:t>
            </a:r>
            <a:endParaRPr kumimoji="1" lang="en-US" altLang="ko-KR" sz="1400" dirty="0"/>
          </a:p>
          <a:p>
            <a:pPr algn="ctr"/>
            <a:r>
              <a:rPr kumimoji="1" lang="en-US" altLang="ko-KR" sz="1400" dirty="0"/>
              <a:t>(Output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Layer)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C9396CD-08C9-5B2C-311F-E49544EDAF2C}"/>
                  </a:ext>
                </a:extLst>
              </p:cNvPr>
              <p:cNvSpPr txBox="1"/>
              <p:nvPr/>
            </p:nvSpPr>
            <p:spPr>
              <a:xfrm>
                <a:off x="831759" y="2023735"/>
                <a:ext cx="2634632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= 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, 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C9396CD-08C9-5B2C-311F-E49544EDA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2023735"/>
                <a:ext cx="2634632" cy="823110"/>
              </a:xfrm>
              <a:prstGeom prst="rect">
                <a:avLst/>
              </a:prstGeom>
              <a:blipFill>
                <a:blip r:embed="rId3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1F73080-BD29-3CBF-7EEF-0CB83CD0ADC2}"/>
                  </a:ext>
                </a:extLst>
              </p:cNvPr>
              <p:cNvSpPr txBox="1"/>
              <p:nvPr/>
            </p:nvSpPr>
            <p:spPr>
              <a:xfrm>
                <a:off x="831759" y="3069352"/>
                <a:ext cx="2957861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, 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1F73080-BD29-3CBF-7EEF-0CB83CD0A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3069352"/>
                <a:ext cx="2957861" cy="823110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374706F-4434-9A6E-3022-FD480541CE78}"/>
                  </a:ext>
                </a:extLst>
              </p:cNvPr>
              <p:cNvSpPr txBox="1"/>
              <p:nvPr/>
            </p:nvSpPr>
            <p:spPr>
              <a:xfrm>
                <a:off x="831759" y="5151738"/>
                <a:ext cx="2754280" cy="6473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(∙) 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ReLU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은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닉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층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(∙) =</m:t>
                      </m:r>
                      <m:r>
                        <m:rPr>
                          <m:sty m:val="p"/>
                        </m:rP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Softmax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력</m:t>
                      </m:r>
                      <m:r>
                        <a:rPr kumimoji="1" lang="ko-KR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ko-KR" altLang="en-US" i="1" smtClean="0">
                          <a:latin typeface="Cambria Math" panose="02040503050406030204" pitchFamily="18" charset="0"/>
                        </a:rPr>
                        <m:t>층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9374706F-4434-9A6E-3022-FD480541C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5151738"/>
                <a:ext cx="2754280" cy="647357"/>
              </a:xfrm>
              <a:prstGeom prst="rect">
                <a:avLst/>
              </a:prstGeom>
              <a:blipFill>
                <a:blip r:embed="rId5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0F8FAD2-6758-0B73-F188-0ECA71764B6C}"/>
                  </a:ext>
                </a:extLst>
              </p:cNvPr>
              <p:cNvSpPr txBox="1"/>
              <p:nvPr/>
            </p:nvSpPr>
            <p:spPr>
              <a:xfrm>
                <a:off x="3243649" y="1200625"/>
                <a:ext cx="4812151" cy="82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∙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20F8FAD2-6758-0B73-F188-0ECA71764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649" y="1200625"/>
                <a:ext cx="4812151" cy="823110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24E5FC3-CADE-000D-E9CB-D831BF977976}"/>
                  </a:ext>
                </a:extLst>
              </p:cNvPr>
              <p:cNvSpPr txBox="1"/>
              <p:nvPr/>
            </p:nvSpPr>
            <p:spPr>
              <a:xfrm>
                <a:off x="831759" y="4109647"/>
                <a:ext cx="2973506" cy="55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, 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24E5FC3-CADE-000D-E9CB-D831BF977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59" y="4109647"/>
                <a:ext cx="2973506" cy="554254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타원 153">
            <a:extLst>
              <a:ext uri="{FF2B5EF4-FFF2-40B4-BE49-F238E27FC236}">
                <a16:creationId xmlns:a16="http://schemas.microsoft.com/office/drawing/2014/main" id="{B018C7BE-4ECB-485E-3F54-C84EEEE8DF21}"/>
              </a:ext>
            </a:extLst>
          </p:cNvPr>
          <p:cNvSpPr/>
          <p:nvPr/>
        </p:nvSpPr>
        <p:spPr>
          <a:xfrm>
            <a:off x="10227941" y="2808616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5CF641FF-8407-BF76-BD9A-DDF64EB1B56F}"/>
              </a:ext>
            </a:extLst>
          </p:cNvPr>
          <p:cNvSpPr/>
          <p:nvPr/>
        </p:nvSpPr>
        <p:spPr>
          <a:xfrm>
            <a:off x="10227941" y="4009775"/>
            <a:ext cx="720000" cy="72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C1BFB1A8-68CB-A93B-D47D-F71586EABDDD}"/>
              </a:ext>
            </a:extLst>
          </p:cNvPr>
          <p:cNvCxnSpPr>
            <a:cxnSpLocks/>
            <a:stCxn id="10" idx="6"/>
            <a:endCxn id="155" idx="2"/>
          </p:cNvCxnSpPr>
          <p:nvPr/>
        </p:nvCxnSpPr>
        <p:spPr>
          <a:xfrm flipV="1">
            <a:off x="9002129" y="4369775"/>
            <a:ext cx="1225812" cy="57021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DCE4A5EB-2ABA-A3C4-637E-8C86E8B79710}"/>
              </a:ext>
            </a:extLst>
          </p:cNvPr>
          <p:cNvCxnSpPr>
            <a:cxnSpLocks/>
            <a:stCxn id="11" idx="6"/>
            <a:endCxn id="155" idx="2"/>
          </p:cNvCxnSpPr>
          <p:nvPr/>
        </p:nvCxnSpPr>
        <p:spPr>
          <a:xfrm>
            <a:off x="9002129" y="3803941"/>
            <a:ext cx="1225812" cy="56583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FB12D70A-403B-21E4-1D84-663B71A04CA0}"/>
              </a:ext>
            </a:extLst>
          </p:cNvPr>
          <p:cNvCxnSpPr>
            <a:cxnSpLocks/>
            <a:stCxn id="9" idx="6"/>
            <a:endCxn id="155" idx="2"/>
          </p:cNvCxnSpPr>
          <p:nvPr/>
        </p:nvCxnSpPr>
        <p:spPr>
          <a:xfrm>
            <a:off x="9002129" y="2667889"/>
            <a:ext cx="1225812" cy="17018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0209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7752-2CA5-8615-DCF5-69A7E3E2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CBB0A-6F6D-9A77-98A0-3EE07ED4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45" y="246888"/>
            <a:ext cx="10872216" cy="749808"/>
          </a:xfrm>
        </p:spPr>
        <p:txBody>
          <a:bodyPr>
            <a:normAutofit/>
          </a:bodyPr>
          <a:lstStyle/>
          <a:p>
            <a:r>
              <a:rPr kumimoji="1" lang="en-US" altLang="ko-KR" sz="4000" dirty="0"/>
              <a:t>Multi-Layer Perceptron</a:t>
            </a:r>
            <a:endParaRPr kumimoji="1" lang="ko-KR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989F40-6FBB-493B-569C-B170403CA14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ko-KR" altLang="en-US" sz="2000" dirty="0" err="1"/>
                  <a:t>교차엔트로피</a:t>
                </a:r>
                <a:r>
                  <a:rPr kumimoji="1" lang="ko-KR" altLang="en-US" sz="2000" dirty="0"/>
                  <a:t> 손실 계산 </a:t>
                </a:r>
                <a:r>
                  <a:rPr kumimoji="1" lang="en-US" altLang="ko-KR" sz="2000" dirty="0"/>
                  <a:t>(Cross-Entropy Loss)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7"/>
                            </m:rPr>
                            <a:rPr kumimoji="1" lang="en-US" altLang="ko-KR" sz="2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func>
                            <m:funcPr>
                              <m:ctrlPr>
                                <a:rPr kumimoji="1"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ko-KR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kumimoji="1" lang="en-US" altLang="ko-KR" sz="24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kumimoji="1" lang="en-US" altLang="ko-K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 ←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 − 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den>
                      </m:f>
                      <m:r>
                        <m:rPr>
                          <m:nor/>
                        </m:rPr>
                        <a:rPr lang="en" altLang="ko-KR" sz="240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 ←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 − </m:t>
                      </m:r>
                      <m:r>
                        <m:rPr>
                          <m:nor/>
                        </m:rPr>
                        <a:rPr lang="en" altLang="ko-KR" sz="2400" i="0" smtClean="0">
                          <a:latin typeface="Cambria Math" panose="02040503050406030204" pitchFamily="18" charset="0"/>
                        </a:rPr>
                        <m:t>η</m:t>
                      </m:r>
                      <m:f>
                        <m:fPr>
                          <m:ctrlPr>
                            <a:rPr lang="en" altLang="ko-K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" altLang="ko-KR" sz="240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den>
                      </m:f>
                    </m:oMath>
                  </m:oMathPara>
                </a14:m>
                <a:endParaRPr kumimoji="1" lang="en-US" altLang="ko-KR" sz="24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kumimoji="1"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정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답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결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000" b="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 smtClean="0">
                        <a:latin typeface="Cambria Math" panose="02040503050406030204" pitchFamily="18" charset="0"/>
                      </a:rPr>
                      <m:t>예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측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결과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" altLang="ko-KR" sz="2000" smtClean="0">
                        <a:latin typeface="Cambria Math" panose="02040503050406030204" pitchFamily="18" charset="0"/>
                      </a:rPr>
                      <m:t>η</m:t>
                    </m:r>
                    <m:r>
                      <m:rPr>
                        <m:nor/>
                      </m:rPr>
                      <a:rPr lang="en-US" altLang="ko-KR" sz="20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학</m:t>
                    </m:r>
                    <m:r>
                      <a:rPr lang="ko-KR" altLang="en-US" sz="2000" i="1">
                        <a:latin typeface="Cambria Math" panose="02040503050406030204" pitchFamily="18" charset="0"/>
                      </a:rPr>
                      <m:t>습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률</m:t>
                    </m:r>
                  </m:oMath>
                </a14:m>
                <a:endParaRPr kumimoji="1" lang="en-US" altLang="ko-KR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</a:rPr>
                      <m:t>: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최종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클래스의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ko-KR" altLang="en-US" sz="2000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endParaRPr kumimoji="1" lang="en-US" altLang="ko-KR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989F40-6FBB-493B-569C-B170403CA1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1783080" y="1399032"/>
                <a:ext cx="7772400" cy="4837176"/>
              </a:xfrm>
              <a:blipFill>
                <a:blip r:embed="rId3"/>
                <a:stretch>
                  <a:fillRect l="-863" t="-2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7431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553BF-45A6-DB8E-3A48-BC11CB36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971" y="501136"/>
            <a:ext cx="10872216" cy="74980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학습 파라미터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4C43C01-3904-BFAE-3962-0D8500B9BF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754143"/>
              </p:ext>
            </p:extLst>
          </p:nvPr>
        </p:nvGraphicFramePr>
        <p:xfrm>
          <a:off x="612648" y="3224814"/>
          <a:ext cx="9994391" cy="281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6749">
                  <a:extLst>
                    <a:ext uri="{9D8B030D-6E8A-4147-A177-3AD203B41FA5}">
                      <a16:colId xmlns:a16="http://schemas.microsoft.com/office/drawing/2014/main" val="2285491562"/>
                    </a:ext>
                  </a:extLst>
                </a:gridCol>
                <a:gridCol w="4163084">
                  <a:extLst>
                    <a:ext uri="{9D8B030D-6E8A-4147-A177-3AD203B41FA5}">
                      <a16:colId xmlns:a16="http://schemas.microsoft.com/office/drawing/2014/main" val="2092944145"/>
                    </a:ext>
                  </a:extLst>
                </a:gridCol>
                <a:gridCol w="2914558">
                  <a:extLst>
                    <a:ext uri="{9D8B030D-6E8A-4147-A177-3AD203B41FA5}">
                      <a16:colId xmlns:a16="http://schemas.microsoft.com/office/drawing/2014/main" val="2871585221"/>
                    </a:ext>
                  </a:extLst>
                </a:gridCol>
              </a:tblGrid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 구분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 err="1">
                          <a:solidFill>
                            <a:schemeClr val="tx1"/>
                          </a:solidFill>
                        </a:rPr>
                        <a:t>하이퍼파라미터</a:t>
                      </a:r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 리스트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solidFill>
                            <a:schemeClr val="tx1"/>
                          </a:solidFill>
                        </a:rPr>
                        <a:t>최종 선정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67144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Batch size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[16, 32, 64, 128]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32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43340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Dropout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[0.1, 0.2, 0.3, 0.4, 0.5]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0.1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9222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Patience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[10, 15, 20, 30]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20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581953"/>
                  </a:ext>
                </a:extLst>
              </a:tr>
              <a:tr h="5628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/>
                        <a:t>Activation</a:t>
                      </a:r>
                      <a:endParaRPr lang="ko-KR" altLang="en-US" sz="20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/>
                        <a:t>[</a:t>
                      </a:r>
                      <a:r>
                        <a:rPr lang="en-US" altLang="ko-KR" sz="2000" dirty="0" err="1"/>
                        <a:t>Relu</a:t>
                      </a:r>
                      <a:r>
                        <a:rPr lang="en-US" altLang="ko-KR" sz="2000" dirty="0"/>
                        <a:t>, Sigmoid, </a:t>
                      </a:r>
                      <a:r>
                        <a:rPr lang="en-US" altLang="ko-KR" sz="2000" dirty="0" err="1"/>
                        <a:t>Softmax</a:t>
                      </a:r>
                      <a:r>
                        <a:rPr lang="en-US" altLang="ko-KR" sz="2000" dirty="0"/>
                        <a:t>, </a:t>
                      </a:r>
                      <a:r>
                        <a:rPr lang="en-US" altLang="ko-KR" sz="2000" dirty="0" err="1"/>
                        <a:t>BatchNorm</a:t>
                      </a:r>
                      <a:r>
                        <a:rPr lang="en-US" altLang="ko-KR" sz="2000" dirty="0"/>
                        <a:t>]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dirty="0" err="1"/>
                        <a:t>Softmax</a:t>
                      </a:r>
                      <a:endParaRPr lang="ko-KR" altLang="en-US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0783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5D53BF1-9E70-02A1-AD18-4756D8DCEADD}"/>
              </a:ext>
            </a:extLst>
          </p:cNvPr>
          <p:cNvSpPr txBox="1"/>
          <p:nvPr/>
        </p:nvSpPr>
        <p:spPr>
          <a:xfrm>
            <a:off x="612647" y="1671275"/>
            <a:ext cx="9994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승패예측 모델을 개발하는 과정에서 통상적으로 사용되는 기법들을 수정 및 보완 적용하며</a:t>
            </a:r>
            <a:r>
              <a:rPr lang="en-US" altLang="ko-KR" sz="2400" dirty="0"/>
              <a:t>, </a:t>
            </a:r>
            <a:r>
              <a:rPr lang="ko-KR" altLang="en-US" sz="2400" dirty="0"/>
              <a:t>가장 성능이 좋게 나오는 조합으로 선정하였다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076992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D2858-BF79-BE3C-7A26-0643FDEC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51" y="520213"/>
            <a:ext cx="10872216" cy="74980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모델 </a:t>
            </a:r>
            <a:r>
              <a:rPr lang="ko-KR" altLang="en-US" sz="4000" dirty="0" err="1"/>
              <a:t>아키텍쳐</a:t>
            </a:r>
            <a:endParaRPr lang="ko-KR" altLang="en-US" sz="40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CCF49B8-1673-5B3F-9AF8-30EF025F81FA}"/>
              </a:ext>
            </a:extLst>
          </p:cNvPr>
          <p:cNvSpPr/>
          <p:nvPr/>
        </p:nvSpPr>
        <p:spPr>
          <a:xfrm>
            <a:off x="821688" y="3610557"/>
            <a:ext cx="2094271" cy="26325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C62552D-228E-BA31-533D-8FA6FC084500}"/>
              </a:ext>
            </a:extLst>
          </p:cNvPr>
          <p:cNvSpPr/>
          <p:nvPr/>
        </p:nvSpPr>
        <p:spPr>
          <a:xfrm>
            <a:off x="1026204" y="3085626"/>
            <a:ext cx="1685233" cy="93467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C4C086-8828-68C3-A3B7-A683F1A372DE}"/>
              </a:ext>
            </a:extLst>
          </p:cNvPr>
          <p:cNvSpPr txBox="1"/>
          <p:nvPr/>
        </p:nvSpPr>
        <p:spPr>
          <a:xfrm>
            <a:off x="1250348" y="3386157"/>
            <a:ext cx="1573161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2"/>
                </a:solidFill>
              </a:rPr>
              <a:t>Input layer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ECD07A2-C7B5-A1DF-2FBF-B6E1A64427BC}"/>
              </a:ext>
            </a:extLst>
          </p:cNvPr>
          <p:cNvSpPr/>
          <p:nvPr/>
        </p:nvSpPr>
        <p:spPr>
          <a:xfrm>
            <a:off x="3563052" y="3610557"/>
            <a:ext cx="2094271" cy="26325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F5137B2-3C56-32C4-D89D-52689EA20253}"/>
              </a:ext>
            </a:extLst>
          </p:cNvPr>
          <p:cNvSpPr/>
          <p:nvPr/>
        </p:nvSpPr>
        <p:spPr>
          <a:xfrm>
            <a:off x="3767567" y="3085626"/>
            <a:ext cx="1685233" cy="9379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F38AB-43BA-42B4-3998-937DABE2C73E}"/>
              </a:ext>
            </a:extLst>
          </p:cNvPr>
          <p:cNvSpPr txBox="1"/>
          <p:nvPr/>
        </p:nvSpPr>
        <p:spPr>
          <a:xfrm>
            <a:off x="3916650" y="3364980"/>
            <a:ext cx="1573161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2"/>
                </a:solidFill>
              </a:rPr>
              <a:t>Hidden layer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6E79205-468E-2F1C-2DB9-AD2FD627F851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915959" y="4926851"/>
            <a:ext cx="647093" cy="0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E8390EF-B6F0-61DA-A8BD-0C4D3039840A}"/>
              </a:ext>
            </a:extLst>
          </p:cNvPr>
          <p:cNvSpPr/>
          <p:nvPr/>
        </p:nvSpPr>
        <p:spPr>
          <a:xfrm>
            <a:off x="6304410" y="3610557"/>
            <a:ext cx="2094271" cy="26325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659B000-D445-E6F8-CFAC-D68355EEA651}"/>
              </a:ext>
            </a:extLst>
          </p:cNvPr>
          <p:cNvSpPr/>
          <p:nvPr/>
        </p:nvSpPr>
        <p:spPr>
          <a:xfrm>
            <a:off x="6508926" y="3085627"/>
            <a:ext cx="1685233" cy="93467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815F2C-24F1-8807-0F36-77FCA4DE75AC}"/>
              </a:ext>
            </a:extLst>
          </p:cNvPr>
          <p:cNvSpPr txBox="1"/>
          <p:nvPr/>
        </p:nvSpPr>
        <p:spPr>
          <a:xfrm>
            <a:off x="6629997" y="3364980"/>
            <a:ext cx="1573161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bg2"/>
                </a:solidFill>
              </a:rPr>
              <a:t>Hidden layer</a:t>
            </a:r>
            <a:endParaRPr lang="ko-KR" altLang="en-US" b="1" dirty="0">
              <a:solidFill>
                <a:schemeClr val="bg2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1997AF7-01EA-C316-99F7-E4F52DD08DC7}"/>
              </a:ext>
            </a:extLst>
          </p:cNvPr>
          <p:cNvSpPr/>
          <p:nvPr/>
        </p:nvSpPr>
        <p:spPr>
          <a:xfrm>
            <a:off x="9045774" y="3610557"/>
            <a:ext cx="2094271" cy="26325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2ADF00E-BDF9-D193-2BE6-8066EB312ACC}"/>
              </a:ext>
            </a:extLst>
          </p:cNvPr>
          <p:cNvSpPr/>
          <p:nvPr/>
        </p:nvSpPr>
        <p:spPr>
          <a:xfrm>
            <a:off x="9250290" y="3085626"/>
            <a:ext cx="1685233" cy="93467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95BF5-6B83-D176-377A-7C427E1DB8CF}"/>
              </a:ext>
            </a:extLst>
          </p:cNvPr>
          <p:cNvSpPr txBox="1"/>
          <p:nvPr/>
        </p:nvSpPr>
        <p:spPr>
          <a:xfrm>
            <a:off x="9417796" y="3362411"/>
            <a:ext cx="1472227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Output layer</a:t>
            </a:r>
            <a:endParaRPr lang="ko-KR" altLang="en-US" b="1" dirty="0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D9C586A-3302-392B-230D-55F06B423DA2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8398681" y="4926851"/>
            <a:ext cx="647093" cy="0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9E3DC7B-1E3F-C5E0-DA5C-57D2562B404C}"/>
              </a:ext>
            </a:extLst>
          </p:cNvPr>
          <p:cNvCxnSpPr>
            <a:cxnSpLocks/>
          </p:cNvCxnSpPr>
          <p:nvPr/>
        </p:nvCxnSpPr>
        <p:spPr>
          <a:xfrm>
            <a:off x="5657317" y="4924350"/>
            <a:ext cx="647093" cy="0"/>
          </a:xfrm>
          <a:prstGeom prst="straightConnector1">
            <a:avLst/>
          </a:prstGeom>
          <a:ln>
            <a:solidFill>
              <a:schemeClr val="tx2"/>
            </a:solidFill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A339620-3832-936B-0A69-391C86A2A19C}"/>
              </a:ext>
            </a:extLst>
          </p:cNvPr>
          <p:cNvSpPr txBox="1"/>
          <p:nvPr/>
        </p:nvSpPr>
        <p:spPr>
          <a:xfrm>
            <a:off x="1127144" y="3835435"/>
            <a:ext cx="14833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21-22</a:t>
            </a:r>
          </a:p>
          <a:p>
            <a:pPr algn="ctr"/>
            <a:r>
              <a:rPr lang="en-US" altLang="ko-KR" b="1" dirty="0"/>
              <a:t>22-23</a:t>
            </a:r>
          </a:p>
          <a:p>
            <a:pPr algn="ctr"/>
            <a:r>
              <a:rPr lang="en-US" altLang="ko-KR" b="1" dirty="0"/>
              <a:t>23-24</a:t>
            </a:r>
          </a:p>
          <a:p>
            <a:pPr algn="ctr"/>
            <a:r>
              <a:rPr lang="en-US" altLang="ko-KR" b="1" dirty="0"/>
              <a:t>24-25</a:t>
            </a:r>
          </a:p>
          <a:p>
            <a:pPr algn="ctr"/>
            <a:r>
              <a:rPr lang="en-US" altLang="ko-KR" b="1" dirty="0"/>
              <a:t>Game data</a:t>
            </a:r>
          </a:p>
          <a:p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A27E54-1A5E-30DE-1828-A8FCC609C643}"/>
              </a:ext>
            </a:extLst>
          </p:cNvPr>
          <p:cNvSpPr txBox="1"/>
          <p:nvPr/>
        </p:nvSpPr>
        <p:spPr>
          <a:xfrm>
            <a:off x="3868504" y="4020306"/>
            <a:ext cx="1483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120 Neurons</a:t>
            </a:r>
          </a:p>
          <a:p>
            <a:pPr algn="ctr"/>
            <a:r>
              <a:rPr lang="en-US" altLang="ko-KR" b="1" dirty="0" err="1"/>
              <a:t>BatchNorm</a:t>
            </a:r>
            <a:endParaRPr lang="en-US" altLang="ko-KR" b="1" dirty="0"/>
          </a:p>
          <a:p>
            <a:pPr algn="ctr"/>
            <a:r>
              <a:rPr lang="en-US" altLang="ko-KR" b="1" dirty="0"/>
              <a:t>Sigmoid</a:t>
            </a:r>
          </a:p>
          <a:p>
            <a:pPr algn="ctr"/>
            <a:r>
              <a:rPr lang="en-US" altLang="ko-KR" b="1" dirty="0"/>
              <a:t>Dropout 0.1</a:t>
            </a:r>
          </a:p>
          <a:p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CCCD63-6BAA-BC43-EAF6-ED93E6803061}"/>
              </a:ext>
            </a:extLst>
          </p:cNvPr>
          <p:cNvSpPr txBox="1"/>
          <p:nvPr/>
        </p:nvSpPr>
        <p:spPr>
          <a:xfrm>
            <a:off x="6609866" y="4020306"/>
            <a:ext cx="14833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60 Neurons</a:t>
            </a:r>
          </a:p>
          <a:p>
            <a:pPr algn="ctr"/>
            <a:r>
              <a:rPr lang="en-US" altLang="ko-KR" b="1" dirty="0" err="1"/>
              <a:t>BatchNorm</a:t>
            </a:r>
            <a:endParaRPr lang="en-US" altLang="ko-KR" b="1" dirty="0"/>
          </a:p>
          <a:p>
            <a:pPr algn="ctr"/>
            <a:r>
              <a:rPr lang="en-US" altLang="ko-KR" b="1" dirty="0"/>
              <a:t>Sigmoid</a:t>
            </a:r>
          </a:p>
          <a:p>
            <a:pPr algn="ctr"/>
            <a:r>
              <a:rPr lang="en-US" altLang="ko-KR" b="1" dirty="0"/>
              <a:t>Dropout 0.1</a:t>
            </a:r>
          </a:p>
          <a:p>
            <a:pPr algn="ctr"/>
            <a:endParaRPr lang="en-US" altLang="ko-KR" b="1" dirty="0"/>
          </a:p>
          <a:p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D743FF-C128-62CC-279A-FC48CEC87AC6}"/>
              </a:ext>
            </a:extLst>
          </p:cNvPr>
          <p:cNvSpPr txBox="1"/>
          <p:nvPr/>
        </p:nvSpPr>
        <p:spPr>
          <a:xfrm>
            <a:off x="9351229" y="4110651"/>
            <a:ext cx="1483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b="1" dirty="0"/>
          </a:p>
          <a:p>
            <a:pPr algn="ctr"/>
            <a:r>
              <a:rPr lang="en-US" altLang="ko-KR" b="1" dirty="0"/>
              <a:t>2 Neurons</a:t>
            </a:r>
          </a:p>
          <a:p>
            <a:pPr algn="ctr"/>
            <a:endParaRPr lang="en-US" altLang="ko-KR" b="1" dirty="0"/>
          </a:p>
          <a:p>
            <a:pPr algn="ctr"/>
            <a:r>
              <a:rPr lang="en-US" altLang="ko-KR" b="1" dirty="0" err="1"/>
              <a:t>Softmax</a:t>
            </a:r>
            <a:endParaRPr lang="en-US" altLang="ko-KR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05524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9A4A4-F487-78B5-491E-E91CDA08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절차 </a:t>
            </a:r>
            <a:r>
              <a:rPr lang="en-US" altLang="ko-KR" dirty="0"/>
              <a:t>2.4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6399F1-4101-B5EB-A3A5-884EE2AA7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데이터 수집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승패 예측 모델 개발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실시간 승패 예측 시스템 개발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개발된 시스템 타당도 및 성능검증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26870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57DD2F-D2B4-7730-5FA0-54CC8E78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9" y="437673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결과 </a:t>
            </a:r>
            <a:br>
              <a:rPr lang="en-US" altLang="ko-KR" sz="3600" dirty="0"/>
            </a:br>
            <a:r>
              <a:rPr lang="en-US" altLang="ko-KR" sz="3600" dirty="0"/>
              <a:t> </a:t>
            </a:r>
            <a:r>
              <a:rPr lang="en-US" altLang="ko-KR" dirty="0"/>
              <a:t>MLP </a:t>
            </a:r>
            <a:r>
              <a:rPr lang="ko-KR" altLang="en-US" sz="2800" dirty="0"/>
              <a:t>알고리즘을</a:t>
            </a:r>
            <a:r>
              <a:rPr lang="ko-KR" altLang="en-US" dirty="0"/>
              <a:t> </a:t>
            </a:r>
            <a:r>
              <a:rPr lang="ko-KR" altLang="en-US" sz="2800" dirty="0"/>
              <a:t>활용한 모델 학습 결과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038F8C5-881E-A8A8-F5B0-0B9EBB574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378196"/>
              </p:ext>
            </p:extLst>
          </p:nvPr>
        </p:nvGraphicFramePr>
        <p:xfrm>
          <a:off x="808367" y="2315384"/>
          <a:ext cx="7424322" cy="124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774">
                  <a:extLst>
                    <a:ext uri="{9D8B030D-6E8A-4147-A177-3AD203B41FA5}">
                      <a16:colId xmlns:a16="http://schemas.microsoft.com/office/drawing/2014/main" val="2285491562"/>
                    </a:ext>
                  </a:extLst>
                </a:gridCol>
                <a:gridCol w="2474774">
                  <a:extLst>
                    <a:ext uri="{9D8B030D-6E8A-4147-A177-3AD203B41FA5}">
                      <a16:colId xmlns:a16="http://schemas.microsoft.com/office/drawing/2014/main" val="2092944145"/>
                    </a:ext>
                  </a:extLst>
                </a:gridCol>
                <a:gridCol w="2474774">
                  <a:extLst>
                    <a:ext uri="{9D8B030D-6E8A-4147-A177-3AD203B41FA5}">
                      <a16:colId xmlns:a16="http://schemas.microsoft.com/office/drawing/2014/main" val="2871585221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Loss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67144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Train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4334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Validation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922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59C3FB6-3E7B-9277-7866-507FEE4A3FE2}"/>
              </a:ext>
            </a:extLst>
          </p:cNvPr>
          <p:cNvSpPr txBox="1"/>
          <p:nvPr/>
        </p:nvSpPr>
        <p:spPr>
          <a:xfrm>
            <a:off x="387811" y="1551377"/>
            <a:ext cx="10091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과적합을 방지하기 위해 </a:t>
            </a:r>
            <a:r>
              <a:rPr lang="en-US" altLang="ko-KR" sz="2000" dirty="0" err="1"/>
              <a:t>EarlyStopping</a:t>
            </a:r>
            <a:r>
              <a:rPr lang="ko-KR" altLang="en-US" sz="2000" dirty="0"/>
              <a:t>과 </a:t>
            </a:r>
            <a:r>
              <a:rPr lang="en-US" altLang="ko-KR" sz="2000" dirty="0"/>
              <a:t>drop out </a:t>
            </a:r>
            <a:r>
              <a:rPr lang="ko-KR" altLang="en-US" sz="2000" dirty="0"/>
              <a:t>적용하여 모델의 </a:t>
            </a:r>
            <a:r>
              <a:rPr lang="en-US" altLang="ko-KR" sz="2000" dirty="0"/>
              <a:t>Epoch</a:t>
            </a:r>
            <a:r>
              <a:rPr lang="ko-KR" altLang="en-US" sz="2000" dirty="0"/>
              <a:t>를 설정하였다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7" name="그림 6" descr="텍스트, 그래프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7F0DD6-60DB-639B-D7D8-7A5CD64E6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549" y="3654437"/>
            <a:ext cx="4069812" cy="3052359"/>
          </a:xfrm>
          <a:prstGeom prst="rect">
            <a:avLst/>
          </a:prstGeom>
        </p:spPr>
      </p:pic>
      <p:pic>
        <p:nvPicPr>
          <p:cNvPr id="10" name="그림 9" descr="텍스트, 그래프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F307AE-D4CB-4EB6-67BD-009BCA90A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99" y="3654437"/>
            <a:ext cx="4069812" cy="305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087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65861-8D6D-B1FC-2269-CD8014D3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DF457-E415-250F-1B1E-45CC1E3AC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9" y="437673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sz="4000" dirty="0"/>
              <a:t>연구 결과 </a:t>
            </a:r>
            <a:br>
              <a:rPr lang="en-US" altLang="ko-KR" sz="3600" dirty="0"/>
            </a:br>
            <a:r>
              <a:rPr lang="en-US" altLang="ko-KR" sz="3600" dirty="0"/>
              <a:t> </a:t>
            </a:r>
            <a:r>
              <a:rPr lang="en-US" altLang="ko-KR" dirty="0"/>
              <a:t>MLP </a:t>
            </a:r>
            <a:r>
              <a:rPr lang="ko-KR" altLang="en-US" sz="2800" dirty="0"/>
              <a:t>알고리즘을</a:t>
            </a:r>
            <a:r>
              <a:rPr lang="ko-KR" altLang="en-US" dirty="0"/>
              <a:t> </a:t>
            </a:r>
            <a:r>
              <a:rPr lang="ko-KR" altLang="en-US" sz="2800" dirty="0"/>
              <a:t>활용한 모델 학습 결과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20AB7D2-C0E0-EF33-614F-78A0FBFD6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106716"/>
              </p:ext>
            </p:extLst>
          </p:nvPr>
        </p:nvGraphicFramePr>
        <p:xfrm>
          <a:off x="643861" y="2187565"/>
          <a:ext cx="7824798" cy="166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266">
                  <a:extLst>
                    <a:ext uri="{9D8B030D-6E8A-4147-A177-3AD203B41FA5}">
                      <a16:colId xmlns:a16="http://schemas.microsoft.com/office/drawing/2014/main" val="2285491562"/>
                    </a:ext>
                  </a:extLst>
                </a:gridCol>
                <a:gridCol w="2608266">
                  <a:extLst>
                    <a:ext uri="{9D8B030D-6E8A-4147-A177-3AD203B41FA5}">
                      <a16:colId xmlns:a16="http://schemas.microsoft.com/office/drawing/2014/main" val="2092944145"/>
                    </a:ext>
                  </a:extLst>
                </a:gridCol>
                <a:gridCol w="2608266">
                  <a:extLst>
                    <a:ext uri="{9D8B030D-6E8A-4147-A177-3AD203B41FA5}">
                      <a16:colId xmlns:a16="http://schemas.microsoft.com/office/drawing/2014/main" val="2871585221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Result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Loss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067144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Train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0.9682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0.0897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94334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Validation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0.9259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0.1155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509222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Test</a:t>
                      </a:r>
                      <a:endParaRPr lang="ko-KR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0.9537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0.0850</a:t>
                      </a:r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9855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2DCE8F7-557C-E6C9-2207-BAE8ACD57CD8}"/>
              </a:ext>
            </a:extLst>
          </p:cNvPr>
          <p:cNvSpPr txBox="1"/>
          <p:nvPr/>
        </p:nvSpPr>
        <p:spPr>
          <a:xfrm>
            <a:off x="387811" y="1551377"/>
            <a:ext cx="10091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과적합을 방지하기 위해 </a:t>
            </a:r>
            <a:r>
              <a:rPr lang="en-US" altLang="ko-KR" sz="2000" dirty="0" err="1"/>
              <a:t>EarlyStopping</a:t>
            </a:r>
            <a:r>
              <a:rPr lang="ko-KR" altLang="en-US" sz="2000" dirty="0"/>
              <a:t>과 </a:t>
            </a:r>
            <a:r>
              <a:rPr lang="en-US" altLang="ko-KR" sz="2000" dirty="0"/>
              <a:t>drop out </a:t>
            </a:r>
            <a:r>
              <a:rPr lang="ko-KR" altLang="en-US" sz="2000" dirty="0"/>
              <a:t>적용하여 모델의 </a:t>
            </a:r>
            <a:r>
              <a:rPr lang="en-US" altLang="ko-KR" sz="2000" dirty="0"/>
              <a:t>Epoch</a:t>
            </a:r>
            <a:r>
              <a:rPr lang="ko-KR" altLang="en-US" sz="2000" dirty="0"/>
              <a:t>를 설정하였다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6" name="그림 5" descr="텍스트, 라인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C6396D-0506-D10F-636A-D844BDA24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61" y="3945996"/>
            <a:ext cx="3847116" cy="2885337"/>
          </a:xfrm>
          <a:prstGeom prst="rect">
            <a:avLst/>
          </a:prstGeom>
        </p:spPr>
      </p:pic>
      <p:pic>
        <p:nvPicPr>
          <p:cNvPr id="8" name="그림 7" descr="텍스트, 그래프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51453D-550C-8B3D-4937-6A2ABA475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977" y="3945995"/>
            <a:ext cx="3847116" cy="288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813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762B28-4BE1-6A96-2B87-7E4CA079B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075E9-762F-55ED-CF81-74E95828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6" y="151204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dirty="0"/>
              <a:t>승패 예측 시스템 성능 검증</a:t>
            </a:r>
            <a:r>
              <a:rPr lang="en-US" altLang="ko-KR" dirty="0"/>
              <a:t>(</a:t>
            </a:r>
            <a:r>
              <a:rPr lang="ko-KR" altLang="en-US" dirty="0"/>
              <a:t>예전버전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43F06D-23DE-7FC0-2281-0AA16F7C7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56" y="1533190"/>
            <a:ext cx="5750052" cy="4405494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76525AC-CFCB-DC8B-56C0-63E4A5FE5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87028"/>
              </p:ext>
            </p:extLst>
          </p:nvPr>
        </p:nvGraphicFramePr>
        <p:xfrm>
          <a:off x="6333194" y="1352382"/>
          <a:ext cx="5334000" cy="306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025">
                  <a:extLst>
                    <a:ext uri="{9D8B030D-6E8A-4147-A177-3AD203B41FA5}">
                      <a16:colId xmlns:a16="http://schemas.microsoft.com/office/drawing/2014/main" val="3777140694"/>
                    </a:ext>
                  </a:extLst>
                </a:gridCol>
                <a:gridCol w="1179070">
                  <a:extLst>
                    <a:ext uri="{9D8B030D-6E8A-4147-A177-3AD203B41FA5}">
                      <a16:colId xmlns:a16="http://schemas.microsoft.com/office/drawing/2014/main" val="2189392625"/>
                    </a:ext>
                  </a:extLst>
                </a:gridCol>
                <a:gridCol w="1684572">
                  <a:extLst>
                    <a:ext uri="{9D8B030D-6E8A-4147-A177-3AD203B41FA5}">
                      <a16:colId xmlns:a16="http://schemas.microsoft.com/office/drawing/2014/main" val="749029015"/>
                    </a:ext>
                  </a:extLst>
                </a:gridCol>
                <a:gridCol w="1680333">
                  <a:extLst>
                    <a:ext uri="{9D8B030D-6E8A-4147-A177-3AD203B41FA5}">
                      <a16:colId xmlns:a16="http://schemas.microsoft.com/office/drawing/2014/main" val="660343506"/>
                    </a:ext>
                  </a:extLst>
                </a:gridCol>
              </a:tblGrid>
              <a:tr h="495443">
                <a:tc rowSpan="2" gridSpan="2">
                  <a:txBody>
                    <a:bodyPr/>
                    <a:lstStyle/>
                    <a:p>
                      <a:pPr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승패예측</a:t>
                      </a:r>
                      <a:r>
                        <a:rPr lang="ko-KR" altLang="en-US" b="1" dirty="0"/>
                        <a:t> 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시스템</a:t>
                      </a: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준거분류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463901"/>
                  </a:ext>
                </a:extLst>
              </a:tr>
              <a:tr h="46542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승</a:t>
                      </a:r>
                      <a:endParaRPr lang="en-US" altLang="ko-KR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패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098937"/>
                  </a:ext>
                </a:extLst>
              </a:tr>
              <a:tr h="1053257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예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측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분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승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진분류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108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오분류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2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972964"/>
                  </a:ext>
                </a:extLst>
              </a:tr>
              <a:tr h="105325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패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오분류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1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진분류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105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0903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ADE349B-A1DC-F719-6201-E8056AD82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939706"/>
              </p:ext>
            </p:extLst>
          </p:nvPr>
        </p:nvGraphicFramePr>
        <p:xfrm>
          <a:off x="6333194" y="4654082"/>
          <a:ext cx="5334000" cy="1556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53566069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600224521"/>
                    </a:ext>
                  </a:extLst>
                </a:gridCol>
              </a:tblGrid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분류정확확률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(Acc)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0.986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657847"/>
                  </a:ext>
                </a:extLst>
              </a:tr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민감도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(Sen)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0.991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20868"/>
                  </a:ext>
                </a:extLst>
              </a:tr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특이도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(Spe)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0.981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73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5302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F80A-C777-8BB9-9517-00287657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EC45F-7E15-B578-0B1E-43BC6391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6" y="151204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dirty="0"/>
              <a:t>승패 예측 시스템 성능 검증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7CDEAF6-D327-9DA1-7215-6530E80E4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23943"/>
              </p:ext>
            </p:extLst>
          </p:nvPr>
        </p:nvGraphicFramePr>
        <p:xfrm>
          <a:off x="6333194" y="1352382"/>
          <a:ext cx="5334000" cy="306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025">
                  <a:extLst>
                    <a:ext uri="{9D8B030D-6E8A-4147-A177-3AD203B41FA5}">
                      <a16:colId xmlns:a16="http://schemas.microsoft.com/office/drawing/2014/main" val="3777140694"/>
                    </a:ext>
                  </a:extLst>
                </a:gridCol>
                <a:gridCol w="1179070">
                  <a:extLst>
                    <a:ext uri="{9D8B030D-6E8A-4147-A177-3AD203B41FA5}">
                      <a16:colId xmlns:a16="http://schemas.microsoft.com/office/drawing/2014/main" val="2189392625"/>
                    </a:ext>
                  </a:extLst>
                </a:gridCol>
                <a:gridCol w="1684572">
                  <a:extLst>
                    <a:ext uri="{9D8B030D-6E8A-4147-A177-3AD203B41FA5}">
                      <a16:colId xmlns:a16="http://schemas.microsoft.com/office/drawing/2014/main" val="749029015"/>
                    </a:ext>
                  </a:extLst>
                </a:gridCol>
                <a:gridCol w="1680333">
                  <a:extLst>
                    <a:ext uri="{9D8B030D-6E8A-4147-A177-3AD203B41FA5}">
                      <a16:colId xmlns:a16="http://schemas.microsoft.com/office/drawing/2014/main" val="660343506"/>
                    </a:ext>
                  </a:extLst>
                </a:gridCol>
              </a:tblGrid>
              <a:tr h="495443">
                <a:tc rowSpan="2" gridSpan="2">
                  <a:txBody>
                    <a:bodyPr/>
                    <a:lstStyle/>
                    <a:p>
                      <a:pPr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승패예측</a:t>
                      </a:r>
                      <a:r>
                        <a:rPr lang="ko-KR" altLang="en-US" b="1" dirty="0"/>
                        <a:t> 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시스템</a:t>
                      </a: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준거분류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463901"/>
                  </a:ext>
                </a:extLst>
              </a:tr>
              <a:tr h="46542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승</a:t>
                      </a:r>
                      <a:endParaRPr lang="en-US" altLang="ko-KR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패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098937"/>
                  </a:ext>
                </a:extLst>
              </a:tr>
              <a:tr h="1053257"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예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측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분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승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진분류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120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오분류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3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972964"/>
                  </a:ext>
                </a:extLst>
              </a:tr>
              <a:tr h="105325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패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오분류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0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 err="1"/>
                        <a:t>진분류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93</a:t>
                      </a:r>
                      <a:r>
                        <a:rPr lang="ko-KR" altLang="en-US" b="1" dirty="0"/>
                        <a:t>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0903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7B51845-CCE6-47E5-E672-DEF3358EC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941037"/>
              </p:ext>
            </p:extLst>
          </p:nvPr>
        </p:nvGraphicFramePr>
        <p:xfrm>
          <a:off x="6333194" y="4654082"/>
          <a:ext cx="5334000" cy="1556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53566069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600224521"/>
                    </a:ext>
                  </a:extLst>
                </a:gridCol>
              </a:tblGrid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tx1"/>
                          </a:solidFill>
                        </a:rPr>
                        <a:t>분류정확확률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(Acc)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0.986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657847"/>
                  </a:ext>
                </a:extLst>
              </a:tr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민감도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(Sen)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0.976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020868"/>
                  </a:ext>
                </a:extLst>
              </a:tr>
              <a:tr h="5187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특이도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(Spe)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</a:rPr>
                        <a:t>1.000</a:t>
                      </a:r>
                      <a:endParaRPr lang="ko-KR" altLang="en-US" b="1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573437"/>
                  </a:ext>
                </a:extLst>
              </a:tr>
            </a:tbl>
          </a:graphicData>
        </a:graphic>
      </p:graphicFrame>
      <p:pic>
        <p:nvPicPr>
          <p:cNvPr id="7" name="그림 6" descr="텍스트, 스크린샷, 도표, 폰트이(가) 표시된 사진">
            <a:extLst>
              <a:ext uri="{FF2B5EF4-FFF2-40B4-BE49-F238E27FC236}">
                <a16:creationId xmlns:a16="http://schemas.microsoft.com/office/drawing/2014/main" id="{7A1CB9F9-4C63-3D31-5D6A-46712DE65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55" y="1664493"/>
            <a:ext cx="5750052" cy="440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9426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C761-E6BB-F3CA-FDAE-30952AA93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9DFC52-7245-8678-6A39-8E24CB8B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6" y="151204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dirty="0"/>
              <a:t>승패 예측 시스템 성능 검증</a:t>
            </a:r>
          </a:p>
        </p:txBody>
      </p:sp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41D96F-4ACA-27EC-A7B4-C6B39BF92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01" r="4658" b="26372"/>
          <a:stretch>
            <a:fillRect/>
          </a:stretch>
        </p:blipFill>
        <p:spPr>
          <a:xfrm>
            <a:off x="388783" y="1730477"/>
            <a:ext cx="10282328" cy="5127523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81D1129-D8D4-DFA6-1816-9947DA9D6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19826"/>
              </p:ext>
            </p:extLst>
          </p:nvPr>
        </p:nvGraphicFramePr>
        <p:xfrm>
          <a:off x="388783" y="1195735"/>
          <a:ext cx="10282327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717">
                  <a:extLst>
                    <a:ext uri="{9D8B030D-6E8A-4147-A177-3AD203B41FA5}">
                      <a16:colId xmlns:a16="http://schemas.microsoft.com/office/drawing/2014/main" val="248802301"/>
                    </a:ext>
                  </a:extLst>
                </a:gridCol>
                <a:gridCol w="2076449">
                  <a:extLst>
                    <a:ext uri="{9D8B030D-6E8A-4147-A177-3AD203B41FA5}">
                      <a16:colId xmlns:a16="http://schemas.microsoft.com/office/drawing/2014/main" val="36973846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468478446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402519237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5154165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7987892"/>
                    </a:ext>
                  </a:extLst>
                </a:gridCol>
                <a:gridCol w="1355661">
                  <a:extLst>
                    <a:ext uri="{9D8B030D-6E8A-4147-A177-3AD203B41FA5}">
                      <a16:colId xmlns:a16="http://schemas.microsoft.com/office/drawing/2014/main" val="2081446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경기</a:t>
                      </a:r>
                      <a:endParaRPr lang="en-US" altLang="ko-KR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고유번호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Home team</a:t>
                      </a:r>
                    </a:p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Away team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1Quarter</a:t>
                      </a:r>
                    </a:p>
                    <a:p>
                      <a:pPr latinLnBrk="1"/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2Quarter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3Quarter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4Quarter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Overtime</a:t>
                      </a: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연장전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207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2578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A85F3-464E-2B66-E8D0-CD12E0182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2F464C-404F-6BA2-1F36-5F8D97AE0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6" y="151204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dirty="0"/>
              <a:t>승패 예측 시스템 성능 검증</a:t>
            </a:r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217749-4F91-DA80-9621-2120E39E8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5" r="4095" b="26081"/>
          <a:stretch>
            <a:fillRect/>
          </a:stretch>
        </p:blipFill>
        <p:spPr>
          <a:xfrm>
            <a:off x="388783" y="1747319"/>
            <a:ext cx="10282327" cy="5110681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9F14FB0-F566-0FCE-E559-BB55F3C1C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051564"/>
              </p:ext>
            </p:extLst>
          </p:nvPr>
        </p:nvGraphicFramePr>
        <p:xfrm>
          <a:off x="388782" y="1107239"/>
          <a:ext cx="10282327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717">
                  <a:extLst>
                    <a:ext uri="{9D8B030D-6E8A-4147-A177-3AD203B41FA5}">
                      <a16:colId xmlns:a16="http://schemas.microsoft.com/office/drawing/2014/main" val="248802301"/>
                    </a:ext>
                  </a:extLst>
                </a:gridCol>
                <a:gridCol w="2076449">
                  <a:extLst>
                    <a:ext uri="{9D8B030D-6E8A-4147-A177-3AD203B41FA5}">
                      <a16:colId xmlns:a16="http://schemas.microsoft.com/office/drawing/2014/main" val="36973846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468478446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402519237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5154165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7987892"/>
                    </a:ext>
                  </a:extLst>
                </a:gridCol>
                <a:gridCol w="1355661">
                  <a:extLst>
                    <a:ext uri="{9D8B030D-6E8A-4147-A177-3AD203B41FA5}">
                      <a16:colId xmlns:a16="http://schemas.microsoft.com/office/drawing/2014/main" val="2081446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경기</a:t>
                      </a:r>
                      <a:endParaRPr lang="en-US" altLang="ko-KR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고유번호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Home team</a:t>
                      </a:r>
                    </a:p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Away team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1Quarter</a:t>
                      </a:r>
                    </a:p>
                    <a:p>
                      <a:pPr latinLnBrk="1"/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2Quarter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3Quarter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4Quarter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Overtime</a:t>
                      </a: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연장전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207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6869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4D09E-FCEC-C2F6-EBF1-50A4EF75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1CA3A6-4E52-9E50-6F2D-255770AA0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6" y="151204"/>
            <a:ext cx="10872216" cy="749808"/>
          </a:xfrm>
        </p:spPr>
        <p:txBody>
          <a:bodyPr>
            <a:noAutofit/>
          </a:bodyPr>
          <a:lstStyle/>
          <a:p>
            <a:r>
              <a:rPr lang="ko-KR" altLang="en-US" dirty="0"/>
              <a:t>승패 예측 시스템 성능 검증</a:t>
            </a:r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3641FF-8E1D-DAE9-5578-5FD12498CE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2" t="25760" r="2819"/>
          <a:stretch>
            <a:fillRect/>
          </a:stretch>
        </p:blipFill>
        <p:spPr>
          <a:xfrm>
            <a:off x="388783" y="1663265"/>
            <a:ext cx="10282326" cy="5194735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16D0852-7476-546E-89D1-84C81A3A37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12374"/>
              </p:ext>
            </p:extLst>
          </p:nvPr>
        </p:nvGraphicFramePr>
        <p:xfrm>
          <a:off x="388783" y="1023185"/>
          <a:ext cx="10282327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717">
                  <a:extLst>
                    <a:ext uri="{9D8B030D-6E8A-4147-A177-3AD203B41FA5}">
                      <a16:colId xmlns:a16="http://schemas.microsoft.com/office/drawing/2014/main" val="248802301"/>
                    </a:ext>
                  </a:extLst>
                </a:gridCol>
                <a:gridCol w="2076449">
                  <a:extLst>
                    <a:ext uri="{9D8B030D-6E8A-4147-A177-3AD203B41FA5}">
                      <a16:colId xmlns:a16="http://schemas.microsoft.com/office/drawing/2014/main" val="369738466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3468478446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402519237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51541654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7987892"/>
                    </a:ext>
                  </a:extLst>
                </a:gridCol>
                <a:gridCol w="1355661">
                  <a:extLst>
                    <a:ext uri="{9D8B030D-6E8A-4147-A177-3AD203B41FA5}">
                      <a16:colId xmlns:a16="http://schemas.microsoft.com/office/drawing/2014/main" val="20814464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경기</a:t>
                      </a:r>
                      <a:endParaRPr lang="en-US" altLang="ko-KR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고유번호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Home team</a:t>
                      </a:r>
                    </a:p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Away team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1Quarter</a:t>
                      </a:r>
                    </a:p>
                    <a:p>
                      <a:pPr latinLnBrk="1"/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2Quarter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3Quarter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4Quarter</a:t>
                      </a:r>
                      <a:endParaRPr lang="ko-KR" altLang="en-US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Overtime</a:t>
                      </a:r>
                    </a:p>
                    <a:p>
                      <a:pPr latinLnBrk="1"/>
                      <a:r>
                        <a:rPr lang="ko-KR" altLang="en-US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연장전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207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5657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861DD-5060-8728-4623-8E9E6BC0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96" y="513637"/>
            <a:ext cx="10872216" cy="74980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앞으로의 방향성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16C39-A140-0C32-7A7A-30541311AF82}"/>
              </a:ext>
            </a:extLst>
          </p:cNvPr>
          <p:cNvSpPr txBox="1"/>
          <p:nvPr/>
        </p:nvSpPr>
        <p:spPr>
          <a:xfrm>
            <a:off x="474996" y="1920700"/>
            <a:ext cx="1087221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 dirty="0"/>
              <a:t>모델 더욱 개발하여 발전</a:t>
            </a:r>
            <a:r>
              <a:rPr lang="en-US" altLang="ko-KR" sz="2400" dirty="0"/>
              <a:t>, </a:t>
            </a:r>
            <a:r>
              <a:rPr lang="ko-KR" altLang="en-US" sz="2400" dirty="0"/>
              <a:t>정확도 향상 도모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r>
              <a:rPr lang="ko-KR" altLang="en-US" sz="2400" dirty="0"/>
              <a:t>실시간 승률 분석 모델로 발전 및</a:t>
            </a:r>
            <a:r>
              <a:rPr lang="en-US" altLang="ko-KR" sz="2400" dirty="0"/>
              <a:t> </a:t>
            </a:r>
            <a:r>
              <a:rPr lang="ko-KR" altLang="en-US" sz="2400" dirty="0"/>
              <a:t>이를 제공할 프로그램  개발</a:t>
            </a:r>
            <a:endParaRPr lang="en-US" altLang="ko-KR" sz="2400" dirty="0"/>
          </a:p>
          <a:p>
            <a:r>
              <a:rPr lang="en-US" altLang="ko-KR" sz="2400" dirty="0"/>
              <a:t>     - </a:t>
            </a:r>
            <a:r>
              <a:rPr lang="ko-KR" altLang="en-US" sz="2400" dirty="0"/>
              <a:t>실시간 승률 분석 시에 경기에 대한 지표 및 그래프 제공 </a:t>
            </a:r>
            <a:endParaRPr lang="en-US" altLang="ko-KR" sz="2400" dirty="0"/>
          </a:p>
          <a:p>
            <a:r>
              <a:rPr lang="en-US" altLang="ko-KR" sz="2400" dirty="0"/>
              <a:t>      ex) </a:t>
            </a:r>
            <a:r>
              <a:rPr lang="ko-KR" altLang="en-US" sz="2400" dirty="0"/>
              <a:t>실시간으로 변하는 승률 그래프</a:t>
            </a:r>
            <a:r>
              <a:rPr lang="en-US" altLang="ko-KR" sz="2400" dirty="0"/>
              <a:t>, </a:t>
            </a:r>
            <a:r>
              <a:rPr lang="ko-KR" altLang="en-US" sz="2400" dirty="0"/>
              <a:t>슛 차트 그래프</a:t>
            </a:r>
            <a:r>
              <a:rPr lang="en-US" altLang="ko-KR" sz="2400" dirty="0"/>
              <a:t>, </a:t>
            </a:r>
            <a:r>
              <a:rPr lang="ko-KR" altLang="en-US" sz="2400" dirty="0"/>
              <a:t>시즌 상대 전적 표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 startAt="3"/>
            </a:pPr>
            <a:r>
              <a:rPr lang="ko-KR" altLang="en-US" sz="2400" dirty="0"/>
              <a:t>경기 시작 전 두 팀의 승률 예측</a:t>
            </a:r>
            <a:endParaRPr lang="en-US" altLang="ko-KR" sz="2400" dirty="0"/>
          </a:p>
          <a:p>
            <a:pPr marL="457200" indent="-457200">
              <a:buAutoNum type="arabicPeriod" startAt="3"/>
            </a:pPr>
            <a:endParaRPr lang="en-US" altLang="ko-KR" sz="2400" dirty="0"/>
          </a:p>
          <a:p>
            <a:pPr marL="457200" indent="-457200">
              <a:buAutoNum type="arabicPeriod" startAt="3"/>
            </a:pPr>
            <a:r>
              <a:rPr lang="ko-KR" altLang="en-US" sz="2400" dirty="0"/>
              <a:t>평가 지표들에 대한 </a:t>
            </a:r>
            <a:r>
              <a:rPr lang="en-US" altLang="ko-KR" sz="2400" dirty="0"/>
              <a:t>Estimator, average </a:t>
            </a:r>
            <a:r>
              <a:rPr lang="ko-KR" altLang="en-US" sz="2400" dirty="0"/>
              <a:t>추가 </a:t>
            </a: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457200" indent="-457200">
              <a:buAutoNum type="arabicPeriod"/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406614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B2739-783F-5F90-02B3-08D733500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D965E-38F2-008C-224C-378A8BF9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96" y="513637"/>
            <a:ext cx="10872216" cy="74980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참조자료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ADA99-1C5B-0EF8-4C1F-FA98EA364F70}"/>
              </a:ext>
            </a:extLst>
          </p:cNvPr>
          <p:cNvSpPr txBox="1"/>
          <p:nvPr/>
        </p:nvSpPr>
        <p:spPr>
          <a:xfrm>
            <a:off x="474992" y="2355074"/>
            <a:ext cx="108722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/>
              <a:t>구승환</a:t>
            </a:r>
            <a:r>
              <a:rPr lang="en-US" altLang="ko-KR" sz="2400" dirty="0"/>
              <a:t>(2009).“</a:t>
            </a:r>
            <a:r>
              <a:rPr lang="ko-KR" altLang="en-US" sz="2400" dirty="0"/>
              <a:t>국내 남자 프로농구 승패 예측 모형 비교 연구</a:t>
            </a:r>
            <a:r>
              <a:rPr lang="en-US" altLang="ko-KR" sz="2400" dirty="0"/>
              <a:t>”.[KCI],</a:t>
            </a:r>
            <a:r>
              <a:rPr lang="en-US" altLang="ko-KR" sz="2400" dirty="0">
                <a:solidFill>
                  <a:srgbClr val="4485DC"/>
                </a:solidFill>
              </a:rPr>
              <a:t> </a:t>
            </a:r>
            <a:r>
              <a:rPr lang="en-US" altLang="ko-KR" sz="2400" dirty="0"/>
              <a:t>no.4, </a:t>
            </a:r>
            <a:r>
              <a:rPr lang="ko-KR" altLang="en-US" sz="2400" dirty="0"/>
              <a:t>통권 </a:t>
            </a:r>
            <a:r>
              <a:rPr lang="en-US" altLang="ko-KR" sz="2400" dirty="0"/>
              <a:t>80</a:t>
            </a:r>
            <a:r>
              <a:rPr lang="ko-KR" altLang="en-US" sz="2400" dirty="0"/>
              <a:t>호 </a:t>
            </a:r>
            <a:r>
              <a:rPr lang="en-US" altLang="ko-KR" sz="2400" dirty="0"/>
              <a:t>pp. 704-711 </a:t>
            </a:r>
            <a:endParaRPr lang="ko-KR" altLang="en-US" sz="2400" dirty="0"/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3EEAB-8D27-6545-9448-9B6B4C0E6953}"/>
              </a:ext>
            </a:extLst>
          </p:cNvPr>
          <p:cNvSpPr txBox="1"/>
          <p:nvPr/>
        </p:nvSpPr>
        <p:spPr>
          <a:xfrm>
            <a:off x="474993" y="3792071"/>
            <a:ext cx="108722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/>
              <a:t>윤효준</a:t>
            </a:r>
            <a:r>
              <a:rPr lang="en-US" altLang="ko-KR" sz="2400" dirty="0"/>
              <a:t>(2025).“</a:t>
            </a:r>
            <a:r>
              <a:rPr lang="ko-KR" altLang="en-US" sz="2400" dirty="0"/>
              <a:t>딥러닝 기반의 한국프로농구 실시간 승패예측 시스템 개발</a:t>
            </a:r>
            <a:r>
              <a:rPr lang="en-US" altLang="ko-KR" sz="2400" dirty="0"/>
              <a:t>”.[KCI],</a:t>
            </a:r>
            <a:r>
              <a:rPr lang="en-US" altLang="ko-KR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altLang="ko-KR" sz="2400" dirty="0"/>
              <a:t>vol.43, no.1, pp. 63-71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900091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DBA32-6CE3-0029-D7DE-2DB5EDA0B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3418"/>
            <a:ext cx="8430768" cy="1842020"/>
          </a:xfrm>
        </p:spPr>
        <p:txBody>
          <a:bodyPr/>
          <a:lstStyle/>
          <a:p>
            <a:r>
              <a:rPr lang="ko-KR" altLang="en-US" dirty="0"/>
              <a:t>감사합니다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C09724-BACC-673D-510B-2B5521BB5C7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941782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15465</TotalTime>
  <Words>2588</Words>
  <Application>Microsoft Macintosh PowerPoint</Application>
  <PresentationFormat>와이드스크린</PresentationFormat>
  <Paragraphs>603</Paragraphs>
  <Slides>47</Slides>
  <Notes>10</Notes>
  <HiddenSlides>23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4" baseType="lpstr">
      <vt:lpstr>맑은 고딕</vt:lpstr>
      <vt:lpstr>Google Sans Text</vt:lpstr>
      <vt:lpstr>Aptos</vt:lpstr>
      <vt:lpstr>Aptos Light</vt:lpstr>
      <vt:lpstr>Arial</vt:lpstr>
      <vt:lpstr>Cambria Math</vt:lpstr>
      <vt:lpstr>Chroma</vt:lpstr>
      <vt:lpstr>스포츠 데이터 분석  실시간 승률 예측</vt:lpstr>
      <vt:lpstr>목차</vt:lpstr>
      <vt:lpstr>주제 선정 동기</vt:lpstr>
      <vt:lpstr>데이터 선정</vt:lpstr>
      <vt:lpstr>데이터 선정</vt:lpstr>
      <vt:lpstr>데이터 수집 및 처리 과정 </vt:lpstr>
      <vt:lpstr>데이터 </vt:lpstr>
      <vt:lpstr>데이터 수집 및 처리 과정 </vt:lpstr>
      <vt:lpstr>PowerPoint 프레젠테이션</vt:lpstr>
      <vt:lpstr>데이터 수집 및 처리 과정 </vt:lpstr>
      <vt:lpstr>데이터 수집 및 처리 과정  2.2</vt:lpstr>
      <vt:lpstr>핵심 지표 설명(생략)</vt:lpstr>
      <vt:lpstr>Possessions</vt:lpstr>
      <vt:lpstr>Pace</vt:lpstr>
      <vt:lpstr>Net Rating</vt:lpstr>
      <vt:lpstr> Four Factors </vt:lpstr>
      <vt:lpstr>승률에 영향을 주는 변수들의 상관관계</vt:lpstr>
      <vt:lpstr>PowerPoint 프레젠테이션</vt:lpstr>
      <vt:lpstr>PowerPoint 프레젠테이션</vt:lpstr>
      <vt:lpstr>Bar graph</vt:lpstr>
      <vt:lpstr>모델 개발 및 시스템 구축  </vt:lpstr>
      <vt:lpstr>Softmax 함수</vt:lpstr>
      <vt:lpstr>Softmax 함수</vt:lpstr>
      <vt:lpstr>Softmax 함수</vt:lpstr>
      <vt:lpstr>Softmax 특징</vt:lpstr>
      <vt:lpstr>Softmax 특징</vt:lpstr>
      <vt:lpstr>인공지능 vs 머신러닝 vs 딥러닝</vt:lpstr>
      <vt:lpstr>Machine Learning</vt:lpstr>
      <vt:lpstr>Deep Learning</vt:lpstr>
      <vt:lpstr>Multi-Layer Perceptron</vt:lpstr>
      <vt:lpstr>Multi-Layer Perceptron</vt:lpstr>
      <vt:lpstr>Multi-Layer Perceptron</vt:lpstr>
      <vt:lpstr>Multi-Layer Perceptron</vt:lpstr>
      <vt:lpstr>Multi-Layer Perceptron</vt:lpstr>
      <vt:lpstr>학습 파라미터</vt:lpstr>
      <vt:lpstr>모델 아키텍쳐</vt:lpstr>
      <vt:lpstr>연구 절차 2.4</vt:lpstr>
      <vt:lpstr>연구 결과   MLP 알고리즘을 활용한 모델 학습 결과</vt:lpstr>
      <vt:lpstr>연구 결과   MLP 알고리즘을 활용한 모델 학습 결과</vt:lpstr>
      <vt:lpstr>승패 예측 시스템 성능 검증(예전버전)</vt:lpstr>
      <vt:lpstr>승패 예측 시스템 성능 검증</vt:lpstr>
      <vt:lpstr>승패 예측 시스템 성능 검증</vt:lpstr>
      <vt:lpstr>승패 예측 시스템 성능 검증</vt:lpstr>
      <vt:lpstr>승패 예측 시스템 성능 검증</vt:lpstr>
      <vt:lpstr>앞으로의 방향성</vt:lpstr>
      <vt:lpstr>참조자료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민찬 주</dc:creator>
  <cp:lastModifiedBy>민찬 주</cp:lastModifiedBy>
  <cp:revision>29</cp:revision>
  <dcterms:created xsi:type="dcterms:W3CDTF">2025-09-20T07:51:50Z</dcterms:created>
  <dcterms:modified xsi:type="dcterms:W3CDTF">2025-12-27T07:26:24Z</dcterms:modified>
</cp:coreProperties>
</file>