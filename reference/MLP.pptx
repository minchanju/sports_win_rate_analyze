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17"/>
  </p:notesMasterIdLst>
  <p:sldIdLst>
    <p:sldId id="256" r:id="rId2"/>
    <p:sldId id="257" r:id="rId3"/>
    <p:sldId id="268" r:id="rId4"/>
    <p:sldId id="269" r:id="rId5"/>
    <p:sldId id="270" r:id="rId6"/>
    <p:sldId id="272" r:id="rId7"/>
    <p:sldId id="273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C63"/>
    <a:srgbClr val="B3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873F0-2D58-DF46-A3ED-A59E419EABB5}" v="1833" dt="2025-09-22T11:33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/>
    <p:restoredTop sz="94631"/>
  </p:normalViewPr>
  <p:slideViewPr>
    <p:cSldViewPr snapToGrid="0">
      <p:cViewPr varScale="1">
        <p:scale>
          <a:sx n="120" d="100"/>
          <a:sy n="120" d="100"/>
        </p:scale>
        <p:origin x="20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찬 주" userId="6a2b1774923cf756" providerId="LiveId" clId="{504873F0-2D58-DF46-A3ED-A59E419EABB5}"/>
    <pc:docChg chg="undo custSel addSld delSld modSld">
      <pc:chgData name="민찬 주" userId="6a2b1774923cf756" providerId="LiveId" clId="{504873F0-2D58-DF46-A3ED-A59E419EABB5}" dt="2025-09-22T12:00:44.972" v="577" actId="20577"/>
      <pc:docMkLst>
        <pc:docMk/>
      </pc:docMkLst>
      <pc:sldChg chg="modSp mod">
        <pc:chgData name="민찬 주" userId="6a2b1774923cf756" providerId="LiveId" clId="{504873F0-2D58-DF46-A3ED-A59E419EABB5}" dt="2025-09-22T12:00:44.972" v="577" actId="20577"/>
        <pc:sldMkLst>
          <pc:docMk/>
          <pc:sldMk cId="815705024" sldId="256"/>
        </pc:sldMkLst>
        <pc:spChg chg="mod">
          <ac:chgData name="민찬 주" userId="6a2b1774923cf756" providerId="LiveId" clId="{504873F0-2D58-DF46-A3ED-A59E419EABB5}" dt="2025-09-22T12:00:18.667" v="483" actId="20577"/>
          <ac:spMkLst>
            <pc:docMk/>
            <pc:sldMk cId="815705024" sldId="256"/>
            <ac:spMk id="2" creationId="{7E9CD806-55D9-323E-A324-78FEA4BBE475}"/>
          </ac:spMkLst>
        </pc:spChg>
        <pc:spChg chg="mod">
          <ac:chgData name="민찬 주" userId="6a2b1774923cf756" providerId="LiveId" clId="{504873F0-2D58-DF46-A3ED-A59E419EABB5}" dt="2025-09-22T12:00:44.972" v="577" actId="20577"/>
          <ac:spMkLst>
            <pc:docMk/>
            <pc:sldMk cId="815705024" sldId="256"/>
            <ac:spMk id="3" creationId="{49C395A7-5311-E7CC-C98C-A2B16087FCC2}"/>
          </ac:spMkLst>
        </pc:spChg>
      </pc:sldChg>
      <pc:sldChg chg="modSp mod">
        <pc:chgData name="민찬 주" userId="6a2b1774923cf756" providerId="LiveId" clId="{504873F0-2D58-DF46-A3ED-A59E419EABB5}" dt="2025-09-22T11:59:44.357" v="417" actId="20577"/>
        <pc:sldMkLst>
          <pc:docMk/>
          <pc:sldMk cId="1659377132" sldId="257"/>
        </pc:sldMkLst>
        <pc:spChg chg="mod">
          <ac:chgData name="민찬 주" userId="6a2b1774923cf756" providerId="LiveId" clId="{504873F0-2D58-DF46-A3ED-A59E419EABB5}" dt="2025-09-22T11:59:44.357" v="417" actId="20577"/>
          <ac:spMkLst>
            <pc:docMk/>
            <pc:sldMk cId="1659377132" sldId="257"/>
            <ac:spMk id="13" creationId="{D42E3489-3198-40AC-3237-FE21A6F587C5}"/>
          </ac:spMkLst>
        </pc:spChg>
        <pc:graphicFrameChg chg="mod modGraphic">
          <ac:chgData name="민찬 주" userId="6a2b1774923cf756" providerId="LiveId" clId="{504873F0-2D58-DF46-A3ED-A59E419EABB5}" dt="2025-09-22T10:56:14.150" v="283" actId="1076"/>
          <ac:graphicFrameMkLst>
            <pc:docMk/>
            <pc:sldMk cId="1659377132" sldId="257"/>
            <ac:graphicFrameMk id="14" creationId="{1A0E014D-4A6B-F56C-A7B0-1FDA97961B8D}"/>
          </ac:graphicFrameMkLst>
        </pc:graphicFrameChg>
      </pc:sldChg>
      <pc:sldChg chg="modSp">
        <pc:chgData name="민찬 주" userId="6a2b1774923cf756" providerId="LiveId" clId="{504873F0-2D58-DF46-A3ED-A59E419EABB5}" dt="2025-09-22T11:33:35.287" v="408" actId="20577"/>
        <pc:sldMkLst>
          <pc:docMk/>
          <pc:sldMk cId="3537431062" sldId="266"/>
        </pc:sldMkLst>
        <pc:spChg chg="mod">
          <ac:chgData name="민찬 주" userId="6a2b1774923cf756" providerId="LiveId" clId="{504873F0-2D58-DF46-A3ED-A59E419EABB5}" dt="2025-09-22T11:33:35.287" v="408" actId="20577"/>
          <ac:spMkLst>
            <pc:docMk/>
            <pc:sldMk cId="3537431062" sldId="266"/>
            <ac:spMk id="3" creationId="{E4989F40-6FBB-493B-569C-B170403CA140}"/>
          </ac:spMkLst>
        </pc:spChg>
      </pc:sldChg>
      <pc:sldChg chg="new del">
        <pc:chgData name="민찬 주" userId="6a2b1774923cf756" providerId="LiveId" clId="{504873F0-2D58-DF46-A3ED-A59E419EABB5}" dt="2025-09-22T10:46:34.663" v="2" actId="2696"/>
        <pc:sldMkLst>
          <pc:docMk/>
          <pc:sldMk cId="3599771450" sldId="267"/>
        </pc:sldMkLst>
      </pc:sldChg>
      <pc:sldChg chg="modSp new mod">
        <pc:chgData name="민찬 주" userId="6a2b1774923cf756" providerId="LiveId" clId="{504873F0-2D58-DF46-A3ED-A59E419EABB5}" dt="2025-09-22T10:58:00.872" v="316" actId="20577"/>
        <pc:sldMkLst>
          <pc:docMk/>
          <pc:sldMk cId="3609900809" sldId="268"/>
        </pc:sldMkLst>
        <pc:spChg chg="mod">
          <ac:chgData name="민찬 주" userId="6a2b1774923cf756" providerId="LiveId" clId="{504873F0-2D58-DF46-A3ED-A59E419EABB5}" dt="2025-09-22T10:46:52.128" v="21" actId="20577"/>
          <ac:spMkLst>
            <pc:docMk/>
            <pc:sldMk cId="3609900809" sldId="268"/>
            <ac:spMk id="2" creationId="{CD216743-D261-E79A-194B-B23AE090BF2B}"/>
          </ac:spMkLst>
        </pc:spChg>
        <pc:spChg chg="mod">
          <ac:chgData name="민찬 주" userId="6a2b1774923cf756" providerId="LiveId" clId="{504873F0-2D58-DF46-A3ED-A59E419EABB5}" dt="2025-09-22T10:58:00.872" v="316" actId="20577"/>
          <ac:spMkLst>
            <pc:docMk/>
            <pc:sldMk cId="3609900809" sldId="268"/>
            <ac:spMk id="3" creationId="{44995273-6A76-B792-5DA8-8EEB1D7F88C5}"/>
          </ac:spMkLst>
        </pc:spChg>
      </pc:sldChg>
      <pc:sldChg chg="modSp new mod">
        <pc:chgData name="민찬 주" userId="6a2b1774923cf756" providerId="LiveId" clId="{504873F0-2D58-DF46-A3ED-A59E419EABB5}" dt="2025-09-22T10:59:09.861" v="338" actId="20577"/>
        <pc:sldMkLst>
          <pc:docMk/>
          <pc:sldMk cId="4279460589" sldId="269"/>
        </pc:sldMkLst>
        <pc:spChg chg="mod">
          <ac:chgData name="민찬 주" userId="6a2b1774923cf756" providerId="LiveId" clId="{504873F0-2D58-DF46-A3ED-A59E419EABB5}" dt="2025-09-22T10:48:07.894" v="28"/>
          <ac:spMkLst>
            <pc:docMk/>
            <pc:sldMk cId="4279460589" sldId="269"/>
            <ac:spMk id="2" creationId="{F5651DA8-74CD-2665-CF3F-DB64B89CE576}"/>
          </ac:spMkLst>
        </pc:spChg>
        <pc:spChg chg="mod">
          <ac:chgData name="민찬 주" userId="6a2b1774923cf756" providerId="LiveId" clId="{504873F0-2D58-DF46-A3ED-A59E419EABB5}" dt="2025-09-22T10:59:09.861" v="338" actId="20577"/>
          <ac:spMkLst>
            <pc:docMk/>
            <pc:sldMk cId="4279460589" sldId="269"/>
            <ac:spMk id="3" creationId="{1E213491-6C73-CD4F-1FD3-D671C1505821}"/>
          </ac:spMkLst>
        </pc:spChg>
      </pc:sldChg>
      <pc:sldChg chg="modSp add mod">
        <pc:chgData name="민찬 주" userId="6a2b1774923cf756" providerId="LiveId" clId="{504873F0-2D58-DF46-A3ED-A59E419EABB5}" dt="2025-09-22T11:05:28.537" v="391" actId="6549"/>
        <pc:sldMkLst>
          <pc:docMk/>
          <pc:sldMk cId="3069909540" sldId="270"/>
        </pc:sldMkLst>
        <pc:spChg chg="mod">
          <ac:chgData name="민찬 주" userId="6a2b1774923cf756" providerId="LiveId" clId="{504873F0-2D58-DF46-A3ED-A59E419EABB5}" dt="2025-09-22T11:05:28.537" v="391" actId="6549"/>
          <ac:spMkLst>
            <pc:docMk/>
            <pc:sldMk cId="3069909540" sldId="270"/>
            <ac:spMk id="3" creationId="{CFD3EBB1-E1B8-4AFB-37D7-242640FA803E}"/>
          </ac:spMkLst>
        </pc:spChg>
      </pc:sldChg>
      <pc:sldChg chg="addSp modSp add del mod">
        <pc:chgData name="민찬 주" userId="6a2b1774923cf756" providerId="LiveId" clId="{504873F0-2D58-DF46-A3ED-A59E419EABB5}" dt="2025-09-22T11:06:46.241" v="393" actId="2696"/>
        <pc:sldMkLst>
          <pc:docMk/>
          <pc:sldMk cId="2624502254" sldId="271"/>
        </pc:sldMkLst>
        <pc:spChg chg="mod">
          <ac:chgData name="민찬 주" userId="6a2b1774923cf756" providerId="LiveId" clId="{504873F0-2D58-DF46-A3ED-A59E419EABB5}" dt="2025-09-22T10:51:42.742" v="110" actId="20577"/>
          <ac:spMkLst>
            <pc:docMk/>
            <pc:sldMk cId="2624502254" sldId="271"/>
            <ac:spMk id="2" creationId="{31B27FD0-BEF5-505F-8FBE-EFBE1157CCD7}"/>
          </ac:spMkLst>
        </pc:spChg>
        <pc:spChg chg="mod">
          <ac:chgData name="민찬 주" userId="6a2b1774923cf756" providerId="LiveId" clId="{504873F0-2D58-DF46-A3ED-A59E419EABB5}" dt="2025-09-22T11:05:20.270" v="389" actId="6549"/>
          <ac:spMkLst>
            <pc:docMk/>
            <pc:sldMk cId="2624502254" sldId="271"/>
            <ac:spMk id="3" creationId="{E5BBAE9F-1461-FC95-E858-6D3DF3E1F6A9}"/>
          </ac:spMkLst>
        </pc:spChg>
        <pc:picChg chg="add mod">
          <ac:chgData name="민찬 주" userId="6a2b1774923cf756" providerId="LiveId" clId="{504873F0-2D58-DF46-A3ED-A59E419EABB5}" dt="2025-09-22T11:06:13.791" v="392" actId="1076"/>
          <ac:picMkLst>
            <pc:docMk/>
            <pc:sldMk cId="2624502254" sldId="271"/>
            <ac:picMk id="4" creationId="{1C1BFA0B-1F22-E460-9EC0-63DD0741602D}"/>
          </ac:picMkLst>
        </pc:picChg>
      </pc:sldChg>
      <pc:sldChg chg="addSp modSp add mod">
        <pc:chgData name="민찬 주" userId="6a2b1774923cf756" providerId="LiveId" clId="{504873F0-2D58-DF46-A3ED-A59E419EABB5}" dt="2025-09-22T11:05:23.461" v="390" actId="6549"/>
        <pc:sldMkLst>
          <pc:docMk/>
          <pc:sldMk cId="2397453491" sldId="272"/>
        </pc:sldMkLst>
        <pc:spChg chg="mod">
          <ac:chgData name="민찬 주" userId="6a2b1774923cf756" providerId="LiveId" clId="{504873F0-2D58-DF46-A3ED-A59E419EABB5}" dt="2025-09-22T11:05:23.461" v="390" actId="6549"/>
          <ac:spMkLst>
            <pc:docMk/>
            <pc:sldMk cId="2397453491" sldId="272"/>
            <ac:spMk id="3" creationId="{8DCBDA58-34F7-3D89-4BAB-C5AC1BF7A25E}"/>
          </ac:spMkLst>
        </pc:spChg>
        <pc:picChg chg="add mod">
          <ac:chgData name="민찬 주" userId="6a2b1774923cf756" providerId="LiveId" clId="{504873F0-2D58-DF46-A3ED-A59E419EABB5}" dt="2025-09-22T10:53:17.703" v="136" actId="14100"/>
          <ac:picMkLst>
            <pc:docMk/>
            <pc:sldMk cId="2397453491" sldId="272"/>
            <ac:picMk id="4" creationId="{FB6509F7-FC22-7A09-1163-98F4D9BFE15C}"/>
          </ac:picMkLst>
        </pc:picChg>
      </pc:sldChg>
      <pc:sldChg chg="modSp add mod">
        <pc:chgData name="민찬 주" userId="6a2b1774923cf756" providerId="LiveId" clId="{504873F0-2D58-DF46-A3ED-A59E419EABB5}" dt="2025-09-22T11:08:45.120" v="407" actId="20577"/>
        <pc:sldMkLst>
          <pc:docMk/>
          <pc:sldMk cId="3497743605" sldId="273"/>
        </pc:sldMkLst>
        <pc:spChg chg="mod">
          <ac:chgData name="민찬 주" userId="6a2b1774923cf756" providerId="LiveId" clId="{504873F0-2D58-DF46-A3ED-A59E419EABB5}" dt="2025-09-22T11:08:45.120" v="407" actId="20577"/>
          <ac:spMkLst>
            <pc:docMk/>
            <pc:sldMk cId="3497743605" sldId="273"/>
            <ac:spMk id="3" creationId="{2C8B424B-3BA0-DBDD-833D-A69839652A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F688-E8A5-0046-9222-F1AA7125E0B2}" type="datetimeFigureOut">
              <a:rPr kumimoji="1" lang="ko-KR" altLang="en-US" smtClean="0"/>
              <a:t>2025. 9. 22.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31AF4-9F7E-B749-9451-7CCB967D32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28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75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23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A622-09EF-CC1E-AE6C-50C2AED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C1EF59-B0F1-42AA-E78D-242D008F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993A-E7A2-0873-89D3-4EBE4D874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9271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6227-D7C4-3E0B-2670-B1C54B8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101E2-43FC-74FC-64DC-D98A21C0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5CBC4-2F08-7CF6-412D-0A90BF0B3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229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33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6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6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3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1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8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0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1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8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29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7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29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3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9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21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0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38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124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5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2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40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9/22/25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2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9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60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5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3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171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6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6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9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55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9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69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9/22/25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0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9/22/25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15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9/22/25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34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4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0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9/22/25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D806-55D9-323E-A324-78FEA4BB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kumimoji="1" lang="ko-KR" altLang="en-US" dirty="0"/>
              <a:t>스포츠</a:t>
            </a:r>
            <a:br>
              <a:rPr kumimoji="1" lang="en-US" altLang="ko-KR" dirty="0"/>
            </a:br>
            <a:r>
              <a:rPr kumimoji="1" lang="ko-KR" altLang="en-US" dirty="0"/>
              <a:t>실시간 승률 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C395A7-5311-E7CC-C98C-A2B16087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kumimoji="1" lang="ko-KR" altLang="en-US" dirty="0" err="1"/>
              <a:t>팀리더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김승준</a:t>
            </a:r>
            <a:endParaRPr kumimoji="1" lang="en-US" altLang="ko-KR" dirty="0"/>
          </a:p>
          <a:p>
            <a:r>
              <a:rPr kumimoji="1" lang="ko-KR" altLang="en-US" dirty="0"/>
              <a:t>팀원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주민찬</a:t>
            </a:r>
            <a:endParaRPr kumimoji="1" lang="ko-KR" alt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61287F0-3BE7-0007-835B-541A2BA618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4656" y="0"/>
            <a:ext cx="4654296" cy="6858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42E3489-3198-40AC-3237-FE21A6F5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kumimoji="1" lang="ko-KR" altLang="en-US" dirty="0"/>
              <a:t>목차</a:t>
            </a:r>
          </a:p>
        </p:txBody>
      </p: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1A0E014D-4A6B-F56C-A7B0-1FDA97961B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9183451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5925726" y="2255404"/>
          <a:ext cx="5509458" cy="2347191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436437307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05736015"/>
                    </a:ext>
                  </a:extLst>
                </a:gridCol>
              </a:tblGrid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2000" b="0" cap="none" spc="0" dirty="0" err="1">
                          <a:solidFill>
                            <a:schemeClr val="tx1"/>
                          </a:solidFill>
                        </a:rPr>
                        <a:t>Softmax</a:t>
                      </a:r>
                      <a:r>
                        <a:rPr lang="en-US" altLang="ko-KR" sz="2000" b="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함수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96396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인공지능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9466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2000" b="0" cap="none" spc="0" dirty="0">
                          <a:solidFill>
                            <a:schemeClr val="tx1"/>
                          </a:solidFill>
                        </a:rPr>
                        <a:t>MLP </a:t>
                      </a: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알고리즘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57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16743-D261-E79A-194B-B23AE090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95273-6A76-B792-5DA8-8EEB1D7F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 err="1"/>
              <a:t>Softmax</a:t>
            </a:r>
            <a:r>
              <a:rPr kumimoji="1" lang="ko-KR" altLang="en-US" dirty="0"/>
              <a:t> 함수는 주어진 벡터를 </a:t>
            </a:r>
            <a:r>
              <a:rPr kumimoji="1" lang="ko-KR" altLang="en-US" dirty="0" err="1"/>
              <a:t>입력값으로</a:t>
            </a:r>
            <a:r>
              <a:rPr kumimoji="1" lang="ko-KR" altLang="en-US" dirty="0"/>
              <a:t> 받아 각 원소가 </a:t>
            </a:r>
            <a:r>
              <a:rPr kumimoji="1" lang="en-US" altLang="ko-KR" dirty="0"/>
              <a:t>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1 </a:t>
            </a:r>
            <a:r>
              <a:rPr kumimoji="1" lang="ko-KR" altLang="en-US" dirty="0"/>
              <a:t>사이의 </a:t>
            </a:r>
            <a:r>
              <a:rPr kumimoji="1" lang="ko-KR" altLang="en-US" dirty="0" err="1"/>
              <a:t>실수값을</a:t>
            </a:r>
            <a:r>
              <a:rPr kumimoji="1" lang="ko-KR" altLang="en-US" dirty="0"/>
              <a:t> 가지며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모든 원소의 합이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되도록 변환해주는 함수입니다</a:t>
            </a:r>
            <a:r>
              <a:rPr kumimoji="1" lang="en-US" altLang="ko-KR" dirty="0"/>
              <a:t>. 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 함수는 분류</a:t>
            </a:r>
            <a:r>
              <a:rPr kumimoji="1" lang="en-US" altLang="ko-KR" dirty="0"/>
              <a:t>(classification)</a:t>
            </a:r>
            <a:r>
              <a:rPr kumimoji="1" lang="ko-KR" altLang="en-US" dirty="0"/>
              <a:t> 문제에서 다중 클래스의 확률을 예측하는 데 주로 사용됩니다</a:t>
            </a:r>
            <a:r>
              <a:rPr kumimoji="1" lang="en-US" altLang="ko-KR" dirty="0"/>
              <a:t>.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함수는 입력 벡터의 각 원소가 어떤 클래스에 속할 확률을 나타내도록 변환해줍니다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990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1DA8-74CD-2665-CF3F-DB64B89C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13491-6C73-CD4F-1FD3-D671C150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예를 들어</a:t>
            </a:r>
            <a:r>
              <a:rPr kumimoji="1" lang="en-US" altLang="ko-KR" dirty="0"/>
              <a:t>, </a:t>
            </a:r>
            <a:r>
              <a:rPr kumimoji="1" lang="ko-KR" altLang="en-US" dirty="0"/>
              <a:t>다음과 같은 입력 벡터를 가정해보겠습니다</a:t>
            </a:r>
            <a:r>
              <a:rPr kumimoji="1" lang="en-US" altLang="ko-KR" dirty="0"/>
              <a:t>: [1, 2, 3].</a:t>
            </a:r>
            <a:br>
              <a:rPr kumimoji="1" lang="en-US" altLang="ko-KR" dirty="0"/>
            </a:b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적용하면 각 원소를 </a:t>
            </a:r>
            <a:r>
              <a:rPr kumimoji="1" lang="en-US" altLang="ko-KR" dirty="0"/>
              <a:t>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1 </a:t>
            </a:r>
            <a:r>
              <a:rPr kumimoji="1" lang="ko-KR" altLang="en-US" dirty="0"/>
              <a:t>사이의 값으로 변환하고 모든 원소의 합이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 되도록 만들어줍니다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ko-KR" altLang="en-US" dirty="0"/>
              <a:t>따라서 이 입력 벡터에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적용하면 다음과 같은 출력 벡터를 얻을 수 있습니다</a:t>
            </a:r>
            <a:br>
              <a:rPr kumimoji="1" lang="en-US" altLang="ko-KR" dirty="0"/>
            </a:br>
            <a:r>
              <a:rPr kumimoji="1" lang="en-US" altLang="ko-KR" dirty="0"/>
              <a:t>[0.090, 0.244, 0.665].</a:t>
            </a:r>
          </a:p>
          <a:p>
            <a:endParaRPr kumimoji="1" lang="en-US" altLang="ko-KR" dirty="0"/>
          </a:p>
          <a:p>
            <a:r>
              <a:rPr kumimoji="1" lang="en" altLang="ko-KR" dirty="0" err="1"/>
              <a:t>Softmax</a:t>
            </a:r>
            <a:r>
              <a:rPr kumimoji="1" lang="ko-KR" altLang="en-US" dirty="0"/>
              <a:t> 함수는 주로 출력 벡터를 확률로 해석하므로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예제에서는 입력 벡터의 첫 번째 원소가 </a:t>
            </a:r>
            <a:r>
              <a:rPr kumimoji="1" lang="en-US" altLang="ko-KR" dirty="0"/>
              <a:t>0.090</a:t>
            </a:r>
            <a:r>
              <a:rPr kumimoji="1" lang="ko-KR" altLang="en-US" dirty="0"/>
              <a:t>의 확률로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두 번째 원소가 </a:t>
            </a:r>
            <a:r>
              <a:rPr kumimoji="1" lang="en-US" altLang="ko-KR" dirty="0"/>
              <a:t>0.244</a:t>
            </a:r>
            <a:r>
              <a:rPr kumimoji="1" lang="ko-KR" altLang="en-US" dirty="0"/>
              <a:t>의 확률로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세 번째 원소가 </a:t>
            </a:r>
            <a:r>
              <a:rPr kumimoji="1" lang="en-US" altLang="ko-KR" dirty="0"/>
              <a:t>0.665</a:t>
            </a:r>
            <a:r>
              <a:rPr kumimoji="1" lang="ko-KR" altLang="en-US" dirty="0"/>
              <a:t>의 확률로 속한다고 볼 수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946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22E9-5D8A-EFD8-ADD9-B678BB8B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59387-6968-C54B-326B-6F37178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" altLang="ko-KR" dirty="0" err="1"/>
                  <a:t>Softmax</a:t>
                </a:r>
                <a:r>
                  <a:rPr kumimoji="1" lang="ko-KR" altLang="en-US" dirty="0"/>
                  <a:t> 함수는 입력 벡터의 각 원소를 확률로 해석하기 위해 지수 함수</a:t>
                </a:r>
                <a:r>
                  <a:rPr kumimoji="1" lang="en-US" altLang="ko-KR" dirty="0"/>
                  <a:t>(</a:t>
                </a:r>
                <a:r>
                  <a:rPr kumimoji="1" lang="en" altLang="ko-KR" dirty="0"/>
                  <a:t>exponential function)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사용하여 변환합니다</a:t>
                </a:r>
                <a:r>
                  <a:rPr kumimoji="1" lang="en-US" altLang="ko-KR" dirty="0"/>
                  <a:t>. </a:t>
                </a:r>
                <a:r>
                  <a:rPr kumimoji="1" lang="ko-KR" altLang="en-US" dirty="0"/>
                  <a:t>주어진 입력 벡터 </a:t>
                </a:r>
                <a:r>
                  <a:rPr kumimoji="1" lang="en" altLang="ko-KR" dirty="0"/>
                  <a:t>a</a:t>
                </a:r>
                <a:r>
                  <a:rPr kumimoji="1" lang="ko-KR" altLang="en-US" dirty="0" err="1"/>
                  <a:t>에</a:t>
                </a:r>
                <a:r>
                  <a:rPr kumimoji="1" lang="ko-KR" altLang="en-US" dirty="0"/>
                  <a:t> 대해 </a:t>
                </a:r>
                <a:r>
                  <a:rPr kumimoji="1" lang="en" altLang="ko-KR" dirty="0" err="1"/>
                  <a:t>Softmax</a:t>
                </a:r>
                <a:r>
                  <a:rPr kumimoji="1" lang="ko-KR" altLang="en-US" dirty="0"/>
                  <a:t> 함수의 수식은 다음과 같습니다</a:t>
                </a:r>
                <a:r>
                  <a:rPr kumimoji="1" lang="en-US" altLang="ko-KR" dirty="0"/>
                  <a:t>.</a:t>
                </a:r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ko-KR" altLang="en-US" dirty="0"/>
                  <a:t>는 입력 벡터의 </a:t>
                </a:r>
                <a:r>
                  <a:rPr kumimoji="1" lang="en-US" altLang="ko-KR" dirty="0" err="1"/>
                  <a:t>i</a:t>
                </a:r>
                <a:r>
                  <a:rPr kumimoji="1" lang="ko-KR" altLang="en-US" dirty="0"/>
                  <a:t>번째 원소를 나타내며</a:t>
                </a:r>
                <a:r>
                  <a:rPr kumimoji="1" lang="en-US" altLang="ko-KR" dirty="0"/>
                  <a:t>, N</a:t>
                </a:r>
                <a:r>
                  <a:rPr kumimoji="1" lang="ko-KR" altLang="en-US" dirty="0"/>
                  <a:t>은 입력 벡터의 길이입니다</a:t>
                </a:r>
                <a:r>
                  <a:rPr kumimoji="1" lang="en-US" altLang="ko-KR" dirty="0"/>
                  <a:t>. </a:t>
                </a:r>
                <a:r>
                  <a:rPr kumimoji="1" lang="ko-KR" altLang="en-US" dirty="0"/>
                  <a:t>이 수식은 각 원소를 지수 함수로 변환하여 양수로 만들고</a:t>
                </a:r>
                <a:r>
                  <a:rPr kumimoji="1" lang="en-US" altLang="ko-KR" dirty="0"/>
                  <a:t>, </a:t>
                </a:r>
                <a:r>
                  <a:rPr kumimoji="1" lang="ko-KR" altLang="en-US" dirty="0"/>
                  <a:t>이들의 합으로 나누어서 확률로 </a:t>
                </a:r>
                <a:r>
                  <a:rPr kumimoji="1" lang="ko-KR" altLang="en-US" dirty="0" err="1"/>
                  <a:t>정규화합니다</a:t>
                </a:r>
                <a:r>
                  <a:rPr kumimoji="1" lang="en-US" altLang="ko-KR" dirty="0"/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7" t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0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50403-5122-9723-049A-1C1F1E7C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89CAB-0FBF-4E50-B61B-F68EA479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BDA58-34F7-3D89-4BAB-C5AC1BF7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로짓</a:t>
            </a:r>
            <a:r>
              <a:rPr kumimoji="1" lang="en-US" altLang="ko-KR" dirty="0"/>
              <a:t>(</a:t>
            </a:r>
            <a:r>
              <a:rPr kumimoji="1" lang="en" altLang="ko-KR" dirty="0"/>
              <a:t>LOGIT)</a:t>
            </a:r>
            <a:r>
              <a:rPr kumimoji="1" lang="ko-KR" altLang="en-US" dirty="0"/>
              <a:t>과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의 관계</a:t>
            </a:r>
          </a:p>
          <a:p>
            <a:r>
              <a:rPr kumimoji="1" lang="ko-KR" altLang="en-US" dirty="0" err="1"/>
              <a:t>로짓이란</a:t>
            </a:r>
            <a:r>
              <a:rPr kumimoji="1" lang="en-US" altLang="ko-KR" dirty="0"/>
              <a:t>? [0,1] </a:t>
            </a:r>
            <a:r>
              <a:rPr kumimoji="1" lang="ko-KR" altLang="en-US" dirty="0"/>
              <a:t>사이의 값을 무한의 실수 값으로 변환함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 err="1"/>
              <a:t>로짓은</a:t>
            </a:r>
            <a:r>
              <a:rPr kumimoji="1" lang="ko-KR" altLang="en-US" dirty="0"/>
              <a:t> 확률 값으로 변환되기 직전의 최종 결과 값이다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다른 말로 </a:t>
            </a:r>
            <a:r>
              <a:rPr kumimoji="1" lang="en" altLang="ko-KR" dirty="0"/>
              <a:t>SCORE</a:t>
            </a:r>
            <a:r>
              <a:rPr kumimoji="1" lang="ko-KR" altLang="en-US" dirty="0"/>
              <a:t>라고도 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분류</a:t>
            </a:r>
            <a:r>
              <a:rPr kumimoji="1" lang="en-US" altLang="ko-KR" dirty="0"/>
              <a:t>(</a:t>
            </a:r>
            <a:r>
              <a:rPr kumimoji="1" lang="en" altLang="ko-KR" dirty="0"/>
              <a:t>classification) </a:t>
            </a:r>
            <a:r>
              <a:rPr kumimoji="1" lang="ko-KR" altLang="en-US" dirty="0"/>
              <a:t>계열의 신경망 모델의 마지막 </a:t>
            </a:r>
            <a:r>
              <a:rPr kumimoji="1" lang="en" altLang="ko-KR" dirty="0"/>
              <a:t>layer</a:t>
            </a:r>
            <a:r>
              <a:rPr kumimoji="1" lang="ko-KR" altLang="en-US" dirty="0"/>
              <a:t>에서 소프트 맥스 함수가 활용되는데 </a:t>
            </a:r>
            <a:r>
              <a:rPr kumimoji="1" lang="ko-KR" altLang="en-US" dirty="0" err="1"/>
              <a:t>로짓</a:t>
            </a:r>
            <a:r>
              <a:rPr kumimoji="1" lang="ko-KR" altLang="en-US" dirty="0"/>
              <a:t> 함수는 소프트 맥스 함수에 그 값을 전달해주는 역할을 한다</a:t>
            </a:r>
            <a:r>
              <a:rPr kumimoji="1"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6509F7-FC22-7A09-1163-98F4D9BF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3" y="3840478"/>
            <a:ext cx="3879260" cy="259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B6F9-6B3B-3E59-3F6D-E94D0C9E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6623F-E946-0888-CDBB-36ADFF2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Softmax</a:t>
            </a:r>
            <a:r>
              <a:rPr kumimoji="1" lang="en-US" altLang="ko-KR" dirty="0"/>
              <a:t> </a:t>
            </a:r>
            <a:r>
              <a:rPr kumimoji="1"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B424B-3BA0-DBDD-833D-A6983965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r>
              <a:rPr kumimoji="1" lang="ko-KR" altLang="en-US" dirty="0"/>
              <a:t>큰 값 </a:t>
            </a:r>
            <a:r>
              <a:rPr kumimoji="1" lang="ko-KR" altLang="en-US" dirty="0" err="1"/>
              <a:t>입력시</a:t>
            </a:r>
            <a:r>
              <a:rPr kumimoji="1" lang="en-US" altLang="ko-KR" dirty="0"/>
              <a:t>, O</a:t>
            </a:r>
            <a:r>
              <a:rPr kumimoji="1" lang="en" altLang="ko-KR" dirty="0" err="1"/>
              <a:t>verflow</a:t>
            </a:r>
            <a:r>
              <a:rPr kumimoji="1" lang="en-US" altLang="ko-KR" dirty="0"/>
              <a:t>(</a:t>
            </a:r>
            <a:r>
              <a:rPr kumimoji="1" lang="ko-KR" altLang="en-US" dirty="0"/>
              <a:t>너무 큰 값은 컴퓨터에서 계산이 안됨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취약</a:t>
            </a:r>
            <a:endParaRPr kumimoji="1" lang="en-US" altLang="ko-KR" dirty="0"/>
          </a:p>
          <a:p>
            <a:endParaRPr kumimoji="1" lang="ko-KR" altLang="en-US" dirty="0"/>
          </a:p>
          <a:p>
            <a:r>
              <a:rPr kumimoji="1" lang="ko-KR" altLang="en-US" dirty="0"/>
              <a:t>함수 </a:t>
            </a:r>
            <a:r>
              <a:rPr kumimoji="1" lang="en" altLang="ko-KR" dirty="0"/>
              <a:t>y = exp(x)</a:t>
            </a:r>
            <a:r>
              <a:rPr kumimoji="1" lang="ko-KR" altLang="en-US" dirty="0"/>
              <a:t>가 증가 함수이기 때문에</a:t>
            </a:r>
            <a:r>
              <a:rPr kumimoji="1" lang="en-US" altLang="ko-KR" dirty="0"/>
              <a:t>,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함수를 적용해도 각 원소의 대소 관계는 변하지 않음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  <a:p>
            <a:r>
              <a:rPr kumimoji="1" lang="ko-KR" altLang="en-US" dirty="0"/>
              <a:t>입력 벡터 중 큰 값을 가진 원소에 대해서는 </a:t>
            </a:r>
            <a:r>
              <a:rPr kumimoji="1" lang="en" altLang="ko-KR" dirty="0" err="1"/>
              <a:t>Softmax</a:t>
            </a:r>
            <a:r>
              <a:rPr kumimoji="1" lang="ko-KR" altLang="en-US" dirty="0"/>
              <a:t> 함수의 </a:t>
            </a:r>
            <a:r>
              <a:rPr kumimoji="1" lang="ko-KR" altLang="en-US" dirty="0" err="1"/>
              <a:t>출력값이</a:t>
            </a:r>
            <a:r>
              <a:rPr kumimoji="1" lang="ko-KR" altLang="en-US" dirty="0"/>
              <a:t> 더 크게 나타나게 된다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74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495BB-F1DF-E831-7CB1-B944530E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kumimoji="1" lang="ko-KR" altLang="en-US" dirty="0"/>
              <a:t>인공지능 </a:t>
            </a:r>
            <a:r>
              <a:rPr kumimoji="1" lang="en-US" altLang="ko-KR" dirty="0"/>
              <a:t>vs </a:t>
            </a:r>
            <a:r>
              <a:rPr kumimoji="1" lang="ko-KR" altLang="en-US" dirty="0" err="1"/>
              <a:t>머신러닝</a:t>
            </a:r>
            <a:r>
              <a:rPr kumimoji="1" lang="ko-KR" altLang="en-US" dirty="0"/>
              <a:t> </a:t>
            </a:r>
            <a:r>
              <a:rPr kumimoji="1" lang="en-US" altLang="ko-KR" dirty="0"/>
              <a:t>vs </a:t>
            </a:r>
            <a:r>
              <a:rPr kumimoji="1" lang="ko-KR" altLang="en-US" dirty="0"/>
              <a:t>딥러닝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7C522B-9C43-EA0C-A483-3AD9267E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2040" y="1393089"/>
            <a:ext cx="6675120" cy="407182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12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A79DC-ABB2-6E46-0B37-ED6BEFE6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Machine Learning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B11D6-92F8-4DA4-918D-ABED8D985F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5087536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ML: </a:t>
            </a:r>
            <a:r>
              <a:rPr kumimoji="1" lang="ko-KR" altLang="en-US" dirty="0"/>
              <a:t>머신 러닝은 주어진 데이터를 이용하여 컴퓨터 스스로 학습하여 인공지능 성능을 향상시키는 기술</a:t>
            </a:r>
            <a:endParaRPr kumimoji="1" lang="en-US" altLang="ko-KR" dirty="0"/>
          </a:p>
          <a:p>
            <a:r>
              <a:rPr kumimoji="1" lang="ko-KR" altLang="en-US" dirty="0"/>
              <a:t>특징</a:t>
            </a:r>
            <a:r>
              <a:rPr kumimoji="1" lang="en-US" altLang="ko-KR" dirty="0"/>
              <a:t>:</a:t>
            </a:r>
          </a:p>
          <a:p>
            <a:pPr lvl="1"/>
            <a:r>
              <a:rPr kumimoji="1" lang="ko-KR" altLang="en-US" dirty="0"/>
              <a:t>사전에 학습 데이터</a:t>
            </a:r>
            <a:r>
              <a:rPr kumimoji="1" lang="en-US" altLang="ko-KR" dirty="0"/>
              <a:t> </a:t>
            </a:r>
            <a:r>
              <a:rPr kumimoji="1" lang="ko-KR" altLang="en-US" dirty="0" err="1"/>
              <a:t>전처리</a:t>
            </a:r>
            <a:r>
              <a:rPr kumimoji="1" lang="ko-KR" altLang="en-US" dirty="0"/>
              <a:t> 필요</a:t>
            </a:r>
            <a:endParaRPr kumimoji="1" lang="en-US" altLang="ko-KR" dirty="0"/>
          </a:p>
          <a:p>
            <a:r>
              <a:rPr kumimoji="1" lang="ko-KR" altLang="en-US" dirty="0"/>
              <a:t>종류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지도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정답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문제를 모두 알려주고 컴퓨터를 학습시키는 방법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비지도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정답을 가르쳐 주지 않고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스스로 문제를 풀고 추론할 수 있도록 하는 학습 방법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강화 학습</a:t>
            </a:r>
            <a:r>
              <a:rPr kumimoji="1" lang="en-US" altLang="ko-KR" dirty="0"/>
              <a:t>:</a:t>
            </a:r>
            <a:r>
              <a:rPr kumimoji="1" lang="ko-KR" altLang="en-US" dirty="0"/>
              <a:t> 행동에 대한 보상을 통해 행위를 강화해 나가는 방법</a:t>
            </a:r>
            <a:endParaRPr kumimoji="1" lang="en-US" altLang="ko-KR" dirty="0"/>
          </a:p>
          <a:p>
            <a:r>
              <a:rPr kumimoji="1" lang="ko-KR" altLang="en-US" dirty="0"/>
              <a:t>예시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선형 회귀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SVM</a:t>
            </a:r>
          </a:p>
          <a:p>
            <a:pPr lvl="1"/>
            <a:r>
              <a:rPr kumimoji="1" lang="en-US" altLang="ko-KR" dirty="0"/>
              <a:t>Decision Tree</a:t>
            </a:r>
          </a:p>
          <a:p>
            <a:pPr lvl="1"/>
            <a:r>
              <a:rPr kumimoji="1" lang="ko-KR" altLang="en-US" dirty="0" err="1"/>
              <a:t>부스팅</a:t>
            </a:r>
            <a:r>
              <a:rPr kumimoji="1" lang="ko-KR" altLang="en-US" dirty="0"/>
              <a:t> 기법 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XGBoost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LightGBM</a:t>
            </a:r>
            <a:r>
              <a:rPr kumimoji="1" lang="en-US" altLang="ko-KR" dirty="0"/>
              <a:t> </a:t>
            </a:r>
            <a:r>
              <a:rPr kumimoji="1" lang="ko-KR" altLang="en-US" dirty="0"/>
              <a:t>등</a:t>
            </a:r>
            <a:r>
              <a:rPr kumimoji="1"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400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D4D5-BD89-4966-B164-16F684F2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2DAF3-4FD4-91FF-5DF8-6FAC2D35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Deep Learning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157F3-200F-36B4-DE93-EDFAFD9A1F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4389120"/>
          </a:xfrm>
        </p:spPr>
        <p:txBody>
          <a:bodyPr/>
          <a:lstStyle/>
          <a:p>
            <a:r>
              <a:rPr kumimoji="1" lang="en-US" altLang="ko-KR" dirty="0"/>
              <a:t>DL: </a:t>
            </a:r>
            <a:r>
              <a:rPr kumimoji="1" lang="ko-KR" altLang="en-US" dirty="0" err="1"/>
              <a:t>딥러닝은</a:t>
            </a:r>
            <a:r>
              <a:rPr kumimoji="1" lang="ko-KR" altLang="en-US" dirty="0"/>
              <a:t> 인공신경망을 </a:t>
            </a:r>
            <a:r>
              <a:rPr kumimoji="1" lang="ko-KR" altLang="en-US" dirty="0" err="1"/>
              <a:t>머신러닝에</a:t>
            </a:r>
            <a:r>
              <a:rPr kumimoji="1" lang="ko-KR" altLang="en-US" dirty="0"/>
              <a:t> 적용한 기술</a:t>
            </a:r>
            <a:endParaRPr kumimoji="1" lang="en-US" altLang="ko-KR" dirty="0"/>
          </a:p>
          <a:p>
            <a:r>
              <a:rPr kumimoji="1" lang="ko-KR" altLang="en-US" dirty="0"/>
              <a:t>특징</a:t>
            </a:r>
            <a:r>
              <a:rPr kumimoji="1" lang="en-US" altLang="ko-KR" dirty="0"/>
              <a:t>:</a:t>
            </a:r>
          </a:p>
          <a:p>
            <a:pPr lvl="1"/>
            <a:r>
              <a:rPr kumimoji="1" lang="ko-KR" altLang="en-US" dirty="0"/>
              <a:t>인간이 처리해 줘야 하는 작업은 생략되고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알고리즘이 스스로 분석하고 답을 찾아냄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기본 데이터가 많아야 좋음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연산량이</a:t>
            </a:r>
            <a:r>
              <a:rPr kumimoji="1" lang="ko-KR" altLang="en-US" dirty="0"/>
              <a:t> 많음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학습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튜닝 시간이 </a:t>
            </a:r>
            <a:r>
              <a:rPr kumimoji="1" lang="ko-KR" altLang="en-US" dirty="0" err="1"/>
              <a:t>길어짐</a:t>
            </a:r>
            <a:endParaRPr kumimoji="1" lang="en-US" altLang="ko-KR" dirty="0"/>
          </a:p>
          <a:p>
            <a:r>
              <a:rPr kumimoji="1" lang="ko-KR" altLang="en-US" dirty="0"/>
              <a:t>대표 구조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MLP</a:t>
            </a:r>
          </a:p>
          <a:p>
            <a:pPr lvl="1"/>
            <a:r>
              <a:rPr kumimoji="1" lang="en-US" altLang="ko-KR" dirty="0"/>
              <a:t>CNN</a:t>
            </a:r>
          </a:p>
          <a:p>
            <a:pPr lvl="1"/>
            <a:r>
              <a:rPr kumimoji="1" lang="en-US" altLang="ko-KR" dirty="0"/>
              <a:t>RNN/LSTM/GRU </a:t>
            </a:r>
            <a:r>
              <a:rPr kumimoji="1" lang="ko-KR" altLang="en-US" dirty="0"/>
              <a:t>등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486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353C-873E-4C9C-D174-D5ACAB34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8AFB-83F6-56DC-67E9-BDDA6D17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795C1-1869-2074-C5CB-58451637B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1602631"/>
            <a:ext cx="10371727" cy="4389120"/>
          </a:xfrm>
        </p:spPr>
        <p:txBody>
          <a:bodyPr/>
          <a:lstStyle/>
          <a:p>
            <a:r>
              <a:rPr kumimoji="1" lang="en-US" altLang="ko-KR" dirty="0"/>
              <a:t>MLP: Perceptron</a:t>
            </a:r>
            <a:r>
              <a:rPr kumimoji="1" lang="ko-KR" altLang="en-US" dirty="0"/>
              <a:t>을 여러 층으로 쌓아 올린 기법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Perceptron:</a:t>
            </a:r>
            <a:r>
              <a:rPr kumimoji="1" lang="ko-KR" altLang="en-US" dirty="0"/>
              <a:t> </a:t>
            </a:r>
            <a:r>
              <a:rPr kumimoji="1" lang="en-US" altLang="ko-KR" dirty="0"/>
              <a:t>Perceptron</a:t>
            </a:r>
            <a:r>
              <a:rPr kumimoji="1" lang="ko-KR" altLang="en-US" dirty="0"/>
              <a:t>은 아주 간단한 인공지능 모델</a:t>
            </a:r>
            <a:r>
              <a:rPr kumimoji="1" lang="en-US" altLang="ko-KR" dirty="0"/>
              <a:t>.</a:t>
            </a:r>
          </a:p>
          <a:p>
            <a:pPr lvl="1"/>
            <a:r>
              <a:rPr kumimoji="1" lang="ko-KR" altLang="en-US" dirty="0" err="1"/>
              <a:t>입력값이</a:t>
            </a:r>
            <a:r>
              <a:rPr kumimoji="1" lang="ko-KR" altLang="en-US" dirty="0"/>
              <a:t> 들어오면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각 입력에 가중치를 곱해서 더하고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마지막에 활성 함수를 거쳐 결과를 나타냄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구조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입력층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(Input Layer): </a:t>
            </a:r>
            <a:r>
              <a:rPr kumimoji="1" lang="ko-KR" altLang="en-US" dirty="0"/>
              <a:t>데이터가 들어오는 부분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은닉층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(Hidden Layer): </a:t>
            </a:r>
            <a:r>
              <a:rPr kumimoji="1" lang="ko-KR" altLang="en-US" dirty="0"/>
              <a:t>데이터에서 패턴을 찾는 중간 계산 단계</a:t>
            </a:r>
            <a:r>
              <a:rPr kumimoji="1" lang="en-US" altLang="ko-KR" dirty="0"/>
              <a:t>. </a:t>
            </a:r>
            <a:r>
              <a:rPr kumimoji="1" lang="ko-KR" altLang="en-US" dirty="0"/>
              <a:t>여러 층을 거치면서 점점 복잡한 특징을 학습</a:t>
            </a:r>
            <a:endParaRPr kumimoji="1" lang="en-US" altLang="ko-KR" dirty="0"/>
          </a:p>
          <a:p>
            <a:pPr lvl="1"/>
            <a:r>
              <a:rPr kumimoji="1" lang="ko-KR" altLang="en-US" dirty="0" err="1"/>
              <a:t>출력층</a:t>
            </a:r>
            <a:r>
              <a:rPr kumimoji="1" lang="ko-KR" altLang="en-US" dirty="0"/>
              <a:t> </a:t>
            </a:r>
            <a:r>
              <a:rPr kumimoji="1" lang="en-US" altLang="ko-KR" dirty="0"/>
              <a:t>(Output Layer): </a:t>
            </a:r>
            <a:r>
              <a:rPr kumimoji="1" lang="ko-KR" altLang="en-US" dirty="0"/>
              <a:t>최종 결과를 출력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76344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BD884-A145-AB87-D223-7CBDA5DC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7A41A4-D366-9546-DE0A-9D713458223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562" y="1509926"/>
            <a:ext cx="8769852" cy="506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D53D0E71-B333-40B4-8BE0-83177DFDA05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46849" y="1694592"/>
            <a:ext cx="796843" cy="507219"/>
          </a:xfrm>
          <a:prstGeom prst="bentConnector3">
            <a:avLst>
              <a:gd name="adj1" fmla="val -49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oval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92E107-DFA3-F1E2-1D9C-2C728641FF48}"/>
              </a:ext>
            </a:extLst>
          </p:cNvPr>
          <p:cNvSpPr txBox="1"/>
          <p:nvPr/>
        </p:nvSpPr>
        <p:spPr>
          <a:xfrm>
            <a:off x="7343692" y="1509926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Node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Neuron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86FB20-ABB6-5A62-9BF8-3E367747E42C}"/>
              </a:ext>
            </a:extLst>
          </p:cNvPr>
          <p:cNvSpPr/>
          <p:nvPr/>
        </p:nvSpPr>
        <p:spPr>
          <a:xfrm>
            <a:off x="4548136" y="1969532"/>
            <a:ext cx="630936" cy="3772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999430CC-FA70-0C7B-6762-1DD06DAC7D2B}"/>
              </a:ext>
            </a:extLst>
          </p:cNvPr>
          <p:cNvCxnSpPr>
            <a:cxnSpLocks/>
            <a:stCxn id="12" idx="0"/>
            <a:endCxn id="20" idx="3"/>
          </p:cNvCxnSpPr>
          <p:nvPr/>
        </p:nvCxnSpPr>
        <p:spPr>
          <a:xfrm rot="16200000" flipV="1">
            <a:off x="4370414" y="1476341"/>
            <a:ext cx="274941" cy="711441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98B357-15DF-2942-A9F5-CFB4A27EAC6E}"/>
              </a:ext>
            </a:extLst>
          </p:cNvPr>
          <p:cNvSpPr txBox="1"/>
          <p:nvPr/>
        </p:nvSpPr>
        <p:spPr>
          <a:xfrm>
            <a:off x="3441712" y="150992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Layer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B4D364-9C22-C7FF-1B82-8D52CE0AA2A5}"/>
              </a:ext>
            </a:extLst>
          </p:cNvPr>
          <p:cNvSpPr/>
          <p:nvPr/>
        </p:nvSpPr>
        <p:spPr>
          <a:xfrm>
            <a:off x="2307856" y="1981006"/>
            <a:ext cx="8275320" cy="37614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C7B4A74A-DE03-0F7F-0334-EEED52544108}"/>
              </a:ext>
            </a:extLst>
          </p:cNvPr>
          <p:cNvCxnSpPr>
            <a:cxnSpLocks/>
            <a:stCxn id="23" idx="1"/>
            <a:endCxn id="26" idx="2"/>
          </p:cNvCxnSpPr>
          <p:nvPr/>
        </p:nvCxnSpPr>
        <p:spPr>
          <a:xfrm rot="10800000">
            <a:off x="1460252" y="2856337"/>
            <a:ext cx="847604" cy="10053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1C2D12-1860-FBB3-A7DC-74CCE384627C}"/>
              </a:ext>
            </a:extLst>
          </p:cNvPr>
          <p:cNvSpPr txBox="1"/>
          <p:nvPr/>
        </p:nvSpPr>
        <p:spPr>
          <a:xfrm>
            <a:off x="612648" y="2487004"/>
            <a:ext cx="169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Neural Network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85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801-F3D3-EB58-550C-B96B58F9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D5858-9A9F-5F2D-2405-C58683F5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/>
                  <a:t>계산 방법</a:t>
                </a: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전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출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(=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현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재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입</m:t>
                    </m:r>
                    <m:r>
                      <a:rPr kumimoji="1"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가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중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행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렬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편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향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활성화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함수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등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최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종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출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다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입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력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이전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현재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16" t="-2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64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1160-759D-0418-50D5-FB710F9B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76358-DE5C-BAE1-BE32-414A64DA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73AB0CB-5134-B2F2-8E26-7F1109EB9148}"/>
              </a:ext>
            </a:extLst>
          </p:cNvPr>
          <p:cNvSpPr/>
          <p:nvPr/>
        </p:nvSpPr>
        <p:spPr>
          <a:xfrm>
            <a:off x="4220023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1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E2BF0ED-0693-5103-E948-77218895341C}"/>
              </a:ext>
            </a:extLst>
          </p:cNvPr>
          <p:cNvSpPr/>
          <p:nvPr/>
        </p:nvSpPr>
        <p:spPr>
          <a:xfrm>
            <a:off x="4220023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2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AB7563-34D7-3428-0FB9-F3A264ACAF36}"/>
              </a:ext>
            </a:extLst>
          </p:cNvPr>
          <p:cNvSpPr/>
          <p:nvPr/>
        </p:nvSpPr>
        <p:spPr>
          <a:xfrm>
            <a:off x="6260143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6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04B7FFA-6CD0-561D-1499-859B6A2FA7CA}"/>
              </a:ext>
            </a:extLst>
          </p:cNvPr>
          <p:cNvSpPr/>
          <p:nvPr/>
        </p:nvSpPr>
        <p:spPr>
          <a:xfrm>
            <a:off x="6260143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5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0CE79-1F2C-2BE7-7843-ADFB1A7E54C2}"/>
              </a:ext>
            </a:extLst>
          </p:cNvPr>
          <p:cNvSpPr/>
          <p:nvPr/>
        </p:nvSpPr>
        <p:spPr>
          <a:xfrm>
            <a:off x="6260143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3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B3CFE2E-65FB-2445-8DBD-5750D004ECD9}"/>
              </a:ext>
            </a:extLst>
          </p:cNvPr>
          <p:cNvSpPr/>
          <p:nvPr/>
        </p:nvSpPr>
        <p:spPr>
          <a:xfrm>
            <a:off x="8282129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9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28D0A6-B778-B7DA-9CDE-2B610B83437D}"/>
              </a:ext>
            </a:extLst>
          </p:cNvPr>
          <p:cNvSpPr/>
          <p:nvPr/>
        </p:nvSpPr>
        <p:spPr>
          <a:xfrm>
            <a:off x="8282129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22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7ACC14-BDF3-7763-2715-EA59FE31CB33}"/>
              </a:ext>
            </a:extLst>
          </p:cNvPr>
          <p:cNvSpPr/>
          <p:nvPr/>
        </p:nvSpPr>
        <p:spPr>
          <a:xfrm>
            <a:off x="8282129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6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548C12-A891-CAD1-A1E9-2B156449D9C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4940023" y="2667889"/>
            <a:ext cx="1320120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B84EE0C-8A97-9638-B584-368066EFC59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4940023" y="3168616"/>
            <a:ext cx="1320120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4F85E41-120C-8F72-7505-D5C2DE59336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4940023" y="3168616"/>
            <a:ext cx="1320120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1FD7E49-4734-FEE9-2AAA-CEB251A54BC8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4940023" y="3803941"/>
            <a:ext cx="1320120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51AF78-63EE-F0AC-E28E-38BCED0FEEB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940023" y="4369775"/>
            <a:ext cx="1320120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C7B2C4C-0E7D-B306-FBDC-78EBB749A8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940023" y="2667889"/>
            <a:ext cx="1320120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EA0714-BE47-7DD3-7B58-CBC187ECC84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980143" y="2667889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C1143D-336A-0C4D-F90C-63A8BF98F643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F6D8272-64CC-4CAA-FC20-7C58A80F3C8A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9DB0A7-9822-109A-D9F3-515F0ED8942B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A08E890-3BFE-4AB0-BFF2-156C7529791E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1B7D052-3EAA-4695-2DDB-65D4D3C26F10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980143" y="3803941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24430D3-8928-2B61-244B-A3EE17DD02F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0B98F40-2A8D-F5ED-956E-0E60B918F03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 flipV="1"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0D15879C-404D-EE9E-650A-9474F9690FCE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980143" y="4939993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9F65189-4DF9-BCCE-886A-2999695B5E74}"/>
              </a:ext>
            </a:extLst>
          </p:cNvPr>
          <p:cNvCxnSpPr>
            <a:cxnSpLocks/>
            <a:stCxn id="9" idx="6"/>
            <a:endCxn id="154" idx="2"/>
          </p:cNvCxnSpPr>
          <p:nvPr/>
        </p:nvCxnSpPr>
        <p:spPr>
          <a:xfrm>
            <a:off x="9002129" y="2667889"/>
            <a:ext cx="1225812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62B8E66F-9B19-1AA1-1EC5-134447DFF4AE}"/>
              </a:ext>
            </a:extLst>
          </p:cNvPr>
          <p:cNvCxnSpPr>
            <a:cxnSpLocks/>
            <a:stCxn id="11" idx="6"/>
            <a:endCxn id="154" idx="2"/>
          </p:cNvCxnSpPr>
          <p:nvPr/>
        </p:nvCxnSpPr>
        <p:spPr>
          <a:xfrm flipV="1">
            <a:off x="9002129" y="3168616"/>
            <a:ext cx="1225812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6B07E0F-8BD7-D102-4E28-882CA2699D57}"/>
              </a:ext>
            </a:extLst>
          </p:cNvPr>
          <p:cNvCxnSpPr>
            <a:cxnSpLocks/>
            <a:stCxn id="10" idx="6"/>
            <a:endCxn id="154" idx="2"/>
          </p:cNvCxnSpPr>
          <p:nvPr/>
        </p:nvCxnSpPr>
        <p:spPr>
          <a:xfrm flipV="1">
            <a:off x="9002129" y="3168616"/>
            <a:ext cx="1225812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907F6F5-E653-5A1B-DD83-09817BA58E73}"/>
              </a:ext>
            </a:extLst>
          </p:cNvPr>
          <p:cNvSpPr/>
          <p:nvPr/>
        </p:nvSpPr>
        <p:spPr>
          <a:xfrm>
            <a:off x="618089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430AF07-BA38-E758-5325-20CE659980B3}"/>
              </a:ext>
            </a:extLst>
          </p:cNvPr>
          <p:cNvSpPr/>
          <p:nvPr/>
        </p:nvSpPr>
        <p:spPr>
          <a:xfrm>
            <a:off x="819864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6765FA-B69F-17C9-233E-E4BDE2DC96EC}"/>
              </a:ext>
            </a:extLst>
          </p:cNvPr>
          <p:cNvSpPr/>
          <p:nvPr/>
        </p:nvSpPr>
        <p:spPr>
          <a:xfrm>
            <a:off x="4136539" y="2183261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F9292EF-C141-ADBB-7FFE-D664743F2700}"/>
              </a:ext>
            </a:extLst>
          </p:cNvPr>
          <p:cNvSpPr/>
          <p:nvPr/>
        </p:nvSpPr>
        <p:spPr>
          <a:xfrm>
            <a:off x="10144457" y="2183239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EF665F-7B4C-2A42-7DCA-F11813FD4B28}"/>
              </a:ext>
            </a:extLst>
          </p:cNvPr>
          <p:cNvSpPr txBox="1"/>
          <p:nvPr/>
        </p:nvSpPr>
        <p:spPr>
          <a:xfrm>
            <a:off x="3957895" y="5505827"/>
            <a:ext cx="124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입력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(Input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86FE098-89F7-3F42-CF5C-62BF0BCD147E}"/>
              </a:ext>
            </a:extLst>
          </p:cNvPr>
          <p:cNvSpPr txBox="1"/>
          <p:nvPr/>
        </p:nvSpPr>
        <p:spPr>
          <a:xfrm>
            <a:off x="5925535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1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1)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9EA57E-E052-86E6-6D40-CF40F80EE338}"/>
              </a:ext>
            </a:extLst>
          </p:cNvPr>
          <p:cNvSpPr txBox="1"/>
          <p:nvPr/>
        </p:nvSpPr>
        <p:spPr>
          <a:xfrm>
            <a:off x="7947521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2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2)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CB7060E-E7D5-F579-F755-4BD1F144F693}"/>
              </a:ext>
            </a:extLst>
          </p:cNvPr>
          <p:cNvSpPr txBox="1"/>
          <p:nvPr/>
        </p:nvSpPr>
        <p:spPr>
          <a:xfrm>
            <a:off x="9893333" y="5502695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출력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(Output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/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, 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/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/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은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닉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력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blipFill>
                <a:blip r:embed="rId5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/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/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타원 153">
            <a:extLst>
              <a:ext uri="{FF2B5EF4-FFF2-40B4-BE49-F238E27FC236}">
                <a16:creationId xmlns:a16="http://schemas.microsoft.com/office/drawing/2014/main" id="{B018C7BE-4ECB-485E-3F54-C84EEEE8DF21}"/>
              </a:ext>
            </a:extLst>
          </p:cNvPr>
          <p:cNvSpPr/>
          <p:nvPr/>
        </p:nvSpPr>
        <p:spPr>
          <a:xfrm>
            <a:off x="10227941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0.73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5CF641FF-8407-BF76-BD9A-DDF64EB1B56F}"/>
              </a:ext>
            </a:extLst>
          </p:cNvPr>
          <p:cNvSpPr/>
          <p:nvPr/>
        </p:nvSpPr>
        <p:spPr>
          <a:xfrm>
            <a:off x="10227941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</a:rPr>
              <a:t>0.27</a:t>
            </a:r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C1BFB1A8-68CB-A93B-D47D-F71586EABDDD}"/>
              </a:ext>
            </a:extLst>
          </p:cNvPr>
          <p:cNvCxnSpPr>
            <a:cxnSpLocks/>
            <a:stCxn id="10" idx="6"/>
            <a:endCxn id="155" idx="2"/>
          </p:cNvCxnSpPr>
          <p:nvPr/>
        </p:nvCxnSpPr>
        <p:spPr>
          <a:xfrm flipV="1">
            <a:off x="9002129" y="4369775"/>
            <a:ext cx="1225812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CE4A5EB-2ABA-A3C4-637E-8C86E8B79710}"/>
              </a:ext>
            </a:extLst>
          </p:cNvPr>
          <p:cNvCxnSpPr>
            <a:cxnSpLocks/>
            <a:stCxn id="11" idx="6"/>
            <a:endCxn id="155" idx="2"/>
          </p:cNvCxnSpPr>
          <p:nvPr/>
        </p:nvCxnSpPr>
        <p:spPr>
          <a:xfrm>
            <a:off x="9002129" y="3803941"/>
            <a:ext cx="1225812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B12D70A-403B-21E4-1D84-663B71A04CA0}"/>
              </a:ext>
            </a:extLst>
          </p:cNvPr>
          <p:cNvCxnSpPr>
            <a:cxnSpLocks/>
            <a:stCxn id="9" idx="6"/>
            <a:endCxn id="155" idx="2"/>
          </p:cNvCxnSpPr>
          <p:nvPr/>
        </p:nvCxnSpPr>
        <p:spPr>
          <a:xfrm>
            <a:off x="9002129" y="2667889"/>
            <a:ext cx="1225812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20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752-2CA5-8615-DCF5-69A7E3E2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CBB0A-6F6D-9A77-98A0-3EE07ED4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Multi-Layer Perceptron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 err="1"/>
                  <a:t>교차엔트로피</a:t>
                </a:r>
                <a:r>
                  <a:rPr kumimoji="1" lang="ko-KR" altLang="en-US" sz="2000" dirty="0"/>
                  <a:t> 손실 계산 </a:t>
                </a:r>
                <a:r>
                  <a:rPr kumimoji="1" lang="en-US" altLang="ko-KR" sz="2000" dirty="0"/>
                  <a:t>(Cross-Entropy Loss)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den>
                      </m:f>
                      <m:r>
                        <m:rPr>
                          <m:nor/>
                        </m:rPr>
                        <a:rPr lang="en" altLang="ko-KR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정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답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예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측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결과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altLang="ko-KR" smtClean="0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습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률</m:t>
                    </m:r>
                  </m:oMath>
                </a14:m>
                <a:endParaRPr kumimoji="1"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최종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클래스의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16" t="-91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43106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824</Words>
  <Application>Microsoft Macintosh PowerPoint</Application>
  <PresentationFormat>와이드스크린</PresentationFormat>
  <Paragraphs>127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Aptos</vt:lpstr>
      <vt:lpstr>Aptos Light</vt:lpstr>
      <vt:lpstr>Arial</vt:lpstr>
      <vt:lpstr>Cambria Math</vt:lpstr>
      <vt:lpstr>Chroma</vt:lpstr>
      <vt:lpstr>스포츠 실시간 승률 예측</vt:lpstr>
      <vt:lpstr>목차</vt:lpstr>
      <vt:lpstr>Softmax 함수</vt:lpstr>
      <vt:lpstr>Softmax 함수</vt:lpstr>
      <vt:lpstr>Softmax 함수</vt:lpstr>
      <vt:lpstr>Softmax 특징</vt:lpstr>
      <vt:lpstr>Softmax 특징</vt:lpstr>
      <vt:lpstr>인공지능 vs 머신러닝 vs 딥러닝</vt:lpstr>
      <vt:lpstr>Machine Learning</vt:lpstr>
      <vt:lpstr>Deep Learning</vt:lpstr>
      <vt:lpstr>Multi-Layer Perceptron</vt:lpstr>
      <vt:lpstr>Multi-Layer Perceptron</vt:lpstr>
      <vt:lpstr>Multi-Layer Perceptron</vt:lpstr>
      <vt:lpstr>Multi-Layer Perceptron</vt:lpstr>
      <vt:lpstr>Multi-Layer Perceptron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주</dc:creator>
  <cp:lastModifiedBy>민찬 주</cp:lastModifiedBy>
  <cp:revision>1</cp:revision>
  <dcterms:created xsi:type="dcterms:W3CDTF">2025-09-20T07:51:50Z</dcterms:created>
  <dcterms:modified xsi:type="dcterms:W3CDTF">2025-09-22T12:00:51Z</dcterms:modified>
</cp:coreProperties>
</file>