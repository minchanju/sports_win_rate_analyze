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28"/>
  </p:notesMasterIdLst>
  <p:sldIdLst>
    <p:sldId id="256" r:id="rId2"/>
    <p:sldId id="257" r:id="rId3"/>
    <p:sldId id="274" r:id="rId4"/>
    <p:sldId id="275" r:id="rId5"/>
    <p:sldId id="276" r:id="rId6"/>
    <p:sldId id="279" r:id="rId7"/>
    <p:sldId id="280" r:id="rId8"/>
    <p:sldId id="282" r:id="rId9"/>
    <p:sldId id="281" r:id="rId10"/>
    <p:sldId id="283" r:id="rId11"/>
    <p:sldId id="278" r:id="rId12"/>
    <p:sldId id="268" r:id="rId13"/>
    <p:sldId id="269" r:id="rId14"/>
    <p:sldId id="270" r:id="rId15"/>
    <p:sldId id="272" r:id="rId16"/>
    <p:sldId id="273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6" r:id="rId25"/>
    <p:sldId id="285" r:id="rId26"/>
    <p:sldId id="284" r:id="rId27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C63"/>
    <a:srgbClr val="B3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873F0-2D58-DF46-A3ED-A59E419EABB5}" v="1833" dt="2025-09-22T11:33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/>
    <p:restoredTop sz="94631"/>
  </p:normalViewPr>
  <p:slideViewPr>
    <p:cSldViewPr snapToGrid="0">
      <p:cViewPr>
        <p:scale>
          <a:sx n="94" d="100"/>
          <a:sy n="94" d="100"/>
        </p:scale>
        <p:origin x="124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1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23.3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1183 293 24575,'14'15'0,"-1"0"0,20 30 0,19 23 0,-22-37 0,2-2 0,1-1 0,1-2 0,70 42 0,-371-166 0,227 84 0,-41-14 0,-600-184 0,644 203 0,0-1 0,0-2 0,1-1 0,1-2 0,1-2 0,0-1 0,1-1 0,-42-33 0,71 49 0,0-1 0,0 0 0,0 0 0,1 0 0,-1 0 0,1 0 0,0-1 0,0 1 0,1-1 0,-4-8 0,6 11 0,0 1 0,-1-1 0,1 1 0,0-1 0,0 1 0,0-1 0,0 1 0,0-1 0,0 1 0,1 0 0,-1-1 0,0 1 0,1-1 0,-1 1 0,1-1 0,0 1 0,-1 0 0,1-1 0,0 1 0,0 0 0,0 0 0,0 0 0,0 0 0,0-1 0,0 1 0,0 1 0,0-1 0,1 0 0,-1 0 0,0 0 0,0 1 0,1-1 0,-1 0 0,1 1 0,-1-1 0,0 1 0,1 0 0,-1 0 0,1-1 0,-1 1 0,1 0 0,1 0 0,7-1 0,0 0 0,0 1 0,0 0 0,0 0 0,0 1 0,0 0 0,-1 1 0,1 0 0,0 1 0,12 4 0,13 8 0,46 25 0,270 163 0,-55-30 0,-213-129 0,-29-17 0,0 3 0,-2 2 0,84 69 0,-107-67 0,-29-33 0,0-1 0,1 1 0,-1 0 0,0-1 0,0 1 0,1-1 0,-1 1 0,0 0 0,0-1 0,0 1 0,0 0 0,0-1 0,0 1 0,0 0 0,0-1 0,0 1 0,0 0 0,-1-1 0,1 1 0,0 0 0,0-1 0,-1 2 0,0-2 0,1 1 0,-1 0 0,0 0 0,0-1 0,0 1 0,0-1 0,0 1 0,0-1 0,0 1 0,0-1 0,-1 1 0,1-1 0,0 0 0,0 0 0,0 0 0,0 1 0,-2-1 0,-10-1 0,0-1 0,0 1 0,1-2 0,-1 0 0,1 0 0,0-1 0,0-1 0,0 0 0,-18-11 0,-9-3 0,-981-494 0,1011 508 0,-17-10 0,1 0 0,0-2 0,2-1 0,-35-33 0,57 50 0,9 10 0,14 21 0,-8 8-1365,-10-26-5461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45 24575,'-2'-9'0,"-1"18"0,-2 20 0,6-2 0,2 0 0,1 0 0,10 41 0,2 10 0,-36-136 0,-2 1 0,-34-61 0,31 77 0,24 39 0,-1 0 0,1 0 0,-1 0 0,0 0 0,1 0 0,-1 0 0,0 1 0,0-1 0,0 1 0,0-1 0,-1 1 0,1 0 0,0 0 0,0 0 0,-1 0 0,-2-1 0,4 3 0,1-1 0,-1 0 0,1 0 0,-1 1 0,1-1 0,-1 0 0,1 1 0,0-1 0,-1 0 0,1 1 0,0-1 0,-1 1 0,1-1 0,0 0 0,-1 1 0,1-1 0,0 1 0,0-1 0,-1 1 0,1-1 0,0 1 0,0-1 0,0 1 0,0 0 0,0-1 0,0 1 0,0-1 0,0 1 0,0-1 0,0 1 0,0-1 0,0 1 0,0-1 0,0 1 0,1-1 0,-1 1 0,0-1 0,0 1 0,1 0 0,9 33 0,-7-25 0,-2-4 0,21 84 0,60 155 0,-68-209 0,15 32 0,-27-62 0,1 0 0,0 0 0,0-1 0,0 0 0,1 0 0,-1 0 0,1 0 0,0 0 0,0-1 0,7 5 0,-10-7 0,0 0 0,0 0 0,0-1 0,0 1 0,0-1 0,0 1 0,0-1 0,0 1 0,0-1 0,0 0 0,0 1 0,0-1 0,0 0 0,1 0 0,-1 0 0,0 0 0,0 0 0,0 0 0,0 0 0,0 0 0,0-1 0,1 1 0,-1 0 0,0 0 0,0-1 0,0 1 0,0-1 0,0 1 0,0-1 0,0 0 0,0 1 0,0-1 0,-1 0 0,1 0 0,0 1 0,0-1 0,-1 0 0,1 0 0,0 0 0,0-2 0,2-4 0,0-1 0,0 0 0,-1 0 0,0 0 0,1-9 0,7-26 0,0 28 0,0 0 0,0 0 0,2 1 0,0 1 0,0 0 0,1 0 0,25-17 0,109-64 0,-144 92 0,53-24 0,-34 17 0,-32 15 0,-25 11-1365,25-11-5461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9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 24575,'0'0'0,"3"35"0,0-31 0,-1-2 0,-1-1 0,0 1 0,1 0 0,-1-1 0,0 1 0,0 0 0,0 0 0,0 0 0,0 0 0,-1 0 0,1 0 0,-1 0 0,1 0 0,-1 0 0,0 0 0,1 0 0,-1 0 0,-1 4 0,9-62 0,-8 50 0,0-22 0,0 28 0,0 0 0,0-1 0,0 1 0,0-1 0,0 1 0,0-1 0,0 1 0,0 0 0,0-1 0,0 1 0,0-1 0,0 1 0,0 0 0,-1-1 0,1 1 0,0-1 0,0 1 0,0 0 0,-1-1 0,1 1 0,0 0 0,0-1 0,-1 1 0,1 0 0,0-1 0,-1 1 0,1 0 0,0 0 0,-1-1 0,1 1 0,0 0 0,-1 0 0,1 0 0,-1-1 0,1 1 0,0 0 0,-1 0 0,1 0 0,-1 0 0,1 0 0,-1 0 0,1 0 0,0 0 0,-1 0 0,-5 26 0,8-13 0,-2-13 0,1 1 0,-1-1 0,0 0 0,0 0 0,1 0 0,-1 0 0,0 0 0,1 0 0,-1 0 0,0 0 0,0 0 0,1 0 0,-1 0 0,0 0 0,0 0 0,1 0 0,-1 0 0,0 0 0,1 0 0,-1 0 0,0 0 0,0 0 0,1 0 0,-1 0 0,0 0 0,0-1 0,1 1 0,-1 0 0,0 0 0,0 0 0,1 0 0,-1-1 0,0 1 0,0 0 0,0 0 0,0-1 0,1 1 0,-1 0 0,0 0 0,0-1 0,27-36 0,-23 30 0,0 0 0,0 1 0,1 0 0,0 0 0,7-6 0,-12 12 0,1 0 0,0 1 0,-1-1 0,1 0 0,-1 1 0,1-1 0,-1 1 0,1-1 0,-1 1 0,1-1 0,-1 1 0,1-1 0,-1 1 0,0-1 0,1 1 0,-1 0 0,0-1 0,0 1 0,1 0 0,-1-1 0,0 1 0,0 0 0,0-1 0,0 1 0,0 0 0,0-1 0,0 1 0,0 0 0,0-1 0,0 1 0,0 1 0,3 27 0,11 332 0,-14-361 0,0 0 0,0 0 0,0 0 0,1 0 0,-1 0 0,0 0 0,0 0 0,0 0 0,0 0 0,0-1 0,0 1 0,0 0 0,0 0 0,0 0 0,0 0 0,0 0 0,0 0 0,0 0 0,1 0 0,-1 0 0,0 0 0,0 0 0,0 0 0,0 0 0,0 0 0,0 0 0,0 0 0,0 0 0,0 0 0,0 0 0,0 0 0,0 0 0,1 0 0,-1 0 0,0 1 0,0-1 0,0 0 0,0 0 0,0 0 0,0 0 0,0 0 0,0 0 0,0 0 0,0 0 0,0 0 0,0 0 0,0 0 0,0 0 0,0 0 0,0 1 0,7-15 0,6-20 0,-3 0 0,-1 0 0,-1 0 0,-3-1 0,0 0 0,-2-69 0,-4 111 0,0 1 0,-1-1 0,0 0 0,0 0 0,0 0 0,-6 10 0,-4 14 0,-3 14 0,3 0 0,2 1 0,-8 90 0,18-136 0,0 0 0,0 0 0,0 0 0,0 0 0,0 0 0,0 0 0,1 0 0,-1 0 0,0 0 0,0 0 0,0 0 0,0 0 0,0 0 0,0 0 0,1 0 0,-1 0 0,0 0 0,0 0 0,0 0 0,0 0 0,0 0 0,0 0 0,0 0 0,1 0 0,-1 1 0,0-1 0,0 0 0,0 0 0,0 0 0,0 0 0,0 0 0,0 0 0,0 0 0,0 0 0,1 0 0,-1 0 0,0 1 0,0-1 0,0 0 0,0 0 0,0 0 0,0 0 0,0 0 0,0 0 0,0 1 0,0-1 0,0 0 0,0 0 0,0 0 0,0 0 0,0 0 0,0 0 0,0 1 0,0-1 0,0 0 0,0 0 0,0 0 0,0 0 0,0 0 0,0 0 0,-1 1 0,10-16 0,7-23 0,-5-13-1365,-8 31-5461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14.4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180 186 24575,'2'-3'0,"1"0"0,-1 0 0,0 0 0,0-1 0,0 1 0,-1 0 0,1-1 0,-1 0 0,0 1 0,1-6 0,-1 7 0,4-17 0,-2 1 0,0-1 0,1-33 0,-2 24 0,-1 23 0,1 7 0,2 17 0,4 28 0,-4-6 0,-3-27 0,1-1 0,0 1 0,1-1 0,8 27 0,-8-30 0,0-1 0,-1 1 0,0 0 0,-1 0 0,0 18 0,3 18 0,-47-71 0,39 22 0,-31-35 0,34 37 0,0-1 0,0 1 0,0-1 0,0 0 0,0 0 0,0 1 0,0-1 0,0 0 0,0 0 0,1 0 0,-1 0 0,1 0 0,0 0 0,0 0 0,-1 0 0,1 0 0,0 0 0,1 0 0,-1 0 0,0 0 0,1-3 0,0 5 0,-1-1 0,0 1 0,0 0 0,0-1 0,1 1 0,-1 0 0,0-1 0,0 1 0,1 0 0,-1 0 0,0-1 0,1 1 0,-1 0 0,0 0 0,1 0 0,-1-1 0,1 1 0,-1 0 0,0 0 0,1 0 0,-1 0 0,0 0 0,1 0 0,-1 0 0,1 0 0,-1 0 0,0 0 0,1 0 0,-1 0 0,1 0 0,-1 0 0,0 0 0,1 0 0,-1 0 0,1 1 0,-1-1 0,0 0 0,1 0 0,-1 0 0,0 1 0,1-1 0,-1 0 0,0 0 0,0 1 0,1-1 0,-1 0 0,0 1 0,0-1 0,1 0 0,-1 1 0,0-1 0,0 0 0,0 1 0,0-1 0,0 1 0,1-1 0,-1 1 0,17 28 0,-13-21 0,1-1 0,0-1 0,1 0 0,0 0 0,0 0 0,0 0 0,1-1 0,-1 0 0,1-1 0,1 1 0,-1-1 0,1-1 0,-1 0 0,1 0 0,0 0 0,0-1 0,0 0 0,1 0 0,-1-1 0,0 0 0,10 0 0,-17-1 0,0 0 0,0 0 0,0-1 0,0 1 0,0 0 0,-1 0 0,1 0 0,0 0 0,0-1 0,0 1 0,-1 0 0,1-1 0,0 1 0,0-1 0,-1 1 0,1-1 0,0 1 0,-1-1 0,1 0 0,0 1 0,-1-1 0,1 0 0,-1 1 0,1-1 0,-1 0 0,1 1 0,-1-1 0,0 0 0,1 0 0,-1 0 0,0 0 0,0 1 0,0-1 0,1 0 0,-1 0 0,0 0 0,0 0 0,0 0 0,0 1 0,-1-1 0,1 0 0,0 0 0,0 0 0,0 0 0,-1 0 0,1 1 0,0-1 0,-1 0 0,1 0 0,-1 1 0,1-1 0,-1 0 0,1 1 0,-1-1 0,0 0 0,-2-5 0,-1 1 0,1 0 0,-1 0 0,0 0 0,0 1 0,-7-6 0,2 3 0,-1 2 0,0-1 0,-20-7 0,27 12 0,0-1 0,0 1 0,0 0 0,-1 0 0,1 0 0,0 1 0,-1-1 0,1 1 0,0 0 0,-1 0 0,1 0 0,-1 0 0,1 1 0,0-1 0,-1 1 0,-5 2 0,1 4 0,0 2 0,1-1 0,0 1 0,0 0 0,1 0 0,0 1 0,-5 12 0,-22 69 0,28-65 0,4-21 0,0 0 0,0 0 0,0-1 0,0 1 0,-1 0 0,1 0 0,-1-1 0,-1 1 0,1-1 0,-4 6 0,28-71 0,-15 47 0,0 0 0,0 1 0,1 0 0,1 0 0,0 1 0,14-15 0,-21 25 0,0 0 0,0 0 0,1 0 0,-1 0 0,1 0 0,-1 0 0,1 1 0,0-1 0,-1 1 0,1 0 0,0 0 0,0 0 0,0 0 0,0 0 0,0 1 0,0-1 0,0 1 0,0 0 0,0 0 0,0 0 0,0 0 0,1 1 0,-1-1 0,0 1 0,0-1 0,-1 1 0,1 0 0,0 1 0,0-1 0,0 0 0,-1 1 0,1-1 0,0 1 0,-1 0 0,0 0 0,1 0 0,-1 0 0,3 4 0,3 2 0,0-1 0,-1 0 0,0 0 0,0 1 0,0 0 0,9 17 0,-15-23 0,0-1 0,-1 0 0,1 1 0,-1-1 0,1 1 0,-1-1 0,0 1 0,0-1 0,1 1 0,-1-1 0,0 1 0,0-1 0,-1 1 0,1-1 0,0 1 0,0-1 0,-1 1 0,1-1 0,-1 2 0,-1-1 0,1 0 0,-1 0 0,0 0 0,1 0 0,-1 0 0,0-1 0,0 1 0,0-1 0,0 0 0,0 1 0,0-1 0,-1 0 0,1 0 0,0 0 0,-5 1 0,-22 4 0,-1-1 0,0-1 0,0-2 0,0-1 0,0-1 0,-34-5 0,45 4 0,17 1 0,0 0 0,0 0 0,0 0 0,0 0 0,1 0 0,-1-1 0,0 1 0,0 0 0,0-1 0,1 1 0,-1-1 0,0 0 0,1 0 0,-1 1 0,1-1 0,-1 0 0,0 0 0,1-1 0,0 1 0,-1 0 0,1 0 0,0-1 0,0 1 0,0-1 0,0 1 0,0-1 0,0 1 0,0-1 0,0 0 0,0 1 0,1-1 0,-1 0 0,1 0 0,0 1 0,-1-1 0,1 0 0,0 0 0,0 0 0,0 0 0,0 1 0,0-1 0,1 0 0,-1 0 0,0 0 0,1 1 0,1-4 0,0-2 0,0 1 0,1-1 0,0 1 0,0 0 0,0 0 0,1 0 0,0 1 0,0-1 0,1 1 0,-1 0 0,8-6 0,-9 9 0,6-4 0,0-1 0,0 0 0,-1 0 0,0-1 0,0 0 0,0 0 0,-1-1 0,0 0 0,-1 0 0,7-13 0,8-24 0,22-40 0,-42 107 0,-7 14 0,-30 107 0,31-122 0,4 18 0,1-33 0,0 0 0,0 0 0,0 0 0,0 0 0,-1-1 0,-2 11 0,-1-18 0,0-1 0,1 1 0,-1-1 0,1 0 0,0 0 0,-5-7 0,-159-247 0,165 253 0,12 15 0,14 17 0,32 30 111,-22-25-1587,-28-25-5350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22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30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3AAF688-E8A5-0046-9222-F1AA7125E0B2}" type="datetimeFigureOut">
              <a:rPr kumimoji="1" lang="ko-KR" altLang="en-US" smtClean="0"/>
              <a:t>2025-10-19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5431AF4-9F7E-B749-9451-7CCB967D32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28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75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23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A622-09EF-CC1E-AE6C-50C2AED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C1EF59-B0F1-42AA-E78D-242D008F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993A-E7A2-0873-89D3-4EBE4D874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9271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6227-D7C4-3E0B-2670-B1C54B8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101E2-43FC-74FC-64DC-D98A21C0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5CBC4-2F08-7CF6-412D-0A90BF0B3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229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33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6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6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3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1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8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0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1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8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29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7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29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3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9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21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0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38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124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5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2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40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10/19/2025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2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9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60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5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3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171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6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6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9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55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9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69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0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15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10/19/2025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34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4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0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10/19/2025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customXml" Target="../ink/ink5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D806-55D9-323E-A324-78FEA4BB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76072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kumimoji="1" lang="ko-KR" altLang="en-US" dirty="0"/>
              <a:t>스포츠 데이터 분석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실시간 승률 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C395A7-5311-E7CC-C98C-A2B16087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kumimoji="1" lang="ko-KR" altLang="en-US" dirty="0" err="1"/>
              <a:t>팀리더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김승준</a:t>
            </a:r>
            <a:endParaRPr kumimoji="1" lang="en-US" altLang="ko-KR" dirty="0"/>
          </a:p>
          <a:p>
            <a:r>
              <a:rPr kumimoji="1" lang="ko-KR" altLang="en-US" dirty="0"/>
              <a:t>팀원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주민찬</a:t>
            </a:r>
            <a:endParaRPr kumimoji="1"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14:cNvPr>
              <p14:cNvContentPartPr/>
              <p14:nvPr/>
            </p14:nvContentPartPr>
            <p14:xfrm>
              <a:off x="9225219" y="2530980"/>
              <a:ext cx="36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9099" y="25248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14:cNvPr>
              <p14:cNvContentPartPr/>
              <p14:nvPr/>
            </p14:nvContentPartPr>
            <p14:xfrm>
              <a:off x="9583419" y="776340"/>
              <a:ext cx="550080" cy="2664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7299" y="770220"/>
                <a:ext cx="562320" cy="278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9F62F3E-EC9B-4A5C-B6B5-5E0F8B83389E}"/>
              </a:ext>
            </a:extLst>
          </p:cNvPr>
          <p:cNvSpPr/>
          <p:nvPr/>
        </p:nvSpPr>
        <p:spPr>
          <a:xfrm>
            <a:off x="10629360" y="865080"/>
            <a:ext cx="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82E5FDEA-4F4C-31BA-993C-E255066840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27" name="그림 26" descr="텍스트, 로고, 폰트, 그래픽이(가) 표시된 사진">
            <a:extLst>
              <a:ext uri="{FF2B5EF4-FFF2-40B4-BE49-F238E27FC236}">
                <a16:creationId xmlns:a16="http://schemas.microsoft.com/office/drawing/2014/main" id="{DD1A0AB4-F4B5-CDAA-FD6F-19C65DEFD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783504"/>
            <a:ext cx="4654295" cy="3240727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B30400A-D04A-0A6B-6A49-0F710023AF92}"/>
              </a:ext>
            </a:extLst>
          </p:cNvPr>
          <p:cNvGrpSpPr/>
          <p:nvPr/>
        </p:nvGrpSpPr>
        <p:grpSpPr>
          <a:xfrm>
            <a:off x="7580220" y="218493"/>
            <a:ext cx="268200" cy="262440"/>
            <a:chOff x="7580220" y="218493"/>
            <a:chExt cx="2682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14:cNvPr>
                <p14:cNvContentPartPr/>
                <p14:nvPr/>
              </p14:nvContentPartPr>
              <p14:xfrm>
                <a:off x="7625220" y="279333"/>
                <a:ext cx="223200" cy="201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9100" y="273213"/>
                  <a:ext cx="23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14:cNvPr>
                <p14:cNvContentPartPr/>
                <p14:nvPr/>
              </p14:nvContentPartPr>
              <p14:xfrm>
                <a:off x="7638540" y="303813"/>
                <a:ext cx="63000" cy="163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32420" y="297693"/>
                  <a:ext cx="7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14:cNvPr>
                <p14:cNvContentPartPr/>
                <p14:nvPr/>
              </p14:nvContentPartPr>
              <p14:xfrm>
                <a:off x="7580220" y="218493"/>
                <a:ext cx="144000" cy="1749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4100" y="212373"/>
                  <a:ext cx="15624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5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42E3489-3198-40AC-3237-FE21A6F5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kumimoji="1" lang="ko-KR" altLang="en-US" dirty="0"/>
              <a:t>목차</a:t>
            </a:r>
          </a:p>
        </p:txBody>
      </p: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1A0E014D-4A6B-F56C-A7B0-1FDA97961B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015572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225560" y="1323314"/>
          <a:ext cx="5509458" cy="391198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436437307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05736015"/>
                    </a:ext>
                  </a:extLst>
                </a:gridCol>
              </a:tblGrid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서론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96396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연구방법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9466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 결과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57973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논의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7542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결론 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12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AB249-17EF-1477-D5B0-551155BB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96528"/>
            <a:ext cx="10954512" cy="795528"/>
          </a:xfrm>
        </p:spPr>
        <p:txBody>
          <a:bodyPr/>
          <a:lstStyle/>
          <a:p>
            <a:r>
              <a:rPr lang="ko-KR" altLang="en-US"/>
              <a:t>주제 선정 동기</a:t>
            </a:r>
            <a:r>
              <a:rPr lang="en-US" altLang="ko-KR"/>
              <a:t>(</a:t>
            </a:r>
            <a:r>
              <a:rPr lang="ko-KR" altLang="en-US"/>
              <a:t>실시간 승률 분석</a:t>
            </a:r>
            <a:r>
              <a:rPr lang="en-US" altLang="ko-KR"/>
              <a:t>)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B08EE-4C34-A744-9B1A-2EF98E04B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25845"/>
            <a:ext cx="10954512" cy="4956047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AutoNum type="arabicPeriod"/>
            </a:pPr>
            <a:r>
              <a:rPr lang="ko-KR" altLang="en-US"/>
              <a:t>평소 스포츠에 관심이 많았음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어떤 스포츠 경기에 대해 데이터 분석을 하여 수치적으로 나타낸 값들이 궁금하였음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경기 중계 시에 실시간으로 바뀌는 상황에 대한 상대적 승률이 궁금하였음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내가 좋아하는 팀에 대한 기여</a:t>
            </a:r>
            <a:r>
              <a:rPr lang="en-US" altLang="ko-KR"/>
              <a:t>(</a:t>
            </a:r>
            <a:r>
              <a:rPr lang="ko-KR" altLang="en-US"/>
              <a:t>팀 스포츠 데이터에 대한 분석을 통해 장단점 및 상대 전적 데이터 확보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어떤 스포츠에서도 이기고 있는 경기임에도 내가 좋아하는 팀을 응원하는 마음에</a:t>
            </a:r>
            <a:r>
              <a:rPr lang="en-US" altLang="ko-KR"/>
              <a:t> </a:t>
            </a:r>
            <a:r>
              <a:rPr lang="ko-KR" altLang="en-US"/>
              <a:t>혹시나 역전당하지 않을까 하는 불안한 경험이 있을 것이다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이러한 것에 도움을 줄 수 있는 프로젝트가 되면 좋겠다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실시간 승패예측 프로그램을 활용해 경기 내적으로 운동선수에게 전략 및 전술의 수정 혹은 피드백을 통해 경기력 향상을 기대</a:t>
            </a: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14:cNvPr>
              <p14:cNvContentPartPr/>
              <p14:nvPr/>
            </p14:nvContentPartPr>
            <p14:xfrm>
              <a:off x="4617895" y="1182069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1775" y="1175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14:cNvPr>
              <p14:cNvContentPartPr/>
              <p14:nvPr/>
            </p14:nvContentPartPr>
            <p14:xfrm>
              <a:off x="12653815" y="3703869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7695" y="369774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6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5C0BC-DCCB-17E2-4E01-25E84B18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및 처리 과정 </a:t>
            </a:r>
            <a:r>
              <a:rPr lang="en-US" altLang="ko-KR" dirty="0"/>
              <a:t>– 2.1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B6E4A-3781-A10A-05CA-76EEA661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/>
              <a:t>데이터 출처 </a:t>
            </a:r>
            <a:r>
              <a:rPr lang="en-US" altLang="ko-KR" dirty="0"/>
              <a:t>: KBL </a:t>
            </a:r>
            <a:r>
              <a:rPr lang="ko-KR" altLang="en-US" dirty="0"/>
              <a:t>공식 웹사이트 문자중계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데이터 범위 </a:t>
            </a:r>
            <a:r>
              <a:rPr lang="en-US" altLang="ko-KR" dirty="0"/>
              <a:t>2021~2025</a:t>
            </a:r>
            <a:r>
              <a:rPr lang="ko-KR" altLang="en-US" dirty="0"/>
              <a:t>시즌 정규시즌 데이터 </a:t>
            </a:r>
            <a:r>
              <a:rPr lang="en-US" altLang="ko-KR" dirty="0"/>
              <a:t>  4</a:t>
            </a:r>
            <a:r>
              <a:rPr lang="ko-KR" altLang="en-US" dirty="0"/>
              <a:t>시즌의 총 </a:t>
            </a:r>
            <a:r>
              <a:rPr lang="en-US" altLang="ko-KR" dirty="0"/>
              <a:t>1080</a:t>
            </a:r>
            <a:r>
              <a:rPr lang="ko-KR" altLang="en-US" dirty="0"/>
              <a:t>경기 데이터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쿼터별 누적 데이터 수집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수집방법 </a:t>
            </a:r>
            <a:r>
              <a:rPr lang="en-US" altLang="ko-KR" dirty="0"/>
              <a:t>: Python </a:t>
            </a:r>
            <a:r>
              <a:rPr lang="ko-KR" altLang="en-US" dirty="0"/>
              <a:t>기반 웹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0EFBC2-9EB1-8FA7-8CA0-1A644468D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73159"/>
              </p:ext>
            </p:extLst>
          </p:nvPr>
        </p:nvGraphicFramePr>
        <p:xfrm>
          <a:off x="713839" y="2727958"/>
          <a:ext cx="7424322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77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시즌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경기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21-22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22-23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23-24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1505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24-25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합계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1080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8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21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9D193-0A79-4BC5-814E-08D8E9D5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3" y="-376755"/>
            <a:ext cx="6158541" cy="1444752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데이터 수집 및 처리 과정  </a:t>
            </a:r>
            <a:r>
              <a:rPr lang="en-US" altLang="ko-KR" dirty="0"/>
              <a:t>2.2</a:t>
            </a:r>
            <a:endParaRPr lang="ko-KR" alt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D5137F2-5EDA-942F-80BD-BBA9B39B01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9580" y="1864913"/>
            <a:ext cx="4389120" cy="4797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dirty="0"/>
              <a:t>크롤링한 </a:t>
            </a:r>
            <a:r>
              <a:rPr lang="en-US" altLang="ko-KR" sz="2400" dirty="0"/>
              <a:t>c</a:t>
            </a:r>
            <a:r>
              <a:rPr lang="en-US" sz="2400" dirty="0"/>
              <a:t>sv</a:t>
            </a:r>
            <a:r>
              <a:rPr lang="ko-KR" altLang="en-US" sz="2400" dirty="0"/>
              <a:t>형태의 원본 데이터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b="1" dirty="0"/>
              <a:t>핵심 과제</a:t>
            </a:r>
            <a:r>
              <a:rPr lang="en-US" altLang="ko-KR" sz="2400" dirty="0"/>
              <a:t>: </a:t>
            </a:r>
            <a:r>
              <a:rPr lang="ko-KR" altLang="en-US" sz="2400" dirty="0"/>
              <a:t>쿼터별 누적 데이터를 분석 가능한 </a:t>
            </a:r>
            <a:r>
              <a:rPr lang="en-US" altLang="ko-KR" sz="2400" dirty="0"/>
              <a:t> </a:t>
            </a:r>
            <a:r>
              <a:rPr lang="ko-KR" altLang="en-US" sz="2400" dirty="0"/>
              <a:t>경기 단위</a:t>
            </a:r>
            <a:r>
              <a:rPr lang="en-US" altLang="ko-KR" sz="2400" dirty="0"/>
              <a:t>(Q4) </a:t>
            </a:r>
            <a:r>
              <a:rPr lang="ko-KR" altLang="en-US" sz="2400" dirty="0"/>
              <a:t>및 실시간</a:t>
            </a:r>
            <a:r>
              <a:rPr lang="en-US" altLang="ko-KR" sz="2400" dirty="0"/>
              <a:t> </a:t>
            </a:r>
            <a:r>
              <a:rPr lang="ko-KR" altLang="en-US" sz="2400" dirty="0"/>
              <a:t>데이터로 분리 및 정제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이를 분석가능한 데이터로 가공하는 것이 첫번째 과제였음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ko-KR" altLang="en-US" sz="2400" dirty="0"/>
              <a:t>팀 이름</a:t>
            </a:r>
            <a:r>
              <a:rPr lang="en-US" altLang="ko-KR" sz="2400" dirty="0"/>
              <a:t>(</a:t>
            </a:r>
            <a:r>
              <a:rPr lang="ko-KR" altLang="en-US" sz="2400" dirty="0"/>
              <a:t>코드</a:t>
            </a:r>
            <a:r>
              <a:rPr lang="en-US" altLang="ko-KR" sz="2400" dirty="0"/>
              <a:t>) </a:t>
            </a:r>
            <a:r>
              <a:rPr lang="ko-KR" altLang="en-US" sz="2400" dirty="0"/>
              <a:t>정리하는 것 두번째 과제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내용 개체 틀 4" descr="전자제품, 전자 공학, 회로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62671C-57AB-299E-FED1-5892F83661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tretch/>
        </p:blipFill>
        <p:spPr>
          <a:xfrm>
            <a:off x="4847643" y="1538529"/>
            <a:ext cx="7220995" cy="4260387"/>
          </a:xfrm>
          <a:noFill/>
        </p:spPr>
      </p:pic>
    </p:spTree>
    <p:extLst>
      <p:ext uri="{BB962C8B-B14F-4D97-AF65-F5344CB8AC3E}">
        <p14:creationId xmlns:p14="http://schemas.microsoft.com/office/powerpoint/2010/main" val="143942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63755-CD50-8B9B-0838-270611CC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58" y="0"/>
            <a:ext cx="10954512" cy="795528"/>
          </a:xfrm>
        </p:spPr>
        <p:txBody>
          <a:bodyPr/>
          <a:lstStyle/>
          <a:p>
            <a:r>
              <a:rPr lang="en-US" altLang="ko-KR" dirty="0"/>
              <a:t>                                                                         </a:t>
            </a:r>
            <a:r>
              <a:rPr lang="ko-KR" altLang="en-US" dirty="0"/>
              <a:t>경기기록</a:t>
            </a:r>
            <a:r>
              <a:rPr lang="en-US" altLang="ko-KR" dirty="0"/>
              <a:t>(</a:t>
            </a:r>
            <a:r>
              <a:rPr lang="ko-KR" altLang="en-US" dirty="0" err="1"/>
              <a:t>변수명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0B0A105-528E-3790-B4B2-BF90B378F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958389"/>
              </p:ext>
            </p:extLst>
          </p:nvPr>
        </p:nvGraphicFramePr>
        <p:xfrm>
          <a:off x="349758" y="122294"/>
          <a:ext cx="5340352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8178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98859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1219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31046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83422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6756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11681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5574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20596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79704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45129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42181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67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49F05-3A38-5B2C-2A0B-22E575C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73" y="219075"/>
            <a:ext cx="10954512" cy="795528"/>
          </a:xfrm>
        </p:spPr>
        <p:txBody>
          <a:bodyPr/>
          <a:lstStyle/>
          <a:p>
            <a:r>
              <a:rPr lang="ko-KR" altLang="en-US" dirty="0"/>
              <a:t>핵심 지표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01532-F6BC-3020-904D-0FE557BC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73" y="1295780"/>
            <a:ext cx="10954512" cy="495604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 err="1"/>
              <a:t>포제션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넷 </a:t>
            </a:r>
            <a:r>
              <a:rPr lang="ko-KR" altLang="en-US" dirty="0" err="1"/>
              <a:t>레이팅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포 </a:t>
            </a:r>
            <a:r>
              <a:rPr lang="ko-KR" altLang="en-US" dirty="0" err="1"/>
              <a:t>팩터스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073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7515F-86BD-7FF7-C956-073DC0D0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Possessions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DFA76-A19C-E282-8ACE-702A1385D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 err="1"/>
              <a:t>포제션이란</a:t>
            </a:r>
            <a:r>
              <a:rPr lang="en-US" altLang="ko-KR" b="1" dirty="0"/>
              <a:t>? : </a:t>
            </a:r>
            <a:r>
              <a:rPr lang="ko-KR" altLang="en-US" dirty="0"/>
              <a:t>한 팀의 공격 기회</a:t>
            </a:r>
            <a:r>
              <a:rPr lang="en-US" altLang="ko-KR" dirty="0"/>
              <a:t> </a:t>
            </a:r>
            <a:r>
              <a:rPr lang="ko-KR" altLang="en-US" dirty="0"/>
              <a:t>총 횟수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총 </a:t>
            </a:r>
            <a:r>
              <a:rPr lang="ko-KR" altLang="en-US" dirty="0" err="1"/>
              <a:t>포제션</a:t>
            </a:r>
            <a:r>
              <a:rPr lang="ko-KR" altLang="en-US" dirty="0"/>
              <a:t> 수 </a:t>
            </a:r>
            <a:r>
              <a:rPr lang="en-US" altLang="ko-KR" dirty="0"/>
              <a:t>= </a:t>
            </a:r>
            <a:r>
              <a:rPr lang="ko-KR" altLang="en-US" dirty="0" err="1"/>
              <a:t>필드골</a:t>
            </a:r>
            <a:r>
              <a:rPr lang="ko-KR" altLang="en-US" dirty="0"/>
              <a:t> 시도횟수 </a:t>
            </a:r>
            <a:r>
              <a:rPr lang="en-US" altLang="ko-KR" dirty="0"/>
              <a:t>+ 0.44 × </a:t>
            </a:r>
            <a:r>
              <a:rPr lang="ko-KR" altLang="en-US" dirty="0"/>
              <a:t>자유투 시도횟수</a:t>
            </a:r>
            <a:r>
              <a:rPr lang="en-US" altLang="ko-KR" dirty="0"/>
              <a:t> + </a:t>
            </a:r>
            <a:r>
              <a:rPr lang="ko-KR" altLang="en-US" dirty="0" err="1"/>
              <a:t>턴오버</a:t>
            </a:r>
            <a:r>
              <a:rPr lang="ko-KR" altLang="en-US" dirty="0"/>
              <a:t> 수</a:t>
            </a:r>
            <a:r>
              <a:rPr lang="en-US" altLang="ko-KR" dirty="0"/>
              <a:t> − Offensive Rebounds</a:t>
            </a:r>
          </a:p>
          <a:p>
            <a:pPr marL="0" indent="0">
              <a:buNone/>
            </a:pPr>
            <a:r>
              <a:rPr lang="ko-KR" altLang="en-US" dirty="0" err="1"/>
              <a:t>오펜스</a:t>
            </a:r>
            <a:r>
              <a:rPr lang="ko-KR" altLang="en-US" dirty="0"/>
              <a:t> 리바운드 빼는 이유는 하나의 </a:t>
            </a:r>
            <a:r>
              <a:rPr lang="ko-KR" altLang="en-US" dirty="0" err="1"/>
              <a:t>포제션은</a:t>
            </a:r>
            <a:r>
              <a:rPr lang="ko-KR" altLang="en-US" dirty="0"/>
              <a:t> </a:t>
            </a:r>
            <a:r>
              <a:rPr lang="ko-KR" altLang="en-US" dirty="0" err="1"/>
              <a:t>프론트코트에서</a:t>
            </a:r>
            <a:r>
              <a:rPr lang="ko-KR" altLang="en-US" dirty="0"/>
              <a:t> 백코트로 넘어오는 것을 의미하기 때문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ko-KR" dirty="0">
                <a:latin typeface="Arial" panose="020B0604020202020204" pitchFamily="34" charset="0"/>
              </a:rPr>
              <a:t>단순 득점이 아닌 '공격 기회 대비 </a:t>
            </a:r>
            <a:r>
              <a:rPr lang="ko-KR" altLang="ko-KR" dirty="0" err="1">
                <a:latin typeface="Arial" panose="020B0604020202020204" pitchFamily="34" charset="0"/>
              </a:rPr>
              <a:t>효율'을</a:t>
            </a:r>
            <a:r>
              <a:rPr lang="ko-KR" altLang="ko-KR" dirty="0">
                <a:latin typeface="Arial" panose="020B0604020202020204" pitchFamily="34" charset="0"/>
              </a:rPr>
              <a:t> 측정하는 기준점</a:t>
            </a:r>
          </a:p>
          <a:p>
            <a:pPr marL="0" indent="0">
              <a:buNone/>
            </a:pPr>
            <a:r>
              <a:rPr lang="ko-KR" altLang="ko-KR" dirty="0">
                <a:latin typeface="Arial" panose="020B0604020202020204" pitchFamily="34" charset="0"/>
              </a:rPr>
              <a:t>팀의 공격 속도(</a:t>
            </a:r>
            <a:r>
              <a:rPr lang="ko-KR" altLang="ko-KR" dirty="0" err="1">
                <a:latin typeface="Arial" panose="020B0604020202020204" pitchFamily="34" charset="0"/>
              </a:rPr>
              <a:t>Pace</a:t>
            </a:r>
            <a:r>
              <a:rPr lang="ko-KR" altLang="ko-KR" dirty="0">
                <a:latin typeface="Arial" panose="020B0604020202020204" pitchFamily="34" charset="0"/>
              </a:rPr>
              <a:t>)</a:t>
            </a:r>
            <a:r>
              <a:rPr lang="ko-KR" altLang="ko-KR" dirty="0" err="1">
                <a:latin typeface="Arial" panose="020B0604020202020204" pitchFamily="34" charset="0"/>
              </a:rPr>
              <a:t>를</a:t>
            </a:r>
            <a:r>
              <a:rPr lang="ko-KR" altLang="ko-KR" dirty="0">
                <a:latin typeface="Arial" panose="020B0604020202020204" pitchFamily="34" charset="0"/>
              </a:rPr>
              <a:t> 파악하고 모든 효율성 지표의 분모가 됨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b="1" dirty="0"/>
              <a:t>Pace</a:t>
            </a:r>
          </a:p>
          <a:p>
            <a:pPr>
              <a:buFontTx/>
              <a:buChar char="-"/>
            </a:pPr>
            <a:r>
              <a:rPr lang="en-US" altLang="ko-KR" dirty="0"/>
              <a:t>10</a:t>
            </a:r>
            <a:r>
              <a:rPr lang="ko-KR" altLang="en-US" dirty="0"/>
              <a:t>분 </a:t>
            </a:r>
            <a:r>
              <a:rPr lang="en-US" altLang="ko-KR" dirty="0"/>
              <a:t>4</a:t>
            </a:r>
            <a:r>
              <a:rPr lang="ko-KR" altLang="en-US" dirty="0"/>
              <a:t>쿼터 경기로 운영되는 </a:t>
            </a:r>
            <a:r>
              <a:rPr lang="en-US" altLang="ko-KR" dirty="0"/>
              <a:t>KBL </a:t>
            </a:r>
            <a:r>
              <a:rPr lang="ko-KR" altLang="en-US" dirty="0"/>
              <a:t>리그에서 한 팀이 몇번의 공격 기회를 가져가는지에 대한 지표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경기 페이스가 빠른 경기에서는 점수 차가 크게 벌어지더라도 역전 가능성이 조금 더 높게 나타날 수 있지만</a:t>
            </a:r>
            <a:r>
              <a:rPr lang="en-US" altLang="ko-KR" dirty="0"/>
              <a:t>, </a:t>
            </a:r>
            <a:r>
              <a:rPr lang="ko-KR" altLang="en-US" dirty="0"/>
              <a:t>페이스가 느린 경기에서는 적은 점수 차이도 역전하기 힘들 수 있다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ko-KR" altLang="ko-KR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ko-KR" altLang="en-US" dirty="0"/>
              <a:t>단순히 </a:t>
            </a:r>
            <a:r>
              <a:rPr lang="en-US" altLang="ko-KR" dirty="0"/>
              <a:t>100</a:t>
            </a:r>
            <a:r>
              <a:rPr lang="ko-KR" altLang="en-US" dirty="0"/>
              <a:t>점을 넣은 팀이 아니라</a:t>
            </a:r>
            <a:r>
              <a:rPr lang="en-US" altLang="ko-KR" dirty="0"/>
              <a:t>, 90</a:t>
            </a:r>
            <a:r>
              <a:rPr lang="ko-KR" altLang="en-US" dirty="0"/>
              <a:t>번의 공격으로 </a:t>
            </a:r>
            <a:r>
              <a:rPr lang="en-US" altLang="ko-KR" dirty="0"/>
              <a:t>100</a:t>
            </a:r>
            <a:r>
              <a:rPr lang="ko-KR" altLang="en-US" dirty="0"/>
              <a:t>점을 넣은 팀을 찾는 것이 핵심이다</a:t>
            </a:r>
            <a:r>
              <a:rPr lang="en-US" altLang="ko-KR" dirty="0"/>
              <a:t>.!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133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3D9F3-4832-14CC-E718-5B497021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" y="247650"/>
            <a:ext cx="10954512" cy="795528"/>
          </a:xfrm>
        </p:spPr>
        <p:txBody>
          <a:bodyPr/>
          <a:lstStyle/>
          <a:p>
            <a:r>
              <a:rPr lang="en-US" altLang="ko-KR" dirty="0"/>
              <a:t>Net Rating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B4C47-FAD9-86AC-7A6A-C849C421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043178"/>
            <a:ext cx="10954512" cy="5247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Net Rating = Offensive Rating – Defensive Rating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Offensive Rating = (</a:t>
            </a:r>
            <a:r>
              <a:rPr lang="ko-KR" altLang="en-US" dirty="0"/>
              <a:t>총 득점  </a:t>
            </a:r>
            <a:r>
              <a:rPr lang="en-US" altLang="ko-KR" dirty="0"/>
              <a:t>/  </a:t>
            </a:r>
            <a:r>
              <a:rPr lang="ko-KR" altLang="en-US" dirty="0"/>
              <a:t>총 </a:t>
            </a:r>
            <a:r>
              <a:rPr lang="ko-KR" altLang="en-US" dirty="0" err="1"/>
              <a:t>포제션</a:t>
            </a:r>
            <a:r>
              <a:rPr lang="ko-KR" altLang="en-US" dirty="0"/>
              <a:t> 수</a:t>
            </a:r>
            <a:r>
              <a:rPr lang="en-US" altLang="ko-KR" dirty="0"/>
              <a:t>) * 100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Defensive Rating = (</a:t>
            </a:r>
            <a:r>
              <a:rPr lang="ko-KR" altLang="en-US" dirty="0"/>
              <a:t>상대 팀 총 득점  </a:t>
            </a:r>
            <a:r>
              <a:rPr lang="en-US" altLang="ko-KR" dirty="0"/>
              <a:t>/  </a:t>
            </a:r>
            <a:r>
              <a:rPr lang="ko-KR" altLang="en-US" dirty="0"/>
              <a:t>총 </a:t>
            </a:r>
            <a:r>
              <a:rPr lang="ko-KR" altLang="en-US" dirty="0" err="1"/>
              <a:t>포제션</a:t>
            </a:r>
            <a:r>
              <a:rPr lang="ko-KR" altLang="en-US" dirty="0"/>
              <a:t> 수</a:t>
            </a:r>
            <a:r>
              <a:rPr lang="en-US" altLang="ko-KR" dirty="0"/>
              <a:t>) * 100 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넷 </a:t>
            </a:r>
            <a:r>
              <a:rPr lang="ko-KR" altLang="en-US" dirty="0" err="1"/>
              <a:t>레이팅이란</a:t>
            </a:r>
            <a:r>
              <a:rPr lang="en-US" altLang="ko-KR" dirty="0"/>
              <a:t>? 100</a:t>
            </a:r>
            <a:r>
              <a:rPr lang="ko-KR" altLang="en-US" dirty="0"/>
              <a:t>번의 공수교환에서 상대보다 </a:t>
            </a:r>
            <a:r>
              <a:rPr lang="ko-KR" altLang="en-US" dirty="0" err="1"/>
              <a:t>몇점의</a:t>
            </a:r>
            <a:r>
              <a:rPr lang="ko-KR" altLang="en-US" dirty="0"/>
              <a:t> 점수를 더 얻거나 잃었는지를 보여주는 지표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넷 </a:t>
            </a:r>
            <a:r>
              <a:rPr lang="ko-KR" altLang="en-US" dirty="0" err="1"/>
              <a:t>레이팅은</a:t>
            </a:r>
            <a:r>
              <a:rPr lang="ko-KR" altLang="en-US" dirty="0"/>
              <a:t> 경기를 하고 있거나</a:t>
            </a:r>
            <a:r>
              <a:rPr lang="en-US" altLang="ko-KR" dirty="0"/>
              <a:t>, </a:t>
            </a:r>
            <a:r>
              <a:rPr lang="ko-KR" altLang="en-US" dirty="0"/>
              <a:t>경기기록이 있는 팀에 대한 상대적 지표이다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ko-KR" altLang="en-US" dirty="0"/>
              <a:t>경기가 진행 중인 두 팀의 실시간 넷 </a:t>
            </a:r>
            <a:r>
              <a:rPr lang="ko-KR" altLang="en-US" dirty="0" err="1"/>
              <a:t>레이팅을</a:t>
            </a:r>
            <a:r>
              <a:rPr lang="ko-KR" altLang="en-US" dirty="0"/>
              <a:t> 계산해보면 지고 있는 팀의 넷 </a:t>
            </a:r>
            <a:r>
              <a:rPr lang="ko-KR" altLang="en-US" dirty="0" err="1"/>
              <a:t>레이팅이</a:t>
            </a:r>
            <a:r>
              <a:rPr lang="ko-KR" altLang="en-US" dirty="0"/>
              <a:t> 더 높을 수도 있다</a:t>
            </a:r>
            <a:r>
              <a:rPr lang="en-US" altLang="ko-KR" dirty="0"/>
              <a:t>. </a:t>
            </a:r>
            <a:r>
              <a:rPr lang="ko-KR" altLang="en-US" dirty="0"/>
              <a:t>이 경우에는 두 팀의 점수 차가 크지 않을 것이고</a:t>
            </a:r>
            <a:r>
              <a:rPr lang="en-US" altLang="ko-KR" dirty="0"/>
              <a:t>, </a:t>
            </a:r>
            <a:r>
              <a:rPr lang="ko-KR" altLang="en-US" dirty="0"/>
              <a:t>지고 있는 팀은 이기고 있는 팀보다 </a:t>
            </a:r>
            <a:r>
              <a:rPr lang="ko-KR" altLang="en-US" dirty="0" err="1"/>
              <a:t>야투성공</a:t>
            </a:r>
            <a:r>
              <a:rPr lang="ko-KR" altLang="en-US" dirty="0"/>
              <a:t> 횟수가 </a:t>
            </a:r>
            <a:r>
              <a:rPr lang="ko-KR" altLang="en-US" dirty="0" err="1"/>
              <a:t>적을지언정</a:t>
            </a:r>
            <a:r>
              <a:rPr lang="en-US" altLang="ko-KR" dirty="0"/>
              <a:t>, </a:t>
            </a:r>
            <a:r>
              <a:rPr lang="ko-KR" altLang="en-US" dirty="0"/>
              <a:t>효율성이 높은 농구를 하고 있다고 볼 수 있다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ko-KR" altLang="en-US" dirty="0"/>
              <a:t>넷 </a:t>
            </a:r>
            <a:r>
              <a:rPr lang="ko-KR" altLang="en-US" dirty="0" err="1"/>
              <a:t>레이팅은</a:t>
            </a:r>
            <a:r>
              <a:rPr lang="ko-KR" altLang="en-US" dirty="0"/>
              <a:t> 현재 점수 차에 숨겨진 경기의 본질적인 효율성을 보여주는 지표이다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8921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77BCA-D56B-A4AB-3F78-457D79B4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Four Factors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64DD32-EEF2-5B08-22CE-E2A662E4B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승패에</a:t>
            </a:r>
            <a:r>
              <a:rPr lang="ko-KR" altLang="en-US" dirty="0"/>
              <a:t> 가장 큰 영향을 미치는 </a:t>
            </a:r>
            <a:r>
              <a:rPr lang="en-US" altLang="ko-KR" dirty="0"/>
              <a:t>4</a:t>
            </a:r>
            <a:r>
              <a:rPr lang="ko-KR" altLang="en-US" dirty="0"/>
              <a:t>가지 요소를 의미한다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err="1"/>
              <a:t>eFG</a:t>
            </a:r>
            <a:r>
              <a:rPr lang="en-US" altLang="ko-KR" dirty="0"/>
              <a:t>% , </a:t>
            </a:r>
            <a:r>
              <a:rPr lang="ko-KR" altLang="en-US" dirty="0"/>
              <a:t>유효 </a:t>
            </a:r>
            <a:r>
              <a:rPr lang="ko-KR" altLang="en-US" dirty="0" err="1"/>
              <a:t>필드골</a:t>
            </a:r>
            <a:r>
              <a:rPr lang="ko-KR" altLang="en-US" dirty="0"/>
              <a:t> </a:t>
            </a:r>
            <a:r>
              <a:rPr lang="ko-KR" altLang="en-US" dirty="0" err="1"/>
              <a:t>성공율</a:t>
            </a:r>
            <a:r>
              <a:rPr lang="en-US" altLang="ko-KR" dirty="0"/>
              <a:t>(3</a:t>
            </a:r>
            <a:r>
              <a:rPr lang="ko-KR" altLang="en-US" dirty="0"/>
              <a:t>점 슛 가치 포함</a:t>
            </a:r>
            <a:r>
              <a:rPr lang="en-US" altLang="ko-KR" dirty="0"/>
              <a:t>, </a:t>
            </a:r>
            <a:r>
              <a:rPr lang="ko-KR" altLang="en-US" dirty="0"/>
              <a:t>자유투 미포함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TOV% , </a:t>
            </a:r>
            <a:r>
              <a:rPr lang="ko-KR" altLang="en-US" dirty="0" err="1"/>
              <a:t>턴오버</a:t>
            </a:r>
            <a:r>
              <a:rPr lang="ko-KR" altLang="en-US" dirty="0"/>
              <a:t> 비율</a:t>
            </a:r>
            <a:r>
              <a:rPr lang="en-US" altLang="ko-KR" dirty="0"/>
              <a:t>(</a:t>
            </a:r>
            <a:r>
              <a:rPr lang="ko-KR" altLang="en-US" dirty="0"/>
              <a:t>전체 공격 대비 턴오버의 횟수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OREB% , </a:t>
            </a:r>
            <a:r>
              <a:rPr lang="ko-KR" altLang="en-US" dirty="0" err="1"/>
              <a:t>공격리바운드</a:t>
            </a:r>
            <a:r>
              <a:rPr lang="ko-KR" altLang="en-US" dirty="0"/>
              <a:t> 비율</a:t>
            </a:r>
            <a:r>
              <a:rPr lang="en-US" altLang="ko-KR" dirty="0"/>
              <a:t>(</a:t>
            </a:r>
            <a:r>
              <a:rPr lang="ko-KR" altLang="en-US" dirty="0"/>
              <a:t>슛 실패 이후 공격 리바운드 잡아서 다시 공격권 가져오는 비율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FT Rate , </a:t>
            </a:r>
            <a:r>
              <a:rPr lang="ko-KR" altLang="en-US" dirty="0"/>
              <a:t>자유투 얻는 비율</a:t>
            </a:r>
            <a:r>
              <a:rPr lang="en-US" altLang="ko-KR" dirty="0"/>
              <a:t>(</a:t>
            </a:r>
            <a:r>
              <a:rPr lang="ko-KR" altLang="en-US" dirty="0" err="1"/>
              <a:t>야투</a:t>
            </a:r>
            <a:r>
              <a:rPr lang="ko-KR" altLang="en-US" dirty="0"/>
              <a:t> 시도 시에 자유투를 얼마나 얻었는가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6214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27C8A-F43C-5368-9566-50011BBD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개발 및 시스템 구축 </a:t>
            </a:r>
            <a:r>
              <a:rPr lang="en-US" altLang="ko-KR" dirty="0"/>
              <a:t>– 2.3 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425D1-34B5-F14D-D078-1860B9E0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로지스틱 회귀분석</a:t>
            </a:r>
            <a:r>
              <a:rPr lang="en-US" altLang="ko-KR" dirty="0"/>
              <a:t> </a:t>
            </a:r>
            <a:r>
              <a:rPr lang="ko-KR" altLang="en-US" dirty="0"/>
              <a:t>인공 신경망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MLP </a:t>
            </a:r>
            <a:r>
              <a:rPr lang="ko-KR" altLang="en-US" dirty="0"/>
              <a:t>모델 선택한 이유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머신러닝</a:t>
            </a:r>
            <a:r>
              <a:rPr lang="ko-KR" altLang="en-US" dirty="0"/>
              <a:t> 딥러닝 중 딥러닝 선택한 이유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03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16743-D261-E79A-194B-B23AE090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95273-6A76-B792-5DA8-8EEB1D7F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 err="1"/>
              <a:t>Softmax</a:t>
            </a:r>
            <a:r>
              <a:rPr kumimoji="1" lang="ko-KR" altLang="en-US" dirty="0"/>
              <a:t> 함수는 주어진 벡터를 </a:t>
            </a:r>
            <a:r>
              <a:rPr kumimoji="1" lang="ko-KR" altLang="en-US" dirty="0" err="1"/>
              <a:t>입력값으로</a:t>
            </a:r>
            <a:r>
              <a:rPr kumimoji="1" lang="ko-KR" altLang="en-US" dirty="0"/>
              <a:t> 받아 각 원소가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1 </a:t>
            </a:r>
            <a:r>
              <a:rPr kumimoji="1" lang="ko-KR" altLang="en-US" dirty="0"/>
              <a:t>사이의 </a:t>
            </a:r>
            <a:r>
              <a:rPr kumimoji="1" lang="ko-KR" altLang="en-US" dirty="0" err="1"/>
              <a:t>실수값을</a:t>
            </a:r>
            <a:r>
              <a:rPr kumimoji="1" lang="ko-KR" altLang="en-US" dirty="0"/>
              <a:t> 가지며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모든 원소의 합이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되도록 변환해주는 함수입니다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 함수는 분류</a:t>
            </a:r>
            <a:r>
              <a:rPr kumimoji="1" lang="en-US" altLang="ko-KR" dirty="0"/>
              <a:t>(classification)</a:t>
            </a:r>
            <a:r>
              <a:rPr kumimoji="1" lang="ko-KR" altLang="en-US" dirty="0"/>
              <a:t> 문제에서 다중 클래스의 확률을 예측하는 데 주로 사용됩니다</a:t>
            </a:r>
            <a:r>
              <a:rPr kumimoji="1" lang="en-US" altLang="ko-KR" dirty="0"/>
              <a:t>.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함수는 입력 벡터의 각 원소가 어떤 클래스에 속할 확률을 나타내도록 변환해줍니다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990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1DA8-74CD-2665-CF3F-DB64B89C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13491-6C73-CD4F-1FD3-D671C150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다음과 같은 입력 벡터를 가정해보겠습니다</a:t>
            </a:r>
            <a:r>
              <a:rPr kumimoji="1" lang="en-US" altLang="ko-KR" dirty="0"/>
              <a:t>: [1, 2, 3].</a:t>
            </a:r>
            <a:br>
              <a:rPr kumimoji="1" lang="en-US" altLang="ko-KR" dirty="0"/>
            </a:b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적용하면 각 원소를 </a:t>
            </a:r>
            <a:r>
              <a:rPr kumimoji="1" lang="en-US" altLang="ko-KR" dirty="0"/>
              <a:t>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1 </a:t>
            </a:r>
            <a:r>
              <a:rPr kumimoji="1" lang="ko-KR" altLang="en-US" dirty="0"/>
              <a:t>사이의 값으로 변환하고 모든 원소의 합이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되도록 만들어줍니다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따라서 이 입력 벡터에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적용하면 다음과 같은 출력 벡터를 얻을 수 있습니다</a:t>
            </a:r>
            <a:br>
              <a:rPr kumimoji="1" lang="en-US" altLang="ko-KR" dirty="0"/>
            </a:br>
            <a:r>
              <a:rPr kumimoji="1" lang="en-US" altLang="ko-KR" dirty="0"/>
              <a:t>[0.090, 0.244, 0.665]. </a:t>
            </a:r>
          </a:p>
          <a:p>
            <a:endParaRPr kumimoji="1" lang="en-US" altLang="ko-KR" dirty="0"/>
          </a:p>
          <a:p>
            <a:r>
              <a:rPr kumimoji="1" lang="en" altLang="ko-KR" dirty="0" err="1"/>
              <a:t>Softmax</a:t>
            </a:r>
            <a:r>
              <a:rPr kumimoji="1" lang="ko-KR" altLang="en-US" dirty="0"/>
              <a:t> 함수는 주로 출력 벡터를 확률로 해석하므로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예제에서는 입력 벡터의 첫 번째 원소가 </a:t>
            </a:r>
            <a:r>
              <a:rPr kumimoji="1" lang="en-US" altLang="ko-KR" dirty="0"/>
              <a:t>0.090</a:t>
            </a:r>
            <a:r>
              <a:rPr kumimoji="1" lang="ko-KR" altLang="en-US" dirty="0"/>
              <a:t>의 확률로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두 번째 원소가 </a:t>
            </a:r>
            <a:r>
              <a:rPr kumimoji="1" lang="en-US" altLang="ko-KR" dirty="0"/>
              <a:t>0.244</a:t>
            </a:r>
            <a:r>
              <a:rPr kumimoji="1" lang="ko-KR" altLang="en-US" dirty="0"/>
              <a:t>의 확률로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세 번째 원소가 </a:t>
            </a:r>
            <a:r>
              <a:rPr kumimoji="1" lang="en-US" altLang="ko-KR" dirty="0"/>
              <a:t>0.665</a:t>
            </a:r>
            <a:r>
              <a:rPr kumimoji="1" lang="ko-KR" altLang="en-US" dirty="0"/>
              <a:t>의 확률로 속한다고 볼 수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946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22E9-5D8A-EFD8-ADD9-B678BB8B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59387-6968-C54B-326B-6F37178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" altLang="ko-KR" dirty="0" err="1"/>
                  <a:t>Softmax</a:t>
                </a:r>
                <a:r>
                  <a:rPr kumimoji="1" lang="ko-KR" altLang="en-US" dirty="0"/>
                  <a:t> 함수는 입력 벡터의 각 원소를 확률로 해석하기 위해 지수 함수</a:t>
                </a:r>
                <a:r>
                  <a:rPr kumimoji="1" lang="en-US" altLang="ko-KR" dirty="0"/>
                  <a:t>(</a:t>
                </a:r>
                <a:r>
                  <a:rPr kumimoji="1" lang="en" altLang="ko-KR" dirty="0"/>
                  <a:t>exponential function)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사용하여 변환합니다</a:t>
                </a:r>
                <a:r>
                  <a:rPr kumimoji="1" lang="en-US" altLang="ko-KR" dirty="0"/>
                  <a:t>. </a:t>
                </a:r>
                <a:r>
                  <a:rPr kumimoji="1" lang="ko-KR" altLang="en-US" dirty="0"/>
                  <a:t>주어진 입력 벡터 </a:t>
                </a:r>
                <a:r>
                  <a:rPr kumimoji="1" lang="en" altLang="ko-KR" dirty="0"/>
                  <a:t>a</a:t>
                </a:r>
                <a:r>
                  <a:rPr kumimoji="1" lang="ko-KR" altLang="en-US" dirty="0" err="1"/>
                  <a:t>에</a:t>
                </a:r>
                <a:r>
                  <a:rPr kumimoji="1" lang="ko-KR" altLang="en-US" dirty="0"/>
                  <a:t> 대해 </a:t>
                </a:r>
                <a:r>
                  <a:rPr kumimoji="1" lang="en" altLang="ko-KR" dirty="0" err="1"/>
                  <a:t>Softmax</a:t>
                </a:r>
                <a:r>
                  <a:rPr kumimoji="1" lang="ko-KR" altLang="en-US" dirty="0"/>
                  <a:t> 함수의 수식은 다음과 같습니다</a:t>
                </a:r>
                <a:r>
                  <a:rPr kumimoji="1" lang="en-US" altLang="ko-KR" dirty="0"/>
                  <a:t>.</a:t>
                </a:r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ko-KR" altLang="en-US" dirty="0"/>
                  <a:t>는 입력 벡터의 </a:t>
                </a:r>
                <a:r>
                  <a:rPr kumimoji="1" lang="en-US" altLang="ko-KR" dirty="0" err="1"/>
                  <a:t>i</a:t>
                </a:r>
                <a:r>
                  <a:rPr kumimoji="1" lang="ko-KR" altLang="en-US" dirty="0"/>
                  <a:t>번째 원소를 나타내며</a:t>
                </a:r>
                <a:r>
                  <a:rPr kumimoji="1" lang="en-US" altLang="ko-KR" dirty="0"/>
                  <a:t>, N</a:t>
                </a:r>
                <a:r>
                  <a:rPr kumimoji="1" lang="ko-KR" altLang="en-US" dirty="0"/>
                  <a:t>은 입력 벡터의 길이입니다</a:t>
                </a:r>
                <a:r>
                  <a:rPr kumimoji="1" lang="en-US" altLang="ko-KR" dirty="0"/>
                  <a:t>. </a:t>
                </a:r>
                <a:r>
                  <a:rPr kumimoji="1" lang="ko-KR" altLang="en-US" dirty="0"/>
                  <a:t>이 수식은 각 원소를 지수 함수로 변환하여 양수로 만들고</a:t>
                </a:r>
                <a:r>
                  <a:rPr kumimoji="1" lang="en-US" altLang="ko-KR" dirty="0"/>
                  <a:t>, </a:t>
                </a:r>
                <a:r>
                  <a:rPr kumimoji="1" lang="ko-KR" altLang="en-US" dirty="0"/>
                  <a:t>이들의 합으로 나누어서 확률로 </a:t>
                </a:r>
                <a:r>
                  <a:rPr kumimoji="1" lang="ko-KR" altLang="en-US" dirty="0" err="1"/>
                  <a:t>정규화합니다</a:t>
                </a:r>
                <a:r>
                  <a:rPr kumimoji="1"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7" t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09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50403-5122-9723-049A-1C1F1E7C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89CAB-0FBF-4E50-B61B-F68EA479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BDA58-34F7-3D89-4BAB-C5AC1BF7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로짓</a:t>
            </a:r>
            <a:r>
              <a:rPr kumimoji="1" lang="en-US" altLang="ko-KR" dirty="0"/>
              <a:t>(</a:t>
            </a:r>
            <a:r>
              <a:rPr kumimoji="1" lang="en" altLang="ko-KR" dirty="0"/>
              <a:t>LOGIT)</a:t>
            </a:r>
            <a:r>
              <a:rPr kumimoji="1" lang="ko-KR" altLang="en-US" dirty="0"/>
              <a:t>과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의 관계</a:t>
            </a:r>
          </a:p>
          <a:p>
            <a:r>
              <a:rPr kumimoji="1" lang="ko-KR" altLang="en-US" dirty="0" err="1"/>
              <a:t>로짓이란</a:t>
            </a:r>
            <a:r>
              <a:rPr kumimoji="1" lang="en-US" altLang="ko-KR" dirty="0"/>
              <a:t>? [0,1] </a:t>
            </a:r>
            <a:r>
              <a:rPr kumimoji="1" lang="ko-KR" altLang="en-US" dirty="0"/>
              <a:t>사이의 값을 무한의 실수 값으로 변환함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 err="1"/>
              <a:t>로짓은</a:t>
            </a:r>
            <a:r>
              <a:rPr kumimoji="1" lang="ko-KR" altLang="en-US" dirty="0"/>
              <a:t> 확률 값으로 변환되기 직전의 최종 결과 값이다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다른 말로 </a:t>
            </a:r>
            <a:r>
              <a:rPr kumimoji="1" lang="en" altLang="ko-KR" dirty="0"/>
              <a:t>SCORE</a:t>
            </a:r>
            <a:r>
              <a:rPr kumimoji="1" lang="ko-KR" altLang="en-US" dirty="0"/>
              <a:t>라고도 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분류</a:t>
            </a:r>
            <a:r>
              <a:rPr kumimoji="1" lang="en-US" altLang="ko-KR" dirty="0"/>
              <a:t>(</a:t>
            </a:r>
            <a:r>
              <a:rPr kumimoji="1" lang="en" altLang="ko-KR" dirty="0"/>
              <a:t>classification) </a:t>
            </a:r>
            <a:r>
              <a:rPr kumimoji="1" lang="ko-KR" altLang="en-US" dirty="0"/>
              <a:t>계열의 신경망 모델의 마지막 </a:t>
            </a:r>
            <a:r>
              <a:rPr kumimoji="1" lang="en" altLang="ko-KR" dirty="0"/>
              <a:t>layer</a:t>
            </a:r>
            <a:r>
              <a:rPr kumimoji="1" lang="ko-KR" altLang="en-US" dirty="0"/>
              <a:t>에서 소프트 맥스 함수가 활용되는데 </a:t>
            </a:r>
            <a:r>
              <a:rPr kumimoji="1" lang="ko-KR" altLang="en-US" dirty="0" err="1"/>
              <a:t>로짓</a:t>
            </a:r>
            <a:r>
              <a:rPr kumimoji="1" lang="ko-KR" altLang="en-US" dirty="0"/>
              <a:t> 함수는 소프트 맥스 함수에 그 값을 전달해주는 역할을 한다</a:t>
            </a:r>
            <a:r>
              <a:rPr kumimoji="1"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6509F7-FC22-7A09-1163-98F4D9BF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3" y="3840478"/>
            <a:ext cx="3879260" cy="259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3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B6F9-6B3B-3E59-3F6D-E94D0C9E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6623F-E946-0888-CDBB-36ADFF2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B424B-3BA0-DBDD-833D-A6983965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r>
              <a:rPr kumimoji="1" lang="ko-KR" altLang="en-US" dirty="0"/>
              <a:t>큰 값 </a:t>
            </a:r>
            <a:r>
              <a:rPr kumimoji="1" lang="ko-KR" altLang="en-US" dirty="0" err="1"/>
              <a:t>입력시</a:t>
            </a:r>
            <a:r>
              <a:rPr kumimoji="1" lang="en-US" altLang="ko-KR" dirty="0"/>
              <a:t>, O</a:t>
            </a:r>
            <a:r>
              <a:rPr kumimoji="1" lang="en" altLang="ko-KR" dirty="0" err="1"/>
              <a:t>verflow</a:t>
            </a:r>
            <a:r>
              <a:rPr kumimoji="1" lang="en-US" altLang="ko-KR" dirty="0"/>
              <a:t>(</a:t>
            </a:r>
            <a:r>
              <a:rPr kumimoji="1" lang="ko-KR" altLang="en-US" dirty="0"/>
              <a:t>너무 큰 값은 컴퓨터에서 계산이 안됨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취약</a:t>
            </a:r>
            <a:endParaRPr kumimoji="1" lang="en-US" altLang="ko-KR" dirty="0"/>
          </a:p>
          <a:p>
            <a:endParaRPr kumimoji="1" lang="ko-KR" altLang="en-US" dirty="0"/>
          </a:p>
          <a:p>
            <a:r>
              <a:rPr kumimoji="1" lang="ko-KR" altLang="en-US" dirty="0"/>
              <a:t>함수 </a:t>
            </a:r>
            <a:r>
              <a:rPr kumimoji="1" lang="en" altLang="ko-KR" dirty="0"/>
              <a:t>y = exp(x)</a:t>
            </a:r>
            <a:r>
              <a:rPr kumimoji="1" lang="ko-KR" altLang="en-US" dirty="0"/>
              <a:t>가 증가 함수이기 때문에</a:t>
            </a:r>
            <a:r>
              <a:rPr kumimoji="1" lang="en-US" altLang="ko-KR" dirty="0"/>
              <a:t>,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적용해도 각 원소의 대소 관계는 변하지 않음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  <a:p>
            <a:r>
              <a:rPr kumimoji="1" lang="ko-KR" altLang="en-US" dirty="0"/>
              <a:t>입력 벡터 중 큰 값을 가진 원소에 대해서는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함수의 </a:t>
            </a:r>
            <a:r>
              <a:rPr kumimoji="1" lang="ko-KR" altLang="en-US" dirty="0" err="1"/>
              <a:t>출력값이</a:t>
            </a:r>
            <a:r>
              <a:rPr kumimoji="1" lang="ko-KR" altLang="en-US" dirty="0"/>
              <a:t> 더 크게 나타나게 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74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495BB-F1DF-E831-7CB1-B944530E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kumimoji="1" lang="ko-KR" altLang="en-US" dirty="0"/>
              <a:t>인공지능 </a:t>
            </a:r>
            <a:r>
              <a:rPr kumimoji="1" lang="en-US" altLang="ko-KR" dirty="0"/>
              <a:t>vs </a:t>
            </a:r>
            <a:r>
              <a:rPr kumimoji="1" lang="ko-KR" altLang="en-US" dirty="0" err="1"/>
              <a:t>머신러닝</a:t>
            </a:r>
            <a:r>
              <a:rPr kumimoji="1" lang="ko-KR" altLang="en-US" dirty="0"/>
              <a:t> </a:t>
            </a:r>
            <a:r>
              <a:rPr kumimoji="1" lang="en-US" altLang="ko-KR" dirty="0"/>
              <a:t>vs </a:t>
            </a:r>
            <a:r>
              <a:rPr kumimoji="1" lang="ko-KR" altLang="en-US" dirty="0"/>
              <a:t>딥러닝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7C522B-9C43-EA0C-A483-3AD9267E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2040" y="1393089"/>
            <a:ext cx="6675120" cy="407182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120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A79DC-ABB2-6E46-0B37-ED6BEFE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Learning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B11D6-92F8-4DA4-918D-ABED8D985F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5087536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ML: </a:t>
            </a:r>
            <a:r>
              <a:rPr kumimoji="1" lang="ko-KR" altLang="en-US" dirty="0"/>
              <a:t>머신 러닝은 주어진 데이터를 이용하여 컴퓨터 스스로 학습하여 인공지능 성능을 향상시키는 기술</a:t>
            </a:r>
            <a:endParaRPr kumimoji="1" lang="en-US" altLang="ko-KR" dirty="0"/>
          </a:p>
          <a:p>
            <a:r>
              <a:rPr kumimoji="1" lang="ko-KR" altLang="en-US" dirty="0"/>
              <a:t>특징</a:t>
            </a:r>
            <a:r>
              <a:rPr kumimoji="1" lang="en-US" altLang="ko-KR" dirty="0"/>
              <a:t>:</a:t>
            </a:r>
          </a:p>
          <a:p>
            <a:pPr lvl="1"/>
            <a:r>
              <a:rPr kumimoji="1" lang="ko-KR" altLang="en-US" dirty="0"/>
              <a:t>사전에 학습 데이터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필요</a:t>
            </a:r>
            <a:endParaRPr kumimoji="1" lang="en-US" altLang="ko-KR" dirty="0"/>
          </a:p>
          <a:p>
            <a:r>
              <a:rPr kumimoji="1" lang="ko-KR" altLang="en-US" dirty="0"/>
              <a:t>종류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지도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정답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문제를 모두 알려주고 컴퓨터를 학습시키는 방법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비지도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정답을 가르쳐 주지 않고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스스로 문제를 풀고 추론할 수 있도록 하는 학습 방법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강화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행동에 대한 보상을 통해 행위를 강화해 나가는 방법</a:t>
            </a:r>
            <a:endParaRPr kumimoji="1" lang="en-US" altLang="ko-KR" dirty="0"/>
          </a:p>
          <a:p>
            <a:r>
              <a:rPr kumimoji="1" lang="ko-KR" altLang="en-US" dirty="0"/>
              <a:t>예시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선형 회귀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SVM</a:t>
            </a:r>
          </a:p>
          <a:p>
            <a:pPr lvl="1"/>
            <a:r>
              <a:rPr kumimoji="1" lang="en-US" altLang="ko-KR" dirty="0"/>
              <a:t>Decision Tree</a:t>
            </a:r>
          </a:p>
          <a:p>
            <a:pPr lvl="1"/>
            <a:r>
              <a:rPr kumimoji="1" lang="ko-KR" altLang="en-US" dirty="0" err="1"/>
              <a:t>부스팅</a:t>
            </a:r>
            <a:r>
              <a:rPr kumimoji="1" lang="ko-KR" altLang="en-US" dirty="0"/>
              <a:t> 기법 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XGBoost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LightGBM</a:t>
            </a:r>
            <a:r>
              <a:rPr kumimoji="1" lang="en-US" altLang="ko-KR" dirty="0"/>
              <a:t> </a:t>
            </a:r>
            <a:r>
              <a:rPr kumimoji="1" lang="ko-KR" altLang="en-US" dirty="0"/>
              <a:t>등</a:t>
            </a:r>
            <a:r>
              <a:rPr kumimoji="1"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4006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D4D5-BD89-4966-B164-16F684F2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2DAF3-4FD4-91FF-5DF8-6FAC2D35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Deep Learning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157F3-200F-36B4-DE93-EDFAFD9A1F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4389120"/>
          </a:xfrm>
        </p:spPr>
        <p:txBody>
          <a:bodyPr/>
          <a:lstStyle/>
          <a:p>
            <a:r>
              <a:rPr kumimoji="1" lang="en-US" altLang="ko-KR" dirty="0"/>
              <a:t>DL: </a:t>
            </a:r>
            <a:r>
              <a:rPr kumimoji="1" lang="ko-KR" altLang="en-US" dirty="0" err="1"/>
              <a:t>딥러닝은</a:t>
            </a:r>
            <a:r>
              <a:rPr kumimoji="1" lang="ko-KR" altLang="en-US" dirty="0"/>
              <a:t> 인공신경망을 </a:t>
            </a:r>
            <a:r>
              <a:rPr kumimoji="1" lang="ko-KR" altLang="en-US" dirty="0" err="1"/>
              <a:t>머신러닝에</a:t>
            </a:r>
            <a:r>
              <a:rPr kumimoji="1" lang="ko-KR" altLang="en-US" dirty="0"/>
              <a:t> 적용한 기술</a:t>
            </a:r>
            <a:endParaRPr kumimoji="1" lang="en-US" altLang="ko-KR" dirty="0"/>
          </a:p>
          <a:p>
            <a:r>
              <a:rPr kumimoji="1" lang="ko-KR" altLang="en-US" dirty="0"/>
              <a:t>특징</a:t>
            </a:r>
            <a:r>
              <a:rPr kumimoji="1" lang="en-US" altLang="ko-KR" dirty="0"/>
              <a:t>:</a:t>
            </a:r>
          </a:p>
          <a:p>
            <a:pPr lvl="1"/>
            <a:r>
              <a:rPr kumimoji="1" lang="ko-KR" altLang="en-US" dirty="0"/>
              <a:t>인간이 처리해 줘야 하는 작업은 생략되고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알고리즘이 스스로 분석하고 답을 찾아냄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기본 데이터가 많아야 좋음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연산량이</a:t>
            </a:r>
            <a:r>
              <a:rPr kumimoji="1" lang="ko-KR" altLang="en-US" dirty="0"/>
              <a:t> 많음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학습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튜닝 시간이 </a:t>
            </a:r>
            <a:r>
              <a:rPr kumimoji="1" lang="ko-KR" altLang="en-US" dirty="0" err="1"/>
              <a:t>길어짐</a:t>
            </a:r>
            <a:endParaRPr kumimoji="1" lang="en-US" altLang="ko-KR" dirty="0"/>
          </a:p>
          <a:p>
            <a:r>
              <a:rPr kumimoji="1" lang="ko-KR" altLang="en-US" dirty="0"/>
              <a:t>대표 구조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MLP</a:t>
            </a:r>
          </a:p>
          <a:p>
            <a:pPr lvl="1"/>
            <a:r>
              <a:rPr kumimoji="1" lang="en-US" altLang="ko-KR" dirty="0"/>
              <a:t>CNN</a:t>
            </a:r>
          </a:p>
          <a:p>
            <a:pPr lvl="1"/>
            <a:r>
              <a:rPr kumimoji="1" lang="en-US" altLang="ko-KR" dirty="0"/>
              <a:t>RNN/LSTM/GRU </a:t>
            </a:r>
            <a:r>
              <a:rPr kumimoji="1" lang="ko-KR" altLang="en-US" dirty="0"/>
              <a:t>등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4862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353C-873E-4C9C-D174-D5ACAB34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8AFB-83F6-56DC-67E9-BDDA6D17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795C1-1869-2074-C5CB-58451637B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4389120"/>
          </a:xfrm>
        </p:spPr>
        <p:txBody>
          <a:bodyPr/>
          <a:lstStyle/>
          <a:p>
            <a:r>
              <a:rPr kumimoji="1" lang="en-US" altLang="ko-KR" dirty="0"/>
              <a:t>MLP: Perceptron</a:t>
            </a:r>
            <a:r>
              <a:rPr kumimoji="1" lang="ko-KR" altLang="en-US" dirty="0"/>
              <a:t>을 여러 층으로 쌓아 올린 기법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Perceptron:</a:t>
            </a:r>
            <a:r>
              <a:rPr kumimoji="1" lang="ko-KR" altLang="en-US" dirty="0"/>
              <a:t> </a:t>
            </a:r>
            <a:r>
              <a:rPr kumimoji="1" lang="en-US" altLang="ko-KR" dirty="0"/>
              <a:t>Perceptron</a:t>
            </a:r>
            <a:r>
              <a:rPr kumimoji="1" lang="ko-KR" altLang="en-US" dirty="0"/>
              <a:t>은 아주 간단한 인공지능 모델</a:t>
            </a:r>
            <a:r>
              <a:rPr kumimoji="1" lang="en-US" altLang="ko-KR" dirty="0"/>
              <a:t>.</a:t>
            </a:r>
          </a:p>
          <a:p>
            <a:pPr lvl="1"/>
            <a:r>
              <a:rPr kumimoji="1" lang="ko-KR" altLang="en-US" dirty="0" err="1"/>
              <a:t>입력값이</a:t>
            </a:r>
            <a:r>
              <a:rPr kumimoji="1" lang="ko-KR" altLang="en-US" dirty="0"/>
              <a:t> 들어오면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각 입력에 가중치를 곱해서 더하고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마지막에 활성 함수를 거쳐 결과를 나타냄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구조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입력층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(Input Layer): </a:t>
            </a:r>
            <a:r>
              <a:rPr kumimoji="1" lang="ko-KR" altLang="en-US" dirty="0"/>
              <a:t>데이터가 들어오는 부분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은닉층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(Hidden Layer): </a:t>
            </a:r>
            <a:r>
              <a:rPr kumimoji="1" lang="ko-KR" altLang="en-US" dirty="0"/>
              <a:t>데이터에서 패턴을 찾는 중간 계산 단계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여러 층을 거치면서 점점 복잡한 특징을 학습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출력층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(Output Layer): </a:t>
            </a:r>
            <a:r>
              <a:rPr kumimoji="1" lang="ko-KR" altLang="en-US" dirty="0"/>
              <a:t>최종 결과를 출력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6344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BD884-A145-AB87-D223-7CBDA5DC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7A41A4-D366-9546-DE0A-9D713458223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562" y="1509926"/>
            <a:ext cx="8769852" cy="506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D53D0E71-B333-40B4-8BE0-83177DFDA05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46849" y="1694592"/>
            <a:ext cx="796843" cy="507219"/>
          </a:xfrm>
          <a:prstGeom prst="bentConnector3">
            <a:avLst>
              <a:gd name="adj1" fmla="val -49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oval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92E107-DFA3-F1E2-1D9C-2C728641FF48}"/>
              </a:ext>
            </a:extLst>
          </p:cNvPr>
          <p:cNvSpPr txBox="1"/>
          <p:nvPr/>
        </p:nvSpPr>
        <p:spPr>
          <a:xfrm>
            <a:off x="7343692" y="1509926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Node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Neuron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86FB20-ABB6-5A62-9BF8-3E367747E42C}"/>
              </a:ext>
            </a:extLst>
          </p:cNvPr>
          <p:cNvSpPr/>
          <p:nvPr/>
        </p:nvSpPr>
        <p:spPr>
          <a:xfrm>
            <a:off x="4548136" y="1969532"/>
            <a:ext cx="630936" cy="3772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999430CC-FA70-0C7B-6762-1DD06DAC7D2B}"/>
              </a:ext>
            </a:extLst>
          </p:cNvPr>
          <p:cNvCxnSpPr>
            <a:cxnSpLocks/>
            <a:stCxn id="12" idx="0"/>
            <a:endCxn id="20" idx="3"/>
          </p:cNvCxnSpPr>
          <p:nvPr/>
        </p:nvCxnSpPr>
        <p:spPr>
          <a:xfrm rot="16200000" flipV="1">
            <a:off x="4370414" y="1476341"/>
            <a:ext cx="274941" cy="711441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98B357-15DF-2942-A9F5-CFB4A27EAC6E}"/>
              </a:ext>
            </a:extLst>
          </p:cNvPr>
          <p:cNvSpPr txBox="1"/>
          <p:nvPr/>
        </p:nvSpPr>
        <p:spPr>
          <a:xfrm>
            <a:off x="3441712" y="150992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Layer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B4D364-9C22-C7FF-1B82-8D52CE0AA2A5}"/>
              </a:ext>
            </a:extLst>
          </p:cNvPr>
          <p:cNvSpPr/>
          <p:nvPr/>
        </p:nvSpPr>
        <p:spPr>
          <a:xfrm>
            <a:off x="2307856" y="1981006"/>
            <a:ext cx="8275320" cy="37614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C7B4A74A-DE03-0F7F-0334-EEED52544108}"/>
              </a:ext>
            </a:extLst>
          </p:cNvPr>
          <p:cNvCxnSpPr>
            <a:cxnSpLocks/>
            <a:stCxn id="23" idx="1"/>
            <a:endCxn id="26" idx="2"/>
          </p:cNvCxnSpPr>
          <p:nvPr/>
        </p:nvCxnSpPr>
        <p:spPr>
          <a:xfrm rot="10800000">
            <a:off x="1460252" y="2856337"/>
            <a:ext cx="847604" cy="10053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1C2D12-1860-FBB3-A7DC-74CCE384627C}"/>
              </a:ext>
            </a:extLst>
          </p:cNvPr>
          <p:cNvSpPr txBox="1"/>
          <p:nvPr/>
        </p:nvSpPr>
        <p:spPr>
          <a:xfrm>
            <a:off x="612648" y="2487004"/>
            <a:ext cx="169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Neural Network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85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801-F3D3-EB58-550C-B96B58F9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D5858-9A9F-5F2D-2405-C58683F5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/>
                  <a:t>계산 방법</a:t>
                </a: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전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출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(=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현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재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입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가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중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행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렬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편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향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활성화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함수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등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최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종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출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다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입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력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이전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현재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16" t="-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6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1160-759D-0418-50D5-FB710F9B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76358-DE5C-BAE1-BE32-414A64DA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73AB0CB-5134-B2F2-8E26-7F1109EB9148}"/>
              </a:ext>
            </a:extLst>
          </p:cNvPr>
          <p:cNvSpPr/>
          <p:nvPr/>
        </p:nvSpPr>
        <p:spPr>
          <a:xfrm>
            <a:off x="4220023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1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E2BF0ED-0693-5103-E948-77218895341C}"/>
              </a:ext>
            </a:extLst>
          </p:cNvPr>
          <p:cNvSpPr/>
          <p:nvPr/>
        </p:nvSpPr>
        <p:spPr>
          <a:xfrm>
            <a:off x="4220023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2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AB7563-34D7-3428-0FB9-F3A264ACAF36}"/>
              </a:ext>
            </a:extLst>
          </p:cNvPr>
          <p:cNvSpPr/>
          <p:nvPr/>
        </p:nvSpPr>
        <p:spPr>
          <a:xfrm>
            <a:off x="6260143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6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04B7FFA-6CD0-561D-1499-859B6A2FA7CA}"/>
              </a:ext>
            </a:extLst>
          </p:cNvPr>
          <p:cNvSpPr/>
          <p:nvPr/>
        </p:nvSpPr>
        <p:spPr>
          <a:xfrm>
            <a:off x="6260143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5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0CE79-1F2C-2BE7-7843-ADFB1A7E54C2}"/>
              </a:ext>
            </a:extLst>
          </p:cNvPr>
          <p:cNvSpPr/>
          <p:nvPr/>
        </p:nvSpPr>
        <p:spPr>
          <a:xfrm>
            <a:off x="6260143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3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B3CFE2E-65FB-2445-8DBD-5750D004ECD9}"/>
              </a:ext>
            </a:extLst>
          </p:cNvPr>
          <p:cNvSpPr/>
          <p:nvPr/>
        </p:nvSpPr>
        <p:spPr>
          <a:xfrm>
            <a:off x="8282129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9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28D0A6-B778-B7DA-9CDE-2B610B83437D}"/>
              </a:ext>
            </a:extLst>
          </p:cNvPr>
          <p:cNvSpPr/>
          <p:nvPr/>
        </p:nvSpPr>
        <p:spPr>
          <a:xfrm>
            <a:off x="8282129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22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7ACC14-BDF3-7763-2715-EA59FE31CB33}"/>
              </a:ext>
            </a:extLst>
          </p:cNvPr>
          <p:cNvSpPr/>
          <p:nvPr/>
        </p:nvSpPr>
        <p:spPr>
          <a:xfrm>
            <a:off x="8282129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6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548C12-A891-CAD1-A1E9-2B156449D9C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4940023" y="2667889"/>
            <a:ext cx="1320120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B84EE0C-8A97-9638-B584-368066EFC59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4940023" y="3168616"/>
            <a:ext cx="1320120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4F85E41-120C-8F72-7505-D5C2DE59336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4940023" y="3168616"/>
            <a:ext cx="1320120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1FD7E49-4734-FEE9-2AAA-CEB251A54BC8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4940023" y="3803941"/>
            <a:ext cx="1320120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51AF78-63EE-F0AC-E28E-38BCED0FEEB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940023" y="4369775"/>
            <a:ext cx="1320120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C7B2C4C-0E7D-B306-FBDC-78EBB749A8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940023" y="2667889"/>
            <a:ext cx="1320120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EA0714-BE47-7DD3-7B58-CBC187ECC84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980143" y="2667889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C1143D-336A-0C4D-F90C-63A8BF98F643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F6D8272-64CC-4CAA-FC20-7C58A80F3C8A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9DB0A7-9822-109A-D9F3-515F0ED8942B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A08E890-3BFE-4AB0-BFF2-156C7529791E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1B7D052-3EAA-4695-2DDB-65D4D3C26F10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980143" y="3803941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24430D3-8928-2B61-244B-A3EE17DD02F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0B98F40-2A8D-F5ED-956E-0E60B918F03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 flipV="1"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0D15879C-404D-EE9E-650A-9474F9690FCE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980143" y="4939993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9F65189-4DF9-BCCE-886A-2999695B5E74}"/>
              </a:ext>
            </a:extLst>
          </p:cNvPr>
          <p:cNvCxnSpPr>
            <a:cxnSpLocks/>
            <a:stCxn id="9" idx="6"/>
            <a:endCxn id="154" idx="2"/>
          </p:cNvCxnSpPr>
          <p:nvPr/>
        </p:nvCxnSpPr>
        <p:spPr>
          <a:xfrm>
            <a:off x="9002129" y="2667889"/>
            <a:ext cx="1225812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62B8E66F-9B19-1AA1-1EC5-134447DFF4AE}"/>
              </a:ext>
            </a:extLst>
          </p:cNvPr>
          <p:cNvCxnSpPr>
            <a:cxnSpLocks/>
            <a:stCxn id="11" idx="6"/>
            <a:endCxn id="154" idx="2"/>
          </p:cNvCxnSpPr>
          <p:nvPr/>
        </p:nvCxnSpPr>
        <p:spPr>
          <a:xfrm flipV="1">
            <a:off x="9002129" y="3168616"/>
            <a:ext cx="1225812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6B07E0F-8BD7-D102-4E28-882CA2699D57}"/>
              </a:ext>
            </a:extLst>
          </p:cNvPr>
          <p:cNvCxnSpPr>
            <a:cxnSpLocks/>
            <a:stCxn id="10" idx="6"/>
            <a:endCxn id="154" idx="2"/>
          </p:cNvCxnSpPr>
          <p:nvPr/>
        </p:nvCxnSpPr>
        <p:spPr>
          <a:xfrm flipV="1">
            <a:off x="9002129" y="3168616"/>
            <a:ext cx="1225812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907F6F5-E653-5A1B-DD83-09817BA58E73}"/>
              </a:ext>
            </a:extLst>
          </p:cNvPr>
          <p:cNvSpPr/>
          <p:nvPr/>
        </p:nvSpPr>
        <p:spPr>
          <a:xfrm>
            <a:off x="618089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430AF07-BA38-E758-5325-20CE659980B3}"/>
              </a:ext>
            </a:extLst>
          </p:cNvPr>
          <p:cNvSpPr/>
          <p:nvPr/>
        </p:nvSpPr>
        <p:spPr>
          <a:xfrm>
            <a:off x="819864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6765FA-B69F-17C9-233E-E4BDE2DC96EC}"/>
              </a:ext>
            </a:extLst>
          </p:cNvPr>
          <p:cNvSpPr/>
          <p:nvPr/>
        </p:nvSpPr>
        <p:spPr>
          <a:xfrm>
            <a:off x="4136539" y="2183261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F9292EF-C141-ADBB-7FFE-D664743F2700}"/>
              </a:ext>
            </a:extLst>
          </p:cNvPr>
          <p:cNvSpPr/>
          <p:nvPr/>
        </p:nvSpPr>
        <p:spPr>
          <a:xfrm>
            <a:off x="10144457" y="2183239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EF665F-7B4C-2A42-7DCA-F11813FD4B28}"/>
              </a:ext>
            </a:extLst>
          </p:cNvPr>
          <p:cNvSpPr txBox="1"/>
          <p:nvPr/>
        </p:nvSpPr>
        <p:spPr>
          <a:xfrm>
            <a:off x="3957895" y="5505827"/>
            <a:ext cx="124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입력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(Input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86FE098-89F7-3F42-CF5C-62BF0BCD147E}"/>
              </a:ext>
            </a:extLst>
          </p:cNvPr>
          <p:cNvSpPr txBox="1"/>
          <p:nvPr/>
        </p:nvSpPr>
        <p:spPr>
          <a:xfrm>
            <a:off x="5925535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1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1)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9EA57E-E052-86E6-6D40-CF40F80EE338}"/>
              </a:ext>
            </a:extLst>
          </p:cNvPr>
          <p:cNvSpPr txBox="1"/>
          <p:nvPr/>
        </p:nvSpPr>
        <p:spPr>
          <a:xfrm>
            <a:off x="7947521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2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2)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CB7060E-E7D5-F579-F755-4BD1F144F693}"/>
              </a:ext>
            </a:extLst>
          </p:cNvPr>
          <p:cNvSpPr txBox="1"/>
          <p:nvPr/>
        </p:nvSpPr>
        <p:spPr>
          <a:xfrm>
            <a:off x="9893333" y="5502695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출력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(Output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/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, 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/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/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은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닉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력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blipFill>
                <a:blip r:embed="rId5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/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/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타원 153">
            <a:extLst>
              <a:ext uri="{FF2B5EF4-FFF2-40B4-BE49-F238E27FC236}">
                <a16:creationId xmlns:a16="http://schemas.microsoft.com/office/drawing/2014/main" id="{B018C7BE-4ECB-485E-3F54-C84EEEE8DF21}"/>
              </a:ext>
            </a:extLst>
          </p:cNvPr>
          <p:cNvSpPr/>
          <p:nvPr/>
        </p:nvSpPr>
        <p:spPr>
          <a:xfrm>
            <a:off x="10227941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0.73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5CF641FF-8407-BF76-BD9A-DDF64EB1B56F}"/>
              </a:ext>
            </a:extLst>
          </p:cNvPr>
          <p:cNvSpPr/>
          <p:nvPr/>
        </p:nvSpPr>
        <p:spPr>
          <a:xfrm>
            <a:off x="10227941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0.27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C1BFB1A8-68CB-A93B-D47D-F71586EABDDD}"/>
              </a:ext>
            </a:extLst>
          </p:cNvPr>
          <p:cNvCxnSpPr>
            <a:cxnSpLocks/>
            <a:stCxn id="10" idx="6"/>
            <a:endCxn id="155" idx="2"/>
          </p:cNvCxnSpPr>
          <p:nvPr/>
        </p:nvCxnSpPr>
        <p:spPr>
          <a:xfrm flipV="1">
            <a:off x="9002129" y="4369775"/>
            <a:ext cx="1225812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CE4A5EB-2ABA-A3C4-637E-8C86E8B79710}"/>
              </a:ext>
            </a:extLst>
          </p:cNvPr>
          <p:cNvCxnSpPr>
            <a:cxnSpLocks/>
            <a:stCxn id="11" idx="6"/>
            <a:endCxn id="155" idx="2"/>
          </p:cNvCxnSpPr>
          <p:nvPr/>
        </p:nvCxnSpPr>
        <p:spPr>
          <a:xfrm>
            <a:off x="9002129" y="3803941"/>
            <a:ext cx="1225812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B12D70A-403B-21E4-1D84-663B71A04CA0}"/>
              </a:ext>
            </a:extLst>
          </p:cNvPr>
          <p:cNvCxnSpPr>
            <a:cxnSpLocks/>
            <a:stCxn id="9" idx="6"/>
            <a:endCxn id="155" idx="2"/>
          </p:cNvCxnSpPr>
          <p:nvPr/>
        </p:nvCxnSpPr>
        <p:spPr>
          <a:xfrm>
            <a:off x="9002129" y="2667889"/>
            <a:ext cx="1225812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20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752-2CA5-8615-DCF5-69A7E3E2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CBB0A-6F6D-9A77-98A0-3EE07ED4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 err="1"/>
                  <a:t>교차엔트로피</a:t>
                </a:r>
                <a:r>
                  <a:rPr kumimoji="1" lang="ko-KR" altLang="en-US" sz="2000" dirty="0"/>
                  <a:t> 손실 계산 </a:t>
                </a:r>
                <a:r>
                  <a:rPr kumimoji="1" lang="en-US" altLang="ko-KR" sz="2000" dirty="0"/>
                  <a:t>(Cross-Entropy Loss)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den>
                      </m:f>
                      <m:r>
                        <m:rPr>
                          <m:nor/>
                        </m:rPr>
                        <a:rPr lang="en" altLang="ko-KR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정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예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측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결과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altLang="ko-KR" smtClean="0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습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률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최종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클래스의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16" t="-91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431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9A4A4-F487-78B5-491E-E91CDA0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399F1-4101-B5EB-A3A5-884EE2AA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687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DD2F-D2B4-7730-5FA0-54CC8E78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8F993-060F-17BC-16EC-02737104E6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087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7830</TotalTime>
  <Words>1423</Words>
  <Application>Microsoft Office PowerPoint</Application>
  <PresentationFormat>와이드스크린</PresentationFormat>
  <Paragraphs>246</Paragraphs>
  <Slides>26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Aptos</vt:lpstr>
      <vt:lpstr>Aptos Light</vt:lpstr>
      <vt:lpstr>Arial</vt:lpstr>
      <vt:lpstr>Cambria Math</vt:lpstr>
      <vt:lpstr>Chroma</vt:lpstr>
      <vt:lpstr>스포츠 데이터 분석  실시간 승률 예측</vt:lpstr>
      <vt:lpstr>목차</vt:lpstr>
      <vt:lpstr>주제 선정 동기(실시간 승률 분석) - 1</vt:lpstr>
      <vt:lpstr>데이터 수집 및 처리 과정 – 2.1</vt:lpstr>
      <vt:lpstr>데이터 수집 및 처리 과정  2.2</vt:lpstr>
      <vt:lpstr>                                                                         경기기록(변수명) - 2</vt:lpstr>
      <vt:lpstr>핵심 지표 설명</vt:lpstr>
      <vt:lpstr>Possessions</vt:lpstr>
      <vt:lpstr>Net Rating</vt:lpstr>
      <vt:lpstr> Four Factors </vt:lpstr>
      <vt:lpstr>모델 개발 및 시스템 구축 – 2.3  </vt:lpstr>
      <vt:lpstr>Softmax 함수</vt:lpstr>
      <vt:lpstr>Softmax 함수</vt:lpstr>
      <vt:lpstr>Softmax 함수</vt:lpstr>
      <vt:lpstr>Softmax 특징</vt:lpstr>
      <vt:lpstr>Softmax 특징</vt:lpstr>
      <vt:lpstr>인공지능 vs 머신러닝 vs 딥러닝</vt:lpstr>
      <vt:lpstr>Machine Learning</vt:lpstr>
      <vt:lpstr>Deep Learning</vt:lpstr>
      <vt:lpstr>Multi-Layer Perceptron</vt:lpstr>
      <vt:lpstr>Multi-Layer Perceptron</vt:lpstr>
      <vt:lpstr>Multi-Layer Perceptron</vt:lpstr>
      <vt:lpstr>Multi-Layer Perceptron</vt:lpstr>
      <vt:lpstr>Multi-Layer Perceptron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주</dc:creator>
  <cp:lastModifiedBy>김 승준</cp:lastModifiedBy>
  <cp:revision>6</cp:revision>
  <dcterms:created xsi:type="dcterms:W3CDTF">2025-09-20T07:51:50Z</dcterms:created>
  <dcterms:modified xsi:type="dcterms:W3CDTF">2025-10-24T11:05:25Z</dcterms:modified>
</cp:coreProperties>
</file>