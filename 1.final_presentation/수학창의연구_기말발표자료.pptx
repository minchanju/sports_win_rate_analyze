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notesMasterIdLst>
    <p:notesMasterId r:id="rId27"/>
  </p:notesMasterIdLst>
  <p:sldIdLst>
    <p:sldId id="256" r:id="rId2"/>
    <p:sldId id="257" r:id="rId3"/>
    <p:sldId id="274" r:id="rId4"/>
    <p:sldId id="289" r:id="rId5"/>
    <p:sldId id="290" r:id="rId6"/>
    <p:sldId id="291" r:id="rId7"/>
    <p:sldId id="280" r:id="rId8"/>
    <p:sldId id="282" r:id="rId9"/>
    <p:sldId id="281" r:id="rId10"/>
    <p:sldId id="300" r:id="rId11"/>
    <p:sldId id="288" r:id="rId12"/>
    <p:sldId id="301" r:id="rId13"/>
    <p:sldId id="302" r:id="rId14"/>
    <p:sldId id="303" r:id="rId15"/>
    <p:sldId id="261" r:id="rId16"/>
    <p:sldId id="295" r:id="rId17"/>
    <p:sldId id="286" r:id="rId18"/>
    <p:sldId id="320" r:id="rId19"/>
    <p:sldId id="318" r:id="rId20"/>
    <p:sldId id="304" r:id="rId21"/>
    <p:sldId id="316" r:id="rId22"/>
    <p:sldId id="319" r:id="rId23"/>
    <p:sldId id="308" r:id="rId24"/>
    <p:sldId id="313" r:id="rId25"/>
    <p:sldId id="307" r:id="rId26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4F"/>
    <a:srgbClr val="FF2C63"/>
    <a:srgbClr val="B31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873F0-2D58-DF46-A3ED-A59E419EABB5}" v="1833" dt="2025-09-22T11:33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3" autoAdjust="0"/>
    <p:restoredTop sz="96327" autoAdjust="0"/>
  </p:normalViewPr>
  <p:slideViewPr>
    <p:cSldViewPr snapToGrid="0">
      <p:cViewPr varScale="1">
        <p:scale>
          <a:sx n="104" d="100"/>
          <a:sy n="104" d="100"/>
        </p:scale>
        <p:origin x="2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1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23.3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1183 293 24575,'14'15'0,"-1"0"0,20 30 0,19 23 0,-22-37 0,2-2 0,1-1 0,1-2 0,70 42 0,-371-166 0,227 84 0,-41-14 0,-600-184 0,644 203 0,0-1 0,0-2 0,1-1 0,1-2 0,1-2 0,0-1 0,1-1 0,-42-33 0,71 49 0,0-1 0,0 0 0,0 0 0,1 0 0,-1 0 0,1 0 0,0-1 0,0 1 0,1-1 0,-4-8 0,6 11 0,0 1 0,-1-1 0,1 1 0,0-1 0,0 1 0,0-1 0,0 1 0,0-1 0,0 1 0,1 0 0,-1-1 0,0 1 0,1-1 0,-1 1 0,1-1 0,0 1 0,-1 0 0,1-1 0,0 1 0,0 0 0,0 0 0,0 0 0,0 0 0,0-1 0,0 1 0,0 1 0,0-1 0,1 0 0,-1 0 0,0 0 0,0 1 0,1-1 0,-1 0 0,1 1 0,-1-1 0,0 1 0,1 0 0,-1 0 0,1-1 0,-1 1 0,1 0 0,1 0 0,7-1 0,0 0 0,0 1 0,0 0 0,0 0 0,0 1 0,0 0 0,-1 1 0,1 0 0,0 1 0,12 4 0,13 8 0,46 25 0,270 163 0,-55-30 0,-213-129 0,-29-17 0,0 3 0,-2 2 0,84 69 0,-107-67 0,-29-33 0,0-1 0,1 1 0,-1 0 0,0-1 0,0 1 0,1-1 0,-1 1 0,0 0 0,0-1 0,0 1 0,0 0 0,0-1 0,0 1 0,0 0 0,0-1 0,0 1 0,0 0 0,-1-1 0,1 1 0,0 0 0,0-1 0,-1 2 0,0-2 0,1 1 0,-1 0 0,0 0 0,0-1 0,0 1 0,0-1 0,0 1 0,0-1 0,0 1 0,0-1 0,-1 1 0,1-1 0,0 0 0,0 0 0,0 0 0,0 1 0,-2-1 0,-10-1 0,0-1 0,0 1 0,1-2 0,-1 0 0,1 0 0,0-1 0,0-1 0,0 0 0,-18-11 0,-9-3 0,-981-494 0,1011 508 0,-17-10 0,1 0 0,0-2 0,2-1 0,-35-33 0,57 50 0,9 10 0,14 21 0,-8 8-1365,-10-26-5461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7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45 24575,'-2'-9'0,"-1"18"0,-2 20 0,6-2 0,2 0 0,1 0 0,10 41 0,2 10 0,-36-136 0,-2 1 0,-34-61 0,31 77 0,24 39 0,-1 0 0,1 0 0,-1 0 0,0 0 0,1 0 0,-1 0 0,0 1 0,0-1 0,0 1 0,0-1 0,-1 1 0,1 0 0,0 0 0,0 0 0,-1 0 0,-2-1 0,4 3 0,1-1 0,-1 0 0,1 0 0,-1 1 0,1-1 0,-1 0 0,1 1 0,0-1 0,-1 0 0,1 1 0,0-1 0,-1 1 0,1-1 0,0 0 0,-1 1 0,1-1 0,0 1 0,0-1 0,-1 1 0,1-1 0,0 1 0,0-1 0,0 1 0,0 0 0,0-1 0,0 1 0,0-1 0,0 1 0,0-1 0,0 1 0,0-1 0,0 1 0,0-1 0,0 1 0,1-1 0,-1 1 0,0-1 0,0 1 0,1 0 0,9 33 0,-7-25 0,-2-4 0,21 84 0,60 155 0,-68-209 0,15 32 0,-27-62 0,1 0 0,0 0 0,0-1 0,0 0 0,1 0 0,-1 0 0,1 0 0,0 0 0,0-1 0,7 5 0,-10-7 0,0 0 0,0 0 0,0-1 0,0 1 0,0-1 0,0 1 0,0-1 0,0 1 0,0-1 0,0 0 0,0 1 0,0-1 0,0 0 0,1 0 0,-1 0 0,0 0 0,0 0 0,0 0 0,0 0 0,0 0 0,0-1 0,1 1 0,-1 0 0,0 0 0,0-1 0,0 1 0,0-1 0,0 1 0,0-1 0,0 0 0,0 1 0,0-1 0,-1 0 0,1 0 0,0 1 0,0-1 0,-1 0 0,1 0 0,0 0 0,0-2 0,2-4 0,0-1 0,0 0 0,-1 0 0,0 0 0,1-9 0,7-26 0,0 28 0,0 0 0,0 0 0,2 1 0,0 1 0,0 0 0,1 0 0,25-17 0,109-64 0,-144 92 0,53-24 0,-34 17 0,-32 15 0,-25 11-1365,25-11-5461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9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69 24575,'0'0'0,"3"35"0,0-31 0,-1-2 0,-1-1 0,0 1 0,1 0 0,-1-1 0,0 1 0,0 0 0,0 0 0,0 0 0,0 0 0,-1 0 0,1 0 0,-1 0 0,1 0 0,-1 0 0,0 0 0,1 0 0,-1 0 0,-1 4 0,9-62 0,-8 50 0,0-22 0,0 28 0,0 0 0,0-1 0,0 1 0,0-1 0,0 1 0,0-1 0,0 1 0,0 0 0,0-1 0,0 1 0,0-1 0,0 1 0,0 0 0,-1-1 0,1 1 0,0-1 0,0 1 0,0 0 0,-1-1 0,1 1 0,0 0 0,0-1 0,-1 1 0,1 0 0,0-1 0,-1 1 0,1 0 0,0 0 0,-1-1 0,1 1 0,0 0 0,-1 0 0,1 0 0,-1-1 0,1 1 0,0 0 0,-1 0 0,1 0 0,-1 0 0,1 0 0,-1 0 0,1 0 0,0 0 0,-1 0 0,-5 26 0,8-13 0,-2-13 0,1 1 0,-1-1 0,0 0 0,0 0 0,1 0 0,-1 0 0,0 0 0,1 0 0,-1 0 0,0 0 0,0 0 0,1 0 0,-1 0 0,0 0 0,0 0 0,1 0 0,-1 0 0,0 0 0,1 0 0,-1 0 0,0 0 0,0 0 0,1 0 0,-1 0 0,0 0 0,0-1 0,1 1 0,-1 0 0,0 0 0,0 0 0,1 0 0,-1-1 0,0 1 0,0 0 0,0 0 0,0-1 0,1 1 0,-1 0 0,0 0 0,0-1 0,27-36 0,-23 30 0,0 0 0,0 1 0,1 0 0,0 0 0,7-6 0,-12 12 0,1 0 0,0 1 0,-1-1 0,1 0 0,-1 1 0,1-1 0,-1 1 0,1-1 0,-1 1 0,1-1 0,-1 1 0,1-1 0,-1 1 0,0-1 0,1 1 0,-1 0 0,0-1 0,0 1 0,1 0 0,-1-1 0,0 1 0,0 0 0,0-1 0,0 1 0,0 0 0,0-1 0,0 1 0,0 0 0,0-1 0,0 1 0,0 1 0,3 27 0,11 332 0,-14-361 0,0 0 0,0 0 0,0 0 0,1 0 0,-1 0 0,0 0 0,0 0 0,0 0 0,0 0 0,0-1 0,0 1 0,0 0 0,0 0 0,0 0 0,0 0 0,0 0 0,0 0 0,0 0 0,1 0 0,-1 0 0,0 0 0,0 0 0,0 0 0,0 0 0,0 0 0,0 0 0,0 0 0,0 0 0,0 0 0,0 0 0,0 0 0,0 0 0,1 0 0,-1 0 0,0 1 0,0-1 0,0 0 0,0 0 0,0 0 0,0 0 0,0 0 0,0 0 0,0 0 0,0 0 0,0 0 0,0 0 0,0 0 0,0 0 0,0 0 0,0 1 0,7-15 0,6-20 0,-3 0 0,-1 0 0,-1 0 0,-3-1 0,0 0 0,-2-69 0,-4 111 0,0 1 0,-1-1 0,0 0 0,0 0 0,0 0 0,-6 10 0,-4 14 0,-3 14 0,3 0 0,2 1 0,-8 90 0,18-136 0,0 0 0,0 0 0,0 0 0,0 0 0,0 0 0,0 0 0,1 0 0,-1 0 0,0 0 0,0 0 0,0 0 0,0 0 0,0 0 0,0 0 0,1 0 0,-1 0 0,0 0 0,0 0 0,0 0 0,0 0 0,0 0 0,0 0 0,0 0 0,1 0 0,-1 1 0,0-1 0,0 0 0,0 0 0,0 0 0,0 0 0,0 0 0,0 0 0,0 0 0,0 0 0,1 0 0,-1 0 0,0 1 0,0-1 0,0 0 0,0 0 0,0 0 0,0 0 0,0 0 0,0 0 0,0 1 0,0-1 0,0 0 0,0 0 0,0 0 0,0 0 0,0 0 0,0 0 0,0 1 0,0-1 0,0 0 0,0 0 0,0 0 0,0 0 0,0 0 0,0 0 0,-1 1 0,10-16 0,7-23 0,-5-13-1365,-8 31-5461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14.4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180 186 24575,'2'-3'0,"1"0"0,-1 0 0,0 0 0,0-1 0,0 1 0,-1 0 0,1-1 0,-1 0 0,0 1 0,1-6 0,-1 7 0,4-17 0,-2 1 0,0-1 0,1-33 0,-2 24 0,-1 23 0,1 7 0,2 17 0,4 28 0,-4-6 0,-3-27 0,1-1 0,0 1 0,1-1 0,8 27 0,-8-30 0,0-1 0,-1 1 0,0 0 0,-1 0 0,0 18 0,3 18 0,-47-71 0,39 22 0,-31-35 0,34 37 0,0-1 0,0 1 0,0-1 0,0 0 0,0 0 0,0 1 0,0-1 0,0 0 0,0 0 0,1 0 0,-1 0 0,1 0 0,0 0 0,0 0 0,-1 0 0,1 0 0,0 0 0,1 0 0,-1 0 0,0 0 0,1-3 0,0 5 0,-1-1 0,0 1 0,0 0 0,0-1 0,1 1 0,-1 0 0,0-1 0,0 1 0,1 0 0,-1 0 0,0-1 0,1 1 0,-1 0 0,0 0 0,1 0 0,-1-1 0,1 1 0,-1 0 0,0 0 0,1 0 0,-1 0 0,0 0 0,1 0 0,-1 0 0,1 0 0,-1 0 0,0 0 0,1 0 0,-1 0 0,1 0 0,-1 0 0,0 0 0,1 0 0,-1 0 0,1 1 0,-1-1 0,0 0 0,1 0 0,-1 0 0,0 1 0,1-1 0,-1 0 0,0 0 0,0 1 0,1-1 0,-1 0 0,0 1 0,0-1 0,1 0 0,-1 1 0,0-1 0,0 0 0,0 1 0,0-1 0,0 1 0,1-1 0,-1 1 0,17 28 0,-13-21 0,1-1 0,0-1 0,1 0 0,0 0 0,0 0 0,0 0 0,1-1 0,-1 0 0,1-1 0,1 1 0,-1-1 0,1-1 0,-1 0 0,1 0 0,0 0 0,0-1 0,0 0 0,1 0 0,-1-1 0,0 0 0,10 0 0,-17-1 0,0 0 0,0 0 0,0-1 0,0 1 0,0 0 0,-1 0 0,1 0 0,0 0 0,0-1 0,0 1 0,-1 0 0,1-1 0,0 1 0,0-1 0,-1 1 0,1-1 0,0 1 0,-1-1 0,1 0 0,0 1 0,-1-1 0,1 0 0,-1 1 0,1-1 0,-1 0 0,1 1 0,-1-1 0,0 0 0,1 0 0,-1 0 0,0 0 0,0 1 0,0-1 0,1 0 0,-1 0 0,0 0 0,0 0 0,0 0 0,0 1 0,-1-1 0,1 0 0,0 0 0,0 0 0,0 0 0,-1 0 0,1 1 0,0-1 0,-1 0 0,1 0 0,-1 1 0,1-1 0,-1 0 0,1 1 0,-1-1 0,0 0 0,-2-5 0,-1 1 0,1 0 0,-1 0 0,0 0 0,0 1 0,-7-6 0,2 3 0,-1 2 0,0-1 0,-20-7 0,27 12 0,0-1 0,0 1 0,0 0 0,-1 0 0,1 0 0,0 1 0,-1-1 0,1 1 0,0 0 0,-1 0 0,1 0 0,-1 0 0,1 1 0,0-1 0,-1 1 0,-5 2 0,1 4 0,0 2 0,1-1 0,0 1 0,0 0 0,1 0 0,0 1 0,-5 12 0,-22 69 0,28-65 0,4-21 0,0 0 0,0 0 0,0-1 0,0 1 0,-1 0 0,1 0 0,-1-1 0,-1 1 0,1-1 0,-4 6 0,28-71 0,-15 47 0,0 0 0,0 1 0,1 0 0,1 0 0,0 1 0,14-15 0,-21 25 0,0 0 0,0 0 0,1 0 0,-1 0 0,1 0 0,-1 0 0,1 1 0,0-1 0,-1 1 0,1 0 0,0 0 0,0 0 0,0 0 0,0 0 0,0 1 0,0-1 0,0 1 0,0 0 0,0 0 0,0 0 0,0 0 0,1 1 0,-1-1 0,0 1 0,0-1 0,-1 1 0,1 0 0,0 1 0,0-1 0,0 0 0,-1 1 0,1-1 0,0 1 0,-1 0 0,0 0 0,1 0 0,-1 0 0,3 4 0,3 2 0,0-1 0,-1 0 0,0 0 0,0 1 0,0 0 0,9 17 0,-15-23 0,0-1 0,-1 0 0,1 1 0,-1-1 0,1 1 0,-1-1 0,0 1 0,0-1 0,1 1 0,-1-1 0,0 1 0,0-1 0,-1 1 0,1-1 0,0 1 0,0-1 0,-1 1 0,1-1 0,-1 2 0,-1-1 0,1 0 0,-1 0 0,0 0 0,1 0 0,-1 0 0,0-1 0,0 1 0,0-1 0,0 0 0,0 1 0,0-1 0,-1 0 0,1 0 0,0 0 0,-5 1 0,-22 4 0,-1-1 0,0-1 0,0-2 0,0-1 0,0-1 0,-34-5 0,45 4 0,17 1 0,0 0 0,0 0 0,0 0 0,0 0 0,1 0 0,-1-1 0,0 1 0,0 0 0,0-1 0,1 1 0,-1-1 0,0 0 0,1 0 0,-1 1 0,1-1 0,-1 0 0,0 0 0,1-1 0,0 1 0,-1 0 0,1 0 0,0-1 0,0 1 0,0-1 0,0 1 0,0-1 0,0 1 0,0-1 0,0 0 0,0 1 0,1-1 0,-1 0 0,1 0 0,0 1 0,-1-1 0,1 0 0,0 0 0,0 0 0,0 0 0,0 1 0,0-1 0,1 0 0,-1 0 0,0 0 0,1 1 0,1-4 0,0-2 0,0 1 0,1-1 0,0 1 0,0 0 0,0 0 0,1 0 0,0 1 0,0-1 0,1 1 0,-1 0 0,8-6 0,-9 9 0,6-4 0,0-1 0,0 0 0,-1 0 0,0-1 0,0 0 0,0 0 0,-1-1 0,0 0 0,-1 0 0,7-13 0,8-24 0,22-40 0,-42 107 0,-7 14 0,-30 107 0,31-122 0,4 18 0,1-33 0,0 0 0,0 0 0,0 0 0,0 0 0,-1-1 0,-2 11 0,-1-18 0,0-1 0,1 1 0,-1-1 0,1 0 0,0 0 0,-5-7 0,-159-247 0,165 253 0,12 15 0,14 17 0,32 30 111,-22-25-1587,-28-25-5350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22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30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3AAF688-E8A5-0046-9222-F1AA7125E0B2}" type="datetimeFigureOut">
              <a:rPr kumimoji="1" lang="ko-KR" altLang="en-US" smtClean="0"/>
              <a:t>2025. 12. 20.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5431AF4-9F7E-B749-9451-7CCB967D32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828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5468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3544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7318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00AAE-52C7-9D5E-6BD5-5A59A23F5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AAACA9-CDB7-4D49-6591-50F4129CF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3C6B10-BFF5-B0C2-E3A8-8BFEE432C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F9026E-4243-9AC6-B39F-2C27A2C82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4929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4338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4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0920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6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64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73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38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14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8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00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7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16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8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29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1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79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91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29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32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92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216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70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386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2124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50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72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74409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5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12/20/25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21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9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60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25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030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171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8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90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963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6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60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69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92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55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779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698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00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157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12/20/25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349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471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00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12/20/25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  <p:sldLayoutId id="2147483853" r:id="rId37"/>
    <p:sldLayoutId id="2147483854" r:id="rId38"/>
    <p:sldLayoutId id="2147483867" r:id="rId39"/>
    <p:sldLayoutId id="2147483855" r:id="rId40"/>
    <p:sldLayoutId id="2147483856" r:id="rId41"/>
    <p:sldLayoutId id="2147483857" r:id="rId42"/>
    <p:sldLayoutId id="2147483858" r:id="rId43"/>
    <p:sldLayoutId id="2147483859" r:id="rId44"/>
    <p:sldLayoutId id="2147483860" r:id="rId45"/>
    <p:sldLayoutId id="2147483861" r:id="rId46"/>
    <p:sldLayoutId id="2147483862" r:id="rId47"/>
    <p:sldLayoutId id="2147483863" r:id="rId48"/>
    <p:sldLayoutId id="2147483864" r:id="rId49"/>
    <p:sldLayoutId id="2147483865" r:id="rId50"/>
    <p:sldLayoutId id="214748386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customXml" Target="../ink/ink5.xm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0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bl.or.kr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ci.go.kr/kciportal/po/search/poSereArtiList.kci?sereId=000739&amp;volIsseId=VOL000013390" TargetMode="Externa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D806-55D9-323E-A324-78FEA4BB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76072"/>
            <a:ext cx="5852160" cy="2953512"/>
          </a:xfrm>
        </p:spPr>
        <p:txBody>
          <a:bodyPr anchor="t">
            <a:normAutofit fontScale="90000"/>
          </a:bodyPr>
          <a:lstStyle/>
          <a:p>
            <a:r>
              <a:rPr kumimoji="1" lang="ko-KR" altLang="en-US" dirty="0"/>
              <a:t>스포츠 데이터 분석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실시간 승률 예측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C395A7-5311-E7CC-C98C-A2B16087F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923" y="4601718"/>
            <a:ext cx="4681728" cy="1591056"/>
          </a:xfrm>
        </p:spPr>
        <p:txBody>
          <a:bodyPr anchor="ctr">
            <a:normAutofit/>
          </a:bodyPr>
          <a:lstStyle/>
          <a:p>
            <a:r>
              <a:rPr kumimoji="1" lang="ko-KR" altLang="en-US" dirty="0"/>
              <a:t>팀 리더</a:t>
            </a:r>
            <a:r>
              <a:rPr kumimoji="1" lang="en-US" altLang="ko-KR" dirty="0"/>
              <a:t>: 20</a:t>
            </a:r>
            <a:r>
              <a:rPr kumimoji="1" lang="ko-KR" altLang="en-US" dirty="0"/>
              <a:t>학번 김승준</a:t>
            </a:r>
            <a:endParaRPr kumimoji="1" lang="en-US" altLang="ko-KR" dirty="0"/>
          </a:p>
          <a:p>
            <a:r>
              <a:rPr kumimoji="1" lang="ko-KR" altLang="en-US" dirty="0"/>
              <a:t>팀원 </a:t>
            </a:r>
            <a:r>
              <a:rPr kumimoji="1" lang="en-US" altLang="ko-KR" dirty="0"/>
              <a:t>: 	20</a:t>
            </a:r>
            <a:r>
              <a:rPr kumimoji="1" lang="ko-KR" altLang="en-US" dirty="0"/>
              <a:t>학번 </a:t>
            </a:r>
            <a:r>
              <a:rPr kumimoji="1" lang="ko-KR" altLang="en-US" dirty="0" err="1"/>
              <a:t>주민찬</a:t>
            </a:r>
            <a:endParaRPr kumimoji="1"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14:cNvPr>
              <p14:cNvContentPartPr/>
              <p14:nvPr/>
            </p14:nvContentPartPr>
            <p14:xfrm>
              <a:off x="9225219" y="2530980"/>
              <a:ext cx="360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9099" y="25248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14:cNvPr>
              <p14:cNvContentPartPr/>
              <p14:nvPr/>
            </p14:nvContentPartPr>
            <p14:xfrm>
              <a:off x="9583419" y="776340"/>
              <a:ext cx="550080" cy="26640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77299" y="770220"/>
                <a:ext cx="562320" cy="2786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9F62F3E-EC9B-4A5C-B6B5-5E0F8B83389E}"/>
              </a:ext>
            </a:extLst>
          </p:cNvPr>
          <p:cNvSpPr/>
          <p:nvPr/>
        </p:nvSpPr>
        <p:spPr>
          <a:xfrm>
            <a:off x="10629360" y="865080"/>
            <a:ext cx="0" cy="0"/>
          </a:xfrm>
          <a:prstGeom prst="line">
            <a:avLst/>
          </a:prstGeom>
          <a:solidFill>
            <a:srgbClr val="FFFFFF">
              <a:alpha val="5000"/>
            </a:srgbClr>
          </a:solidFill>
          <a:ln w="126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82E5FDEA-4F4C-31BA-993C-E255066840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27" name="그림 26" descr="텍스트, 로고, 폰트, 그래픽이(가) 표시된 사진">
            <a:extLst>
              <a:ext uri="{FF2B5EF4-FFF2-40B4-BE49-F238E27FC236}">
                <a16:creationId xmlns:a16="http://schemas.microsoft.com/office/drawing/2014/main" id="{DD1A0AB4-F4B5-CDAA-FD6F-19C65DEFD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783504"/>
            <a:ext cx="4654295" cy="3240727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B30400A-D04A-0A6B-6A49-0F710023AF92}"/>
              </a:ext>
            </a:extLst>
          </p:cNvPr>
          <p:cNvGrpSpPr/>
          <p:nvPr/>
        </p:nvGrpSpPr>
        <p:grpSpPr>
          <a:xfrm>
            <a:off x="7580220" y="218493"/>
            <a:ext cx="268200" cy="262440"/>
            <a:chOff x="7580220" y="218493"/>
            <a:chExt cx="2682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14:cNvPr>
                <p14:cNvContentPartPr/>
                <p14:nvPr/>
              </p14:nvContentPartPr>
              <p14:xfrm>
                <a:off x="7625220" y="279333"/>
                <a:ext cx="223200" cy="2016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19100" y="273213"/>
                  <a:ext cx="235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14:cNvPr>
                <p14:cNvContentPartPr/>
                <p14:nvPr/>
              </p14:nvContentPartPr>
              <p14:xfrm>
                <a:off x="7638540" y="303813"/>
                <a:ext cx="63000" cy="1638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32420" y="297693"/>
                  <a:ext cx="7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14:cNvPr>
                <p14:cNvContentPartPr/>
                <p14:nvPr/>
              </p14:nvContentPartPr>
              <p14:xfrm>
                <a:off x="7580220" y="218493"/>
                <a:ext cx="144000" cy="1749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74100" y="212373"/>
                  <a:ext cx="156240" cy="18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57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D42E3489-3198-40AC-3237-FE21A6F5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74" y="566487"/>
            <a:ext cx="3666744" cy="2624328"/>
          </a:xfrm>
        </p:spPr>
        <p:txBody>
          <a:bodyPr anchor="ctr">
            <a:normAutofit/>
          </a:bodyPr>
          <a:lstStyle/>
          <a:p>
            <a:r>
              <a:rPr kumimoji="1" lang="ko-KR" altLang="en-US" sz="5400" dirty="0"/>
              <a:t>목차</a:t>
            </a:r>
          </a:p>
        </p:txBody>
      </p:sp>
      <p:graphicFrame>
        <p:nvGraphicFramePr>
          <p:cNvPr id="14" name="내용 개체 틀 4">
            <a:extLst>
              <a:ext uri="{FF2B5EF4-FFF2-40B4-BE49-F238E27FC236}">
                <a16:creationId xmlns:a16="http://schemas.microsoft.com/office/drawing/2014/main" id="{1A0E014D-4A6B-F56C-A7B0-1FDA97961B8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6837887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194388" y="1626021"/>
          <a:ext cx="5509458" cy="312958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2436437307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3805736015"/>
                    </a:ext>
                  </a:extLst>
                </a:gridCol>
              </a:tblGrid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주제선정동기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996396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연구방법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94665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 결과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57973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발전 방향성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475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3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만화 영화, 클립아트, 일러스트레이션이(가) 표시된 사진">
            <a:extLst>
              <a:ext uri="{FF2B5EF4-FFF2-40B4-BE49-F238E27FC236}">
                <a16:creationId xmlns:a16="http://schemas.microsoft.com/office/drawing/2014/main" id="{D71A4224-F964-7C0A-532D-4CFCDBD0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70" y="3921878"/>
            <a:ext cx="3999090" cy="27735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FAB249-17EF-1477-D5B0-551155BB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45" y="24083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주제 선정 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B08EE-4C34-A744-9B1A-2EF98E04B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81" y="1157039"/>
            <a:ext cx="11327638" cy="5700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다양한 스포츠 경기의 데이터 분석을 해보고 싶다는 생각이 들었고</a:t>
            </a:r>
            <a:r>
              <a:rPr lang="en-US" altLang="ko-KR" sz="2000" dirty="0"/>
              <a:t>, </a:t>
            </a:r>
            <a:r>
              <a:rPr lang="ko-KR" altLang="en-US" sz="2000" dirty="0"/>
              <a:t>스포츠마다 나타날 변수들과 그에 대한 특징들이 궁금하였다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축구와 야구</a:t>
            </a:r>
            <a:r>
              <a:rPr lang="en-US" altLang="ko-KR" sz="2000" dirty="0"/>
              <a:t>, </a:t>
            </a:r>
            <a:r>
              <a:rPr lang="ko-KR" altLang="en-US" sz="2000" dirty="0"/>
              <a:t>농구 등 국내 스포츠 중 인기 있는 스포츠들에 데이터 분석을 같이 해보고 싶어 </a:t>
            </a:r>
            <a:r>
              <a:rPr lang="ko-KR" altLang="en-US" sz="2000" dirty="0">
                <a:solidFill>
                  <a:srgbClr val="FF0000"/>
                </a:solidFill>
              </a:rPr>
              <a:t>각 스포츠에 대한 데이터와 분석 방식에 대해서 알아보았고</a:t>
            </a:r>
            <a:r>
              <a:rPr lang="en-US" altLang="ko-KR" sz="2000" dirty="0"/>
              <a:t>, </a:t>
            </a:r>
            <a:r>
              <a:rPr lang="ko-KR" altLang="en-US" sz="2000" dirty="0"/>
              <a:t>평소 관심을 두고 있었으며 데이터분석을 경험해본 농구를 분석 대상으로 선정하였다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농구는 언급된 스포츠들 중 </a:t>
            </a:r>
            <a:r>
              <a:rPr lang="ko-KR" altLang="en-US" sz="2000" dirty="0">
                <a:solidFill>
                  <a:srgbClr val="FF0000"/>
                </a:solidFill>
              </a:rPr>
              <a:t>지표들의 변동성이 높아 변수가 많다</a:t>
            </a:r>
            <a:r>
              <a:rPr lang="en-US" altLang="ko-KR" sz="2000" dirty="0"/>
              <a:t>. </a:t>
            </a:r>
            <a:r>
              <a:rPr lang="ko-KR" altLang="en-US" sz="2000" dirty="0"/>
              <a:t>따라서 농구 경기를 보고 있으면 이기고 있는 팀이 바뀌는 경우가 빈번하게 일어난다</a:t>
            </a:r>
            <a:r>
              <a:rPr lang="en-US" altLang="ko-KR" sz="2000" dirty="0"/>
              <a:t>. </a:t>
            </a:r>
            <a:r>
              <a:rPr lang="ko-KR" altLang="en-US" sz="2000" dirty="0"/>
              <a:t>이는 축구나 </a:t>
            </a:r>
            <a:r>
              <a:rPr lang="ko-KR" altLang="en-US" sz="2000" dirty="0" err="1"/>
              <a:t>야구같은</a:t>
            </a:r>
            <a:r>
              <a:rPr lang="ko-KR" altLang="en-US" sz="2000" dirty="0"/>
              <a:t> 다른 인기 스포츠와의 차이점이다</a:t>
            </a:r>
            <a:r>
              <a:rPr lang="en-US" altLang="ko-KR" sz="2000" dirty="0"/>
              <a:t>. </a:t>
            </a:r>
            <a:r>
              <a:rPr lang="ko-KR" altLang="en-US" sz="2000" dirty="0"/>
              <a:t>이런 특징 때문에 농구는 팬들에게 끝까지 경기 중계영상을 끌 수 없게 하는데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이때 팬들에게 </a:t>
            </a:r>
            <a:r>
              <a:rPr lang="ko-KR" altLang="en-US" sz="2000" dirty="0" err="1">
                <a:solidFill>
                  <a:srgbClr val="FF0000"/>
                </a:solidFill>
              </a:rPr>
              <a:t>우리팀이</a:t>
            </a:r>
            <a:r>
              <a:rPr lang="ko-KR" altLang="en-US" sz="2000" dirty="0">
                <a:solidFill>
                  <a:srgbClr val="FF0000"/>
                </a:solidFill>
              </a:rPr>
              <a:t> 이길 확률이 얼마나 되는지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보고있는</a:t>
            </a:r>
            <a:r>
              <a:rPr lang="ko-KR" altLang="en-US" sz="2000" dirty="0"/>
              <a:t> 경기의 상대적 지표들은 </a:t>
            </a:r>
            <a:r>
              <a:rPr lang="ko-KR" altLang="en-US" sz="2000" dirty="0" err="1"/>
              <a:t>어떤지</a:t>
            </a:r>
            <a:r>
              <a:rPr lang="ko-KR" altLang="en-US" sz="2000" dirty="0"/>
              <a:t> 판단할 수 있는 데이터와 자료들을 제공하면 좋지 않을까</a:t>
            </a:r>
            <a:r>
              <a:rPr lang="en-US" altLang="ko-KR" sz="2000" dirty="0"/>
              <a:t>? </a:t>
            </a:r>
            <a:r>
              <a:rPr lang="ko-KR" altLang="en-US" sz="2000" dirty="0"/>
              <a:t>라는 생각을 </a:t>
            </a:r>
            <a:r>
              <a:rPr lang="ko-KR" altLang="en-US" sz="2000" dirty="0" err="1"/>
              <a:t>하게되어</a:t>
            </a:r>
            <a:r>
              <a:rPr lang="en-US" altLang="ko-KR" sz="2000" dirty="0"/>
              <a:t>, </a:t>
            </a:r>
            <a:r>
              <a:rPr lang="ko-KR" altLang="en-US" sz="2000" dirty="0"/>
              <a:t>주제를 결정하게 되었다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반대로 선수들에게는 실시간 승패예측 프로그램을 활용하여 경기 내적으로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</a:rPr>
              <a:t>전략 및 전술의 실시간 수정</a:t>
            </a:r>
            <a:r>
              <a:rPr lang="en-US" altLang="ko-KR" sz="2000" dirty="0"/>
              <a:t>,</a:t>
            </a:r>
            <a:r>
              <a:rPr lang="ko-KR" altLang="en-US" sz="2000" dirty="0"/>
              <a:t> 혹은 경기 종료 후 피드백을 통해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</a:rPr>
              <a:t>경기력 향상 효과를 기대한다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14:cNvPr>
              <p14:cNvContentPartPr/>
              <p14:nvPr/>
            </p14:nvContentPartPr>
            <p14:xfrm>
              <a:off x="4617895" y="1182069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1775" y="117594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14:cNvPr>
              <p14:cNvContentPartPr/>
              <p14:nvPr/>
            </p14:nvContentPartPr>
            <p14:xfrm>
              <a:off x="12653815" y="3703869"/>
              <a:ext cx="3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47695" y="369774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60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4C21-C418-818C-03BF-2AF3C5B2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7EC42-31F1-2398-D127-A557FA3B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07" y="108597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선정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2E435-E0D5-2B1A-BF5B-B223B435E1F0}"/>
              </a:ext>
            </a:extLst>
          </p:cNvPr>
          <p:cNvSpPr txBox="1"/>
          <p:nvPr/>
        </p:nvSpPr>
        <p:spPr>
          <a:xfrm>
            <a:off x="327434" y="961990"/>
            <a:ext cx="11284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한국 프로 농구 </a:t>
            </a:r>
            <a:r>
              <a:rPr lang="en-US" altLang="ko-KR" sz="2400" dirty="0"/>
              <a:t>25-26 </a:t>
            </a:r>
            <a:r>
              <a:rPr lang="ko-KR" altLang="en-US" sz="2400" dirty="0"/>
              <a:t>시즌 실시간 경기에 승률 예측을 위하여 </a:t>
            </a:r>
            <a:r>
              <a:rPr lang="en-US" altLang="ko-KR" sz="2400" dirty="0"/>
              <a:t>KBL </a:t>
            </a:r>
            <a:r>
              <a:rPr lang="ko-KR" altLang="en-US" sz="2400" dirty="0" err="1"/>
              <a:t>컵대회</a:t>
            </a:r>
            <a:r>
              <a:rPr lang="en-US" altLang="ko-KR" sz="2400" dirty="0"/>
              <a:t>, OPEN MATCH DAY </a:t>
            </a:r>
            <a:r>
              <a:rPr lang="ko-KR" altLang="en-US" sz="2400" dirty="0"/>
              <a:t>경기와 올스타전 경기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플레이오프 등을 제외한 시즌 정규 경기에 대해서만 자료 수집을 진행하였다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구체적으로 </a:t>
            </a:r>
            <a:r>
              <a:rPr lang="en-US" altLang="ko-KR" sz="2400" dirty="0"/>
              <a:t>21-22 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22-23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23-24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24-25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 로 총 </a:t>
            </a:r>
            <a:r>
              <a:rPr lang="en-US" altLang="ko-KR" sz="2400" dirty="0"/>
              <a:t>1080</a:t>
            </a:r>
            <a:r>
              <a:rPr lang="ko-KR" altLang="en-US" sz="2400" dirty="0"/>
              <a:t>경기에 대한 데이터를 수집 및 선정하였다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81AC6F-D121-BD76-6CC4-4334D81D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610120"/>
              </p:ext>
            </p:extLst>
          </p:nvPr>
        </p:nvGraphicFramePr>
        <p:xfrm>
          <a:off x="580489" y="3328179"/>
          <a:ext cx="8373012" cy="330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004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79100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791004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시즌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경기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21-22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22-23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23-24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451505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24-25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78307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25-26</a:t>
                      </a:r>
                      <a:endParaRPr lang="ko-KR" altLang="en-US" sz="2000" b="1" dirty="0"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진행중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10</a:t>
                      </a:r>
                      <a:endParaRPr lang="ko-KR" altLang="en-US" sz="2000" dirty="0"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557936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합계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1080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086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59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4829-2A93-0958-58EC-E4818F8A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번호이(가) 표시된 사진">
            <a:extLst>
              <a:ext uri="{FF2B5EF4-FFF2-40B4-BE49-F238E27FC236}">
                <a16:creationId xmlns:a16="http://schemas.microsoft.com/office/drawing/2014/main" id="{90BF796F-F57A-22CB-F7E7-B650E5AF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864" y="436438"/>
            <a:ext cx="5144861" cy="49110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B5CDED-D068-1665-0D0F-E53AE1119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189206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수집 및 처리 과정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10C67-37B1-7AE5-5FF9-F61F0078B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64" y="1212759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실시간 승패예측 시스템을 개발하기 위하여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KBL</a:t>
            </a:r>
            <a:r>
              <a:rPr lang="ko-KR" altLang="en-US" sz="2400" dirty="0"/>
              <a:t>에서 운영하고 있는 공식 홈페이지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(</a:t>
            </a:r>
            <a:r>
              <a:rPr lang="en-US" altLang="ko-KR" sz="2400" dirty="0">
                <a:hlinkClick r:id="rId3"/>
              </a:rPr>
              <a:t>https://www.kbl.or.kr/</a:t>
            </a:r>
            <a:r>
              <a:rPr lang="en-US" altLang="ko-KR" sz="2400" dirty="0"/>
              <a:t>)</a:t>
            </a:r>
            <a:r>
              <a:rPr lang="ko-KR" altLang="en-US" sz="2400" dirty="0"/>
              <a:t>를</a:t>
            </a:r>
            <a:r>
              <a:rPr lang="en-US" altLang="ko-KR" sz="2400" dirty="0"/>
              <a:t> </a:t>
            </a:r>
            <a:r>
              <a:rPr lang="ko-KR" altLang="en-US" sz="2400" dirty="0"/>
              <a:t>통해 직접 제공하고 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있는 경기기록을 수집하였다</a:t>
            </a:r>
            <a:r>
              <a:rPr lang="en-US" altLang="ko-KR" sz="2400" dirty="0"/>
              <a:t>. 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자료수집을 위한 방법으로는 </a:t>
            </a:r>
            <a:r>
              <a:rPr lang="en-US" altLang="ko-KR" sz="2400" dirty="0"/>
              <a:t>Python 3.11 </a:t>
            </a:r>
            <a:r>
              <a:rPr lang="ko-KR" altLang="en-US" sz="2400" dirty="0"/>
              <a:t>를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사용하여 웹 </a:t>
            </a:r>
            <a:r>
              <a:rPr lang="ko-KR" altLang="en-US" sz="2400" dirty="0" err="1"/>
              <a:t>크롤링</a:t>
            </a:r>
            <a:r>
              <a:rPr lang="ko-KR" altLang="en-US" sz="2400" dirty="0"/>
              <a:t> 자동화 코드를 구현하였다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0" name="그림 9" descr="텍스트, 스크린샷, 폰트, 라인이(가) 표시된 사진">
            <a:extLst>
              <a:ext uri="{FF2B5EF4-FFF2-40B4-BE49-F238E27FC236}">
                <a16:creationId xmlns:a16="http://schemas.microsoft.com/office/drawing/2014/main" id="{6871B612-721B-F443-1CFE-1AAD0F2FB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396" y="5347442"/>
            <a:ext cx="5097329" cy="62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C61F5C-4BFC-F5A2-9F32-FB75E0BEB0D4}"/>
              </a:ext>
            </a:extLst>
          </p:cNvPr>
          <p:cNvSpPr txBox="1"/>
          <p:nvPr/>
        </p:nvSpPr>
        <p:spPr>
          <a:xfrm>
            <a:off x="7877175" y="6014918"/>
            <a:ext cx="4657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KBL </a:t>
            </a:r>
            <a:r>
              <a:rPr lang="ko-KR" altLang="en-US" sz="1400" b="1" dirty="0"/>
              <a:t>공식 홈페이지 경기기록 예시</a:t>
            </a:r>
          </a:p>
        </p:txBody>
      </p:sp>
    </p:spTree>
    <p:extLst>
      <p:ext uri="{BB962C8B-B14F-4D97-AF65-F5344CB8AC3E}">
        <p14:creationId xmlns:p14="http://schemas.microsoft.com/office/powerpoint/2010/main" val="63532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B4F3-8067-805F-DF56-EB886B1D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391E0-A7E5-0EC0-10F3-5B21D0A8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0" y="128262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D5177-E08C-07F8-6DB0-ED815DBBF50C}"/>
              </a:ext>
            </a:extLst>
          </p:cNvPr>
          <p:cNvSpPr txBox="1"/>
          <p:nvPr/>
        </p:nvSpPr>
        <p:spPr>
          <a:xfrm>
            <a:off x="369698" y="1140736"/>
            <a:ext cx="56833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웹 </a:t>
            </a:r>
            <a:r>
              <a:rPr lang="ko-KR" altLang="en-US" sz="2000" dirty="0" err="1"/>
              <a:t>크롤링</a:t>
            </a:r>
            <a:r>
              <a:rPr lang="ko-KR" altLang="en-US" sz="2000" dirty="0"/>
              <a:t> 자동화 프로그램을 활용하여 수집되는 경기기록은 </a:t>
            </a:r>
            <a:r>
              <a:rPr lang="en-US" altLang="ko-KR" sz="2000" dirty="0"/>
              <a:t>1</a:t>
            </a:r>
            <a:r>
              <a:rPr lang="ko-KR" altLang="en-US" sz="2000" dirty="0"/>
              <a:t>경기당 </a:t>
            </a:r>
            <a:r>
              <a:rPr lang="en-US" altLang="ko-KR" sz="2000" dirty="0"/>
              <a:t>36</a:t>
            </a:r>
            <a:r>
              <a:rPr lang="ko-KR" altLang="en-US" sz="2000" dirty="0"/>
              <a:t>개의 기록이 </a:t>
            </a:r>
            <a:r>
              <a:rPr lang="en-US" altLang="ko-KR" sz="2000" b="1" dirty="0"/>
              <a:t>Home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Away </a:t>
            </a:r>
            <a:r>
              <a:rPr lang="ko-KR" altLang="en-US" sz="2000" dirty="0"/>
              <a:t>별로 수집되어</a:t>
            </a:r>
            <a:r>
              <a:rPr lang="ko-KR" altLang="en-US" sz="2000" b="1" dirty="0"/>
              <a:t> </a:t>
            </a:r>
            <a:r>
              <a:rPr lang="ko-KR" altLang="en-US" sz="2000" dirty="0"/>
              <a:t>총 </a:t>
            </a:r>
            <a:r>
              <a:rPr lang="en-US" altLang="ko-KR" sz="2000" dirty="0"/>
              <a:t>72</a:t>
            </a:r>
            <a:r>
              <a:rPr lang="ko-KR" altLang="en-US" sz="2000" dirty="0"/>
              <a:t>개의 경기기록이 수집된다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r>
              <a:rPr lang="ko-KR" altLang="en-US" dirty="0"/>
              <a:t>학습에 포함되지 않는 경기 고유데이터 </a:t>
            </a:r>
            <a:r>
              <a:rPr lang="en-US" altLang="ko-KR" dirty="0"/>
              <a:t>5</a:t>
            </a:r>
            <a:r>
              <a:rPr lang="ko-KR" altLang="en-US" dirty="0"/>
              <a:t>가지 </a:t>
            </a:r>
            <a:r>
              <a:rPr lang="en-US" altLang="ko-KR" dirty="0"/>
              <a:t>(</a:t>
            </a:r>
            <a:r>
              <a:rPr lang="en-US" altLang="ko-KR" dirty="0" err="1"/>
              <a:t>gameKey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seasonName</a:t>
            </a:r>
            <a:r>
              <a:rPr lang="en-US" altLang="ko-KR" dirty="0"/>
              <a:t>, Date, Winner, Quarter)</a:t>
            </a:r>
          </a:p>
          <a:p>
            <a:endParaRPr lang="en-US" altLang="ko-KR" sz="2000" dirty="0"/>
          </a:p>
          <a:p>
            <a:r>
              <a:rPr lang="ko-KR" altLang="en-US" sz="2000" dirty="0"/>
              <a:t>따라서 전체 </a:t>
            </a:r>
            <a:r>
              <a:rPr lang="en-US" altLang="ko-KR" sz="2000" dirty="0"/>
              <a:t>1080</a:t>
            </a:r>
            <a:r>
              <a:rPr lang="ko-KR" altLang="en-US" sz="2000" dirty="0"/>
              <a:t>경기에 대한 경기기록을 수집하였으며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1080 * 72 = 77,760</a:t>
            </a:r>
            <a:r>
              <a:rPr lang="ko-KR" altLang="en-US" sz="2000" dirty="0"/>
              <a:t>개의 데이터를 수집하였다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구체적으로 수집된 경기기록은 다음과 같다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4137F1-F929-9487-27D5-E2933BBBD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86591"/>
              </p:ext>
            </p:extLst>
          </p:nvPr>
        </p:nvGraphicFramePr>
        <p:xfrm>
          <a:off x="412623" y="4082796"/>
          <a:ext cx="53403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88">
                  <a:extLst>
                    <a:ext uri="{9D8B030D-6E8A-4147-A177-3AD203B41FA5}">
                      <a16:colId xmlns:a16="http://schemas.microsoft.com/office/drawing/2014/main" val="176383034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767494672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357478341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8939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0900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TEAM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팀명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PA </a:t>
                      </a:r>
                      <a:r>
                        <a:rPr lang="ko-KR" altLang="en-US" sz="1200" dirty="0" err="1"/>
                        <a:t>개인득점시도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813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AST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어시스트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STL </a:t>
                      </a:r>
                      <a:r>
                        <a:rPr lang="ko-KR" altLang="en-US" sz="1200" dirty="0"/>
                        <a:t>스틸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232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BLK 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TTO </a:t>
                      </a:r>
                      <a:r>
                        <a:rPr lang="ko-KR" altLang="en-US" sz="1200" dirty="0"/>
                        <a:t>팀 </a:t>
                      </a:r>
                      <a:r>
                        <a:rPr lang="ko-KR" altLang="en-US" sz="1200" dirty="0" err="1"/>
                        <a:t>턴오버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6282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DREB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수비리바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PTO </a:t>
                      </a:r>
                      <a:r>
                        <a:rPr lang="ko-KR" altLang="en-US" sz="1200" dirty="0"/>
                        <a:t>개인 </a:t>
                      </a:r>
                      <a:r>
                        <a:rPr lang="ko-KR" altLang="en-US" sz="1200" dirty="0" err="1"/>
                        <a:t>턴오버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0662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DKM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덩크슛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MIN </a:t>
                      </a:r>
                      <a:r>
                        <a:rPr lang="ko-KR" altLang="en-US" sz="1200" dirty="0"/>
                        <a:t>경기시간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129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DKA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덩크슛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UF  U</a:t>
                      </a:r>
                      <a:r>
                        <a:rPr lang="ko-KR" altLang="en-US" sz="1200" dirty="0"/>
                        <a:t>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4749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4D8E13-7E8A-BB64-9FB2-0A66F7557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215374"/>
              </p:ext>
            </p:extLst>
          </p:nvPr>
        </p:nvGraphicFramePr>
        <p:xfrm>
          <a:off x="6353175" y="59436"/>
          <a:ext cx="5340352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88">
                  <a:extLst>
                    <a:ext uri="{9D8B030D-6E8A-4147-A177-3AD203B41FA5}">
                      <a16:colId xmlns:a16="http://schemas.microsoft.com/office/drawing/2014/main" val="176383034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767494672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357478341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8939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0900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OREB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공격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TF   T</a:t>
                      </a:r>
                      <a:r>
                        <a:rPr lang="ko-KR" altLang="en-US" sz="1200" dirty="0"/>
                        <a:t>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813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개인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TOM </a:t>
                      </a:r>
                      <a:r>
                        <a:rPr lang="ko-KR" altLang="en-US" sz="1200" dirty="0" err="1"/>
                        <a:t>턴오버</a:t>
                      </a:r>
                      <a:r>
                        <a:rPr lang="ko-KR" altLang="en-US" sz="1200" dirty="0"/>
                        <a:t>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232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EJ </a:t>
                      </a:r>
                      <a:r>
                        <a:rPr lang="ko-KR" altLang="en-US" sz="1200" dirty="0"/>
                        <a:t>반칙 퇴장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6282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2PA 2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점슛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NR  net rating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0662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2PM 2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점슛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TS% </a:t>
                      </a:r>
                      <a:r>
                        <a:rPr lang="en-US" altLang="ko-KR" sz="1200" dirty="0" err="1"/>
                        <a:t>trueshooting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129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3PA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 err="1"/>
                        <a:t>점슛</a:t>
                      </a:r>
                      <a:r>
                        <a:rPr lang="ko-KR" altLang="en-US" sz="1200" dirty="0"/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eFG</a:t>
                      </a:r>
                      <a:r>
                        <a:rPr lang="en-US" altLang="ko-KR" sz="1200" dirty="0"/>
                        <a:t>% </a:t>
                      </a:r>
                      <a:r>
                        <a:rPr lang="ko-KR" altLang="en-US" sz="1200" dirty="0" err="1"/>
                        <a:t>야투효율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4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3PM 3</a:t>
                      </a:r>
                      <a:r>
                        <a:rPr lang="ko-KR" altLang="en-US" sz="1200" dirty="0" err="1"/>
                        <a:t>점슛</a:t>
                      </a:r>
                      <a:r>
                        <a:rPr lang="ko-KR" altLang="en-US" sz="1200" dirty="0"/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EFF  </a:t>
                      </a:r>
                      <a:r>
                        <a:rPr lang="ko-KR" altLang="en-US" sz="1200" dirty="0"/>
                        <a:t>선수 효율성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8178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FTA </a:t>
                      </a:r>
                      <a:r>
                        <a:rPr lang="ko-KR" altLang="en-US" sz="1200" dirty="0"/>
                        <a:t>자유투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TOV%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98859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FTM </a:t>
                      </a:r>
                      <a:r>
                        <a:rPr lang="ko-KR" altLang="en-US" sz="1200" dirty="0"/>
                        <a:t>자유투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OREB%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71219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SWA </a:t>
                      </a:r>
                      <a:r>
                        <a:rPr lang="ko-KR" altLang="en-US" sz="1200" dirty="0"/>
                        <a:t>팀 속공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FT%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31046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SWM </a:t>
                      </a:r>
                      <a:r>
                        <a:rPr lang="ko-KR" altLang="en-US" sz="1200" dirty="0"/>
                        <a:t>속공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AST%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383422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FGA </a:t>
                      </a:r>
                      <a:r>
                        <a:rPr lang="ko-KR" altLang="en-US" sz="1200" dirty="0" err="1"/>
                        <a:t>필드골</a:t>
                      </a:r>
                      <a:r>
                        <a:rPr lang="ko-KR" altLang="en-US" sz="1200" dirty="0"/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AST/TO%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6756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FGM </a:t>
                      </a:r>
                      <a:r>
                        <a:rPr lang="ko-KR" altLang="en-US" sz="1200" dirty="0" err="1"/>
                        <a:t>필드골</a:t>
                      </a:r>
                      <a:r>
                        <a:rPr lang="ko-KR" altLang="en-US" sz="1200" dirty="0"/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CR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11681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TPF </a:t>
                      </a:r>
                      <a:r>
                        <a:rPr lang="ko-KR" altLang="en-US" sz="1200" dirty="0"/>
                        <a:t>팀 총합 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LC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5574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PF </a:t>
                      </a:r>
                      <a:r>
                        <a:rPr lang="ko-KR" altLang="en-US" sz="1200" dirty="0"/>
                        <a:t>개인 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LLP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20596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SUB </a:t>
                      </a:r>
                      <a:r>
                        <a:rPr lang="ko-KR" altLang="en-US" sz="1200" dirty="0"/>
                        <a:t>교체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PACE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79704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PP </a:t>
                      </a:r>
                      <a:r>
                        <a:rPr lang="ko-KR" altLang="en-US" sz="1200" dirty="0"/>
                        <a:t>개인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451296"/>
                  </a:ext>
                </a:extLst>
              </a:tr>
            </a:tbl>
          </a:graphicData>
        </a:graphic>
      </p:graphicFrame>
      <p:pic>
        <p:nvPicPr>
          <p:cNvPr id="7" name="그림 6" descr="클립아트, 그림, 동물 피규어, 스케치이(가) 표시된 사진">
            <a:extLst>
              <a:ext uri="{FF2B5EF4-FFF2-40B4-BE49-F238E27FC236}">
                <a16:creationId xmlns:a16="http://schemas.microsoft.com/office/drawing/2014/main" id="{262E1B9C-E7D2-2EB6-7E2C-1CC8CD2C57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72" t="12038" r="12937" b="13067"/>
          <a:stretch>
            <a:fillRect/>
          </a:stretch>
        </p:blipFill>
        <p:spPr>
          <a:xfrm rot="10369366" flipV="1">
            <a:off x="11025324" y="5548960"/>
            <a:ext cx="990625" cy="10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49F05-3A38-5B2C-2A0B-22E575C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89" y="20840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변수 내 핵심 지표들</a:t>
            </a:r>
            <a:r>
              <a:rPr lang="en-US" altLang="ko-KR" sz="4000" dirty="0"/>
              <a:t>(</a:t>
            </a:r>
            <a:r>
              <a:rPr lang="en-US" altLang="ko-KR" b="1" dirty="0"/>
              <a:t>Secondary Metrics)</a:t>
            </a:r>
            <a:r>
              <a:rPr lang="ko-KR" altLang="en-US" sz="4000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01532-F6BC-3020-904D-0FE557BC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73" y="1427860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b="1" dirty="0"/>
              <a:t>Possessions</a:t>
            </a:r>
          </a:p>
          <a:p>
            <a:pPr marL="342900" indent="-342900">
              <a:buAutoNum type="arabicPeriod"/>
            </a:pPr>
            <a:endParaRPr lang="en-US" altLang="ko-KR" sz="3200" b="1" dirty="0"/>
          </a:p>
          <a:p>
            <a:pPr marL="0" indent="0">
              <a:buNone/>
            </a:pPr>
            <a:r>
              <a:rPr lang="en-US" altLang="ko-KR" sz="3200" b="1" dirty="0"/>
              <a:t>Net Rating</a:t>
            </a:r>
          </a:p>
          <a:p>
            <a:pPr marL="342900" indent="-342900">
              <a:buAutoNum type="arabicPeriod"/>
            </a:pPr>
            <a:endParaRPr lang="en-US" altLang="ko-KR" sz="3200" b="1" dirty="0"/>
          </a:p>
          <a:p>
            <a:pPr marL="0" indent="0">
              <a:buNone/>
            </a:pPr>
            <a:r>
              <a:rPr lang="en-US" altLang="ko-KR" sz="3200" b="1" dirty="0"/>
              <a:t>Four Factors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sz="3200" b="1" dirty="0"/>
          </a:p>
          <a:p>
            <a:pPr marL="0" indent="0">
              <a:buNone/>
            </a:pPr>
            <a:endParaRPr lang="ko-KR" altLang="en-US" sz="3200" b="1" dirty="0"/>
          </a:p>
        </p:txBody>
      </p:sp>
      <p:pic>
        <p:nvPicPr>
          <p:cNvPr id="4" name="그림 3" descr="텍스트, 만화 영화, 클립아트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42E78E-4801-EF1B-C9C7-E2377052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92" t="12253" r="19249" b="40540"/>
          <a:stretch>
            <a:fillRect/>
          </a:stretch>
        </p:blipFill>
        <p:spPr>
          <a:xfrm>
            <a:off x="7220946" y="936976"/>
            <a:ext cx="4449018" cy="54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3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7515F-86BD-7FF7-C956-073DC0D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53" y="198284"/>
            <a:ext cx="10954512" cy="795528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Possessions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DFA76-A19C-E282-8ACE-702A1385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199895"/>
            <a:ext cx="10954512" cy="4956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000" dirty="0" err="1"/>
              <a:t>포제션이란</a:t>
            </a:r>
            <a:r>
              <a:rPr lang="en-US" altLang="ko-KR" sz="2000" b="1" dirty="0"/>
              <a:t>? : </a:t>
            </a:r>
            <a:r>
              <a:rPr lang="ko-KR" altLang="en-US" sz="2000" dirty="0"/>
              <a:t>한 팀의 공격 기회</a:t>
            </a:r>
            <a:r>
              <a:rPr lang="en-US" altLang="ko-KR" sz="2000" dirty="0"/>
              <a:t> </a:t>
            </a:r>
            <a:r>
              <a:rPr lang="ko-KR" altLang="en-US" sz="2000" dirty="0"/>
              <a:t>총 횟수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총 </a:t>
            </a:r>
            <a:r>
              <a:rPr lang="ko-KR" altLang="en-US" sz="2000" dirty="0" err="1"/>
              <a:t>포제션</a:t>
            </a:r>
            <a:r>
              <a:rPr lang="ko-KR" altLang="en-US" sz="2000" dirty="0"/>
              <a:t> 수 </a:t>
            </a:r>
            <a:r>
              <a:rPr lang="en-US" altLang="ko-KR" sz="2000" dirty="0"/>
              <a:t>= </a:t>
            </a:r>
            <a:r>
              <a:rPr lang="ko-KR" altLang="en-US" sz="2000" dirty="0" err="1"/>
              <a:t>필드골</a:t>
            </a:r>
            <a:r>
              <a:rPr lang="ko-KR" altLang="en-US" sz="2000" dirty="0"/>
              <a:t> 시도횟수 </a:t>
            </a:r>
            <a:r>
              <a:rPr lang="en-US" altLang="ko-KR" sz="2000" dirty="0"/>
              <a:t>+ 0.44 × </a:t>
            </a:r>
            <a:r>
              <a:rPr lang="ko-KR" altLang="en-US" sz="2000" dirty="0"/>
              <a:t>자유투 시도횟수</a:t>
            </a:r>
            <a:r>
              <a:rPr lang="en-US" altLang="ko-KR" sz="2000" dirty="0"/>
              <a:t> + </a:t>
            </a:r>
            <a:r>
              <a:rPr lang="ko-KR" altLang="en-US" sz="2000" dirty="0" err="1"/>
              <a:t>턴오버</a:t>
            </a:r>
            <a:r>
              <a:rPr lang="ko-KR" altLang="en-US" sz="2000" dirty="0"/>
              <a:t> 수</a:t>
            </a:r>
            <a:r>
              <a:rPr lang="en-US" altLang="ko-KR" sz="2000" dirty="0"/>
              <a:t> − Offensive Rebounds</a:t>
            </a:r>
          </a:p>
          <a:p>
            <a:pPr marL="0" indent="0">
              <a:buNone/>
            </a:pPr>
            <a:r>
              <a:rPr lang="ko-KR" altLang="en-US" sz="2000" dirty="0" err="1"/>
              <a:t>오펜스</a:t>
            </a:r>
            <a:r>
              <a:rPr lang="ko-KR" altLang="en-US" sz="2000" dirty="0"/>
              <a:t> 리바운드 빼는 이유는 한 </a:t>
            </a:r>
            <a:r>
              <a:rPr lang="ko-KR" altLang="en-US" sz="2000" dirty="0" err="1"/>
              <a:t>포제션이</a:t>
            </a:r>
            <a:r>
              <a:rPr lang="ko-KR" altLang="en-US" sz="2000" dirty="0"/>
              <a:t> 백코트에서 </a:t>
            </a:r>
            <a:r>
              <a:rPr lang="ko-KR" altLang="en-US" sz="2000" dirty="0" err="1"/>
              <a:t>프론트코트로</a:t>
            </a:r>
            <a:r>
              <a:rPr lang="ko-KR" altLang="en-US" sz="2000" dirty="0"/>
              <a:t> 넘어오는 것을 의미하기 때문</a:t>
            </a:r>
            <a:r>
              <a:rPr lang="en-US" altLang="ko-KR" sz="2000" dirty="0"/>
              <a:t>.</a:t>
            </a:r>
          </a:p>
          <a:p>
            <a:r>
              <a:rPr lang="ko-KR" altLang="en-US" sz="1600" dirty="0" err="1"/>
              <a:t>오펜스</a:t>
            </a:r>
            <a:r>
              <a:rPr lang="ko-KR" altLang="en-US" sz="1600" dirty="0"/>
              <a:t> 리바운드는 공격 횟수를 한번 더 늘린다는 점에서 </a:t>
            </a:r>
            <a:r>
              <a:rPr lang="ko-KR" altLang="en-US" sz="1600" dirty="0" err="1"/>
              <a:t>포제션과</a:t>
            </a:r>
            <a:r>
              <a:rPr lang="ko-KR" altLang="en-US" sz="1600" dirty="0"/>
              <a:t> 비슷한 수치이지만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프론트코트에서만</a:t>
            </a:r>
            <a:r>
              <a:rPr lang="ko-KR" altLang="en-US" sz="1600" dirty="0"/>
              <a:t> 이루어진다는 특징이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ko-KR" altLang="ko-KR" sz="2000" dirty="0">
                <a:latin typeface="Arial" panose="020B0604020202020204" pitchFamily="34" charset="0"/>
              </a:rPr>
              <a:t>단순 득점이 아닌 </a:t>
            </a:r>
            <a:r>
              <a:rPr lang="ko-KR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공격 기회 대비 효율</a:t>
            </a:r>
            <a:r>
              <a:rPr lang="ko-KR" altLang="ko-KR" sz="2000" dirty="0">
                <a:latin typeface="Arial" panose="020B0604020202020204" pitchFamily="34" charset="0"/>
              </a:rPr>
              <a:t>을</a:t>
            </a:r>
            <a:r>
              <a:rPr lang="ko-KR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ko-KR" altLang="ko-KR" sz="2000" dirty="0">
                <a:latin typeface="Arial" panose="020B0604020202020204" pitchFamily="34" charset="0"/>
              </a:rPr>
              <a:t>측정하는 기준점</a:t>
            </a:r>
          </a:p>
          <a:p>
            <a:pPr marL="0" indent="0">
              <a:buNone/>
            </a:pPr>
            <a:r>
              <a:rPr lang="ko-KR" altLang="ko-KR" sz="2000" dirty="0">
                <a:latin typeface="Arial" panose="020B0604020202020204" pitchFamily="34" charset="0"/>
              </a:rPr>
              <a:t>팀의 공격 속도(</a:t>
            </a:r>
            <a:r>
              <a:rPr lang="ko-KR" altLang="ko-KR" sz="2000" dirty="0" err="1">
                <a:latin typeface="Arial" panose="020B0604020202020204" pitchFamily="34" charset="0"/>
              </a:rPr>
              <a:t>Pace</a:t>
            </a:r>
            <a:r>
              <a:rPr lang="ko-KR" altLang="ko-KR" sz="2000" dirty="0">
                <a:latin typeface="Arial" panose="020B0604020202020204" pitchFamily="34" charset="0"/>
              </a:rPr>
              <a:t>)</a:t>
            </a:r>
            <a:r>
              <a:rPr lang="ko-KR" altLang="ko-KR" sz="2000" dirty="0" err="1">
                <a:latin typeface="Arial" panose="020B0604020202020204" pitchFamily="34" charset="0"/>
              </a:rPr>
              <a:t>를</a:t>
            </a:r>
            <a:r>
              <a:rPr lang="ko-KR" altLang="ko-KR" sz="2000" dirty="0">
                <a:latin typeface="Arial" panose="020B0604020202020204" pitchFamily="34" charset="0"/>
              </a:rPr>
              <a:t> 파악하고 모든 효율성 지표의 분모가 됨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2000" b="1" dirty="0"/>
              <a:t>Pace</a:t>
            </a:r>
          </a:p>
          <a:p>
            <a:pPr>
              <a:buFontTx/>
              <a:buChar char="-"/>
            </a:pPr>
            <a:r>
              <a:rPr lang="en-US" altLang="ko-KR" sz="2000" dirty="0"/>
              <a:t>10</a:t>
            </a:r>
            <a:r>
              <a:rPr lang="ko-KR" altLang="en-US" sz="2000" dirty="0"/>
              <a:t>분 </a:t>
            </a:r>
            <a:r>
              <a:rPr lang="en-US" altLang="ko-KR" sz="2000" dirty="0"/>
              <a:t>4</a:t>
            </a:r>
            <a:r>
              <a:rPr lang="ko-KR" altLang="en-US" sz="2000" dirty="0"/>
              <a:t>쿼터 경기로 운영되는 </a:t>
            </a:r>
            <a:r>
              <a:rPr lang="en-US" altLang="ko-KR" sz="2000" dirty="0"/>
              <a:t>KBL </a:t>
            </a:r>
            <a:r>
              <a:rPr lang="ko-KR" altLang="en-US" sz="2000" dirty="0"/>
              <a:t>리그에서 한 팀이 몇번의 공격 기회를 가져가는지에 대한 지표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경기 페이스가 빠른 경기에서는 점수 차가 크게 벌어지더라도 역전 가능성이 조금 더 높게 나타날 수 있지만</a:t>
            </a:r>
            <a:r>
              <a:rPr lang="en-US" altLang="ko-KR" sz="2000" dirty="0"/>
              <a:t>, </a:t>
            </a:r>
            <a:r>
              <a:rPr lang="ko-KR" altLang="en-US" sz="2000" dirty="0"/>
              <a:t>페이스가 느린 경기에서는 적은 점수 차이도 역전하기 힘들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9133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3D9F3-4832-14CC-E718-5B497021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8" y="247650"/>
            <a:ext cx="10954512" cy="795528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Net Rating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B4C47-FAD9-86AC-7A6A-C849C421D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1266698"/>
            <a:ext cx="10954512" cy="5247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레이팅이란</a:t>
            </a:r>
            <a:r>
              <a:rPr lang="en-US" altLang="ko-KR" sz="2000" dirty="0"/>
              <a:t>? 100</a:t>
            </a:r>
            <a:r>
              <a:rPr lang="ko-KR" altLang="en-US" sz="2000" dirty="0"/>
              <a:t>번의 공수교환에서 상대보다 </a:t>
            </a:r>
            <a:r>
              <a:rPr lang="ko-KR" altLang="en-US" sz="2000" dirty="0" err="1"/>
              <a:t>몇점의</a:t>
            </a:r>
            <a:r>
              <a:rPr lang="ko-KR" altLang="en-US" sz="2000" dirty="0"/>
              <a:t> 점수를 더 얻거나 잃었는지를 보여주는 지표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레이팅은</a:t>
            </a:r>
            <a:r>
              <a:rPr lang="ko-KR" altLang="en-US" sz="2000" dirty="0"/>
              <a:t> 경기를 하고 있거나</a:t>
            </a:r>
            <a:r>
              <a:rPr lang="en-US" altLang="ko-KR" sz="2000" dirty="0"/>
              <a:t>, </a:t>
            </a:r>
            <a:r>
              <a:rPr lang="ko-KR" altLang="en-US" sz="2000" dirty="0"/>
              <a:t>경기기록이 있는 팀에 대한 상대적 지표이다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경기가 진행 중인 두 팀의 실시간 넷 </a:t>
            </a:r>
            <a:r>
              <a:rPr lang="ko-KR" altLang="en-US" sz="2000" dirty="0" err="1"/>
              <a:t>레이팅을</a:t>
            </a:r>
            <a:r>
              <a:rPr lang="ko-KR" altLang="en-US" sz="2000" dirty="0"/>
              <a:t> 계산해보면 지고 있는 팀의 넷 </a:t>
            </a:r>
            <a:r>
              <a:rPr lang="ko-KR" altLang="en-US" sz="2000" dirty="0" err="1"/>
              <a:t>레이팅이</a:t>
            </a:r>
            <a:r>
              <a:rPr lang="ko-KR" altLang="en-US" sz="2000" dirty="0"/>
              <a:t> 더 높을 수도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 경우에는 대부분 두 팀의 점수 차가 크지 않다</a:t>
            </a:r>
            <a:r>
              <a:rPr lang="en-US" altLang="ko-KR" sz="2000" dirty="0"/>
              <a:t>. </a:t>
            </a:r>
            <a:r>
              <a:rPr lang="ko-KR" altLang="en-US" sz="2000" dirty="0"/>
              <a:t>이때</a:t>
            </a:r>
            <a:r>
              <a:rPr lang="en-US" altLang="ko-KR" sz="2000" dirty="0"/>
              <a:t>, </a:t>
            </a:r>
            <a:r>
              <a:rPr lang="ko-KR" altLang="en-US" sz="2000" dirty="0"/>
              <a:t>지고 있는 팀은 이기고 있는 팀보다 </a:t>
            </a:r>
            <a:r>
              <a:rPr lang="ko-KR" altLang="en-US" sz="2000" dirty="0" err="1"/>
              <a:t>야투성공</a:t>
            </a:r>
            <a:r>
              <a:rPr lang="ko-KR" altLang="en-US" sz="2000" dirty="0"/>
              <a:t> 횟수가 적지만</a:t>
            </a:r>
            <a:r>
              <a:rPr lang="en-US" altLang="ko-KR" sz="2000" dirty="0"/>
              <a:t> </a:t>
            </a:r>
            <a:r>
              <a:rPr lang="ko-KR" altLang="en-US" sz="2000" dirty="0"/>
              <a:t>효율성이 높은 농구를 하고 있다고 볼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레이팅은</a:t>
            </a:r>
            <a:r>
              <a:rPr lang="ko-KR" altLang="en-US" sz="2000" dirty="0"/>
              <a:t> 현재 점수 차에 숨겨진 경기의 </a:t>
            </a:r>
            <a:r>
              <a:rPr lang="ko-KR" altLang="en-US" sz="2000" dirty="0">
                <a:solidFill>
                  <a:srgbClr val="FF0000"/>
                </a:solidFill>
              </a:rPr>
              <a:t>본질적인 효율성</a:t>
            </a:r>
            <a:r>
              <a:rPr lang="ko-KR" altLang="en-US" sz="2000" dirty="0"/>
              <a:t>을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/>
              <a:t>보여주는 지표이다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b="1" dirty="0"/>
              <a:t>Net Rating = Offensive Rating – Defensive Rating</a:t>
            </a:r>
          </a:p>
          <a:p>
            <a:pPr marL="0" indent="0">
              <a:buNone/>
            </a:pPr>
            <a:r>
              <a:rPr lang="en-US" altLang="ko-KR" sz="2400" b="1" dirty="0"/>
              <a:t>  Offensive Rating = (</a:t>
            </a:r>
            <a:r>
              <a:rPr lang="ko-KR" altLang="en-US" sz="2400" b="1" dirty="0"/>
              <a:t>총 득점  </a:t>
            </a:r>
            <a:r>
              <a:rPr lang="en-US" altLang="ko-KR" sz="2400" b="1" dirty="0"/>
              <a:t>/  </a:t>
            </a:r>
            <a:r>
              <a:rPr lang="ko-KR" altLang="en-US" sz="2400" b="1" dirty="0"/>
              <a:t>총 </a:t>
            </a:r>
            <a:r>
              <a:rPr lang="ko-KR" altLang="en-US" sz="2400" b="1" dirty="0" err="1"/>
              <a:t>포제션</a:t>
            </a:r>
            <a:r>
              <a:rPr lang="ko-KR" altLang="en-US" sz="2400" b="1" dirty="0"/>
              <a:t> 수</a:t>
            </a:r>
            <a:r>
              <a:rPr lang="en-US" altLang="ko-KR" sz="2400" b="1" dirty="0"/>
              <a:t>) * 100</a:t>
            </a:r>
          </a:p>
          <a:p>
            <a:pPr marL="0" indent="0">
              <a:buNone/>
            </a:pPr>
            <a:r>
              <a:rPr lang="en-US" altLang="ko-KR" sz="2400" b="1" dirty="0"/>
              <a:t>  Defensive Rating = (</a:t>
            </a:r>
            <a:r>
              <a:rPr lang="ko-KR" altLang="en-US" sz="2400" b="1" dirty="0"/>
              <a:t>상대 팀 총 득점  </a:t>
            </a:r>
            <a:r>
              <a:rPr lang="en-US" altLang="ko-KR" sz="2400" b="1" dirty="0"/>
              <a:t>/  </a:t>
            </a:r>
            <a:r>
              <a:rPr lang="ko-KR" altLang="en-US" sz="2400" b="1" dirty="0"/>
              <a:t>총 </a:t>
            </a:r>
            <a:r>
              <a:rPr lang="ko-KR" altLang="en-US" sz="2400" b="1" dirty="0" err="1"/>
              <a:t>포제션</a:t>
            </a:r>
            <a:r>
              <a:rPr lang="ko-KR" altLang="en-US" sz="2400" b="1" dirty="0"/>
              <a:t> 수</a:t>
            </a:r>
            <a:r>
              <a:rPr lang="en-US" altLang="ko-KR" sz="2400" b="1" dirty="0"/>
              <a:t>) * 100 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18921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FC333-9771-5169-FA6B-B3B0D191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계산기이(가) 표시된 사진">
            <a:extLst>
              <a:ext uri="{FF2B5EF4-FFF2-40B4-BE49-F238E27FC236}">
                <a16:creationId xmlns:a16="http://schemas.microsoft.com/office/drawing/2014/main" id="{96F849CE-4376-8ACC-FD6E-22A29E20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3" t="24741" r="6212"/>
          <a:stretch>
            <a:fillRect/>
          </a:stretch>
        </p:blipFill>
        <p:spPr>
          <a:xfrm>
            <a:off x="5353050" y="948340"/>
            <a:ext cx="6838950" cy="5370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005D31-4BD4-7DAE-0056-0FCCA265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83" y="566927"/>
            <a:ext cx="10954512" cy="795528"/>
          </a:xfrm>
        </p:spPr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sz="4400" dirty="0"/>
              <a:t>Four Factors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BAB14-F11B-B433-3AF8-D8C8FBDD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71" y="1362455"/>
            <a:ext cx="10954512" cy="49560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 err="1"/>
              <a:t>승패에</a:t>
            </a:r>
            <a:r>
              <a:rPr lang="ko-KR" altLang="en-US" sz="2000" dirty="0"/>
              <a:t> 가장 큰 영향을 미치는 </a:t>
            </a:r>
            <a:r>
              <a:rPr lang="en-US" altLang="ko-KR" sz="2000" dirty="0"/>
              <a:t>4</a:t>
            </a:r>
            <a:r>
              <a:rPr lang="ko-KR" altLang="en-US" sz="2000" dirty="0"/>
              <a:t>가지 요소를 의미한다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 err="1">
                <a:solidFill>
                  <a:srgbClr val="FF0000"/>
                </a:solidFill>
              </a:rPr>
              <a:t>eFG</a:t>
            </a:r>
            <a:r>
              <a:rPr lang="en-US" altLang="ko-KR" sz="2000" dirty="0">
                <a:solidFill>
                  <a:srgbClr val="FF0000"/>
                </a:solidFill>
              </a:rPr>
              <a:t>%</a:t>
            </a:r>
            <a:r>
              <a:rPr lang="en-US" altLang="ko-KR" sz="2000" dirty="0"/>
              <a:t>   </a:t>
            </a:r>
            <a:r>
              <a:rPr lang="ko-KR" altLang="en-US" sz="2000" dirty="0"/>
              <a:t>유효 </a:t>
            </a:r>
            <a:r>
              <a:rPr lang="ko-KR" altLang="en-US" sz="2000" dirty="0" err="1"/>
              <a:t>필드골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성공율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(3</a:t>
            </a:r>
            <a:r>
              <a:rPr lang="ko-KR" altLang="en-US" sz="2000" dirty="0"/>
              <a:t>점 슛 가치 포함</a:t>
            </a:r>
            <a:r>
              <a:rPr lang="en-US" altLang="ko-KR" sz="2000" dirty="0"/>
              <a:t>, </a:t>
            </a:r>
            <a:r>
              <a:rPr lang="ko-KR" altLang="en-US" sz="2000" dirty="0"/>
              <a:t>자유투 미포함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TOV%   </a:t>
            </a:r>
            <a:r>
              <a:rPr lang="ko-KR" altLang="en-US" sz="2000" dirty="0" err="1"/>
              <a:t>턴오버</a:t>
            </a:r>
            <a:r>
              <a:rPr lang="ko-KR" altLang="en-US" sz="2000" dirty="0"/>
              <a:t>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전체 공격 대비 턴오버의 횟수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OREB%   </a:t>
            </a:r>
            <a:r>
              <a:rPr lang="ko-KR" altLang="en-US" sz="2000" dirty="0" err="1"/>
              <a:t>공격리바운드</a:t>
            </a:r>
            <a:r>
              <a:rPr lang="ko-KR" altLang="en-US" sz="2000" dirty="0"/>
              <a:t>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슛 실패 이후 공격 리바운드 잡아서 다시 공격권 가져오는 비율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FT Rate    </a:t>
            </a:r>
            <a:r>
              <a:rPr lang="ko-KR" altLang="en-US" sz="2000" dirty="0"/>
              <a:t>자유투 얻는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 err="1"/>
              <a:t>야투</a:t>
            </a:r>
            <a:r>
              <a:rPr lang="ko-KR" altLang="en-US" sz="2000" dirty="0"/>
              <a:t> 시도 시에 자유투를 얼마나 얻었는가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40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이(가) 표시된 사진">
            <a:extLst>
              <a:ext uri="{FF2B5EF4-FFF2-40B4-BE49-F238E27FC236}">
                <a16:creationId xmlns:a16="http://schemas.microsoft.com/office/drawing/2014/main" id="{35CBB8DC-F8A1-E18A-6489-35492EEE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5"/>
          <a:stretch>
            <a:fillRect/>
          </a:stretch>
        </p:blipFill>
        <p:spPr>
          <a:xfrm>
            <a:off x="6882581" y="0"/>
            <a:ext cx="5309419" cy="67170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AC8D63C-8C3B-65BC-B8E3-67C6F179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75" y="225281"/>
            <a:ext cx="10954512" cy="1165643"/>
          </a:xfrm>
        </p:spPr>
        <p:txBody>
          <a:bodyPr>
            <a:normAutofit fontScale="90000"/>
          </a:bodyPr>
          <a:lstStyle/>
          <a:p>
            <a:r>
              <a:rPr lang="ko-KR" altLang="en-US" sz="4000" dirty="0"/>
              <a:t>승률에 영향을 주는 변수들의</a:t>
            </a:r>
            <a:br>
              <a:rPr lang="en-US" altLang="ko-KR" sz="4000" dirty="0"/>
            </a:br>
            <a:r>
              <a:rPr lang="ko-KR" altLang="en-US" sz="4000" dirty="0"/>
              <a:t>상관관계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33391F-4E54-76A3-5C92-854381C5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60" y="1575982"/>
            <a:ext cx="10954512" cy="4956047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3200" b="1" dirty="0"/>
              <a:t>Heatmap</a:t>
            </a:r>
          </a:p>
          <a:p>
            <a:pPr marL="0" indent="0">
              <a:buNone/>
            </a:pPr>
            <a:r>
              <a:rPr lang="ko-KR" altLang="en-US" sz="2000" dirty="0" err="1"/>
              <a:t>히트맵은</a:t>
            </a:r>
            <a:r>
              <a:rPr lang="ko-KR" altLang="en-US" sz="2000" dirty="0"/>
              <a:t> 데이터를 색상의 강도</a:t>
            </a:r>
            <a:r>
              <a:rPr lang="en-US" altLang="ko-KR" sz="2000" dirty="0"/>
              <a:t>(Intensity)</a:t>
            </a:r>
            <a:r>
              <a:rPr lang="ko-KR" altLang="en-US" sz="2000" dirty="0"/>
              <a:t>나 색조</a:t>
            </a:r>
            <a:r>
              <a:rPr lang="en-US" altLang="ko-KR" sz="2000" dirty="0"/>
              <a:t>(Hue)</a:t>
            </a:r>
            <a:r>
              <a:rPr lang="ko-KR" altLang="en-US" sz="2000" dirty="0"/>
              <a:t>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표현하여 </a:t>
            </a:r>
            <a:r>
              <a:rPr lang="ko-KR" altLang="en-US" sz="2000" dirty="0" err="1"/>
              <a:t>시각화하는</a:t>
            </a:r>
            <a:r>
              <a:rPr lang="ko-KR" altLang="en-US" sz="2000" dirty="0"/>
              <a:t> 방법입니다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주로 </a:t>
            </a:r>
            <a:r>
              <a:rPr lang="en-US" altLang="ko-KR" sz="2000" dirty="0"/>
              <a:t>2</a:t>
            </a:r>
            <a:r>
              <a:rPr lang="ko-KR" altLang="en-US" sz="2000" dirty="0"/>
              <a:t>차원 데이터를 표현할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때 사용되며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데이터의 밀도</a:t>
            </a:r>
            <a:r>
              <a:rPr lang="en-US" altLang="ko-KR" sz="2000" dirty="0"/>
              <a:t>, </a:t>
            </a:r>
            <a:r>
              <a:rPr lang="ko-KR" altLang="en-US" sz="2000" dirty="0"/>
              <a:t>분포</a:t>
            </a:r>
            <a:r>
              <a:rPr lang="en-US" altLang="ko-KR" sz="2000" dirty="0"/>
              <a:t>, </a:t>
            </a:r>
            <a:r>
              <a:rPr lang="ko-KR" altLang="en-US" sz="2000" dirty="0"/>
              <a:t>관계 등을 한눈에 파악하기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용이합니다</a:t>
            </a:r>
            <a:r>
              <a:rPr lang="en-US" altLang="ko-KR" sz="2000" dirty="0"/>
              <a:t>.</a:t>
            </a: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3200" b="1" dirty="0"/>
              <a:t>2.Bar graph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F93E1-613A-468F-4CCC-61EAEB334046}"/>
              </a:ext>
            </a:extLst>
          </p:cNvPr>
          <p:cNvSpPr txBox="1"/>
          <p:nvPr/>
        </p:nvSpPr>
        <p:spPr>
          <a:xfrm>
            <a:off x="7249885" y="4088701"/>
            <a:ext cx="3113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Heatmap example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23155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8C3C54-E8E3-B79F-DB57-AC1511888260}"/>
              </a:ext>
            </a:extLst>
          </p:cNvPr>
          <p:cNvSpPr txBox="1">
            <a:spLocks/>
          </p:cNvSpPr>
          <p:nvPr/>
        </p:nvSpPr>
        <p:spPr>
          <a:xfrm>
            <a:off x="8372420" y="898506"/>
            <a:ext cx="3401567" cy="194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3"/>
                </a:solidFill>
              </a:rPr>
              <a:t>학습에 사용된 </a:t>
            </a:r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전체 변수들의 상관관계</a:t>
            </a:r>
          </a:p>
        </p:txBody>
      </p:sp>
      <p:pic>
        <p:nvPicPr>
          <p:cNvPr id="3" name="그림 2" descr="텍스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FBA930-D4DA-28E7-35A5-19845235A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7724775" cy="686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96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8B5CF030-1382-8A74-D082-2948B1799F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18961" y="122490"/>
                <a:ext cx="4473039" cy="11978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000" b="1" dirty="0"/>
                  <a:t>‘Winner’</a:t>
                </a:r>
                <a:r>
                  <a:rPr lang="ko-KR" altLang="en-US" sz="2000" b="1" dirty="0"/>
                  <a:t>와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ko-KR" sz="2000" b="1" dirty="0"/>
                  <a:t> &gt; 0.2</a:t>
                </a:r>
                <a:r>
                  <a:rPr lang="ko-KR" altLang="en-US" sz="2000" b="1" dirty="0"/>
                  <a:t> 변수들 간 </a:t>
                </a:r>
                <a:r>
                  <a:rPr lang="en-US" altLang="ko-KR" sz="2000" b="1" dirty="0"/>
                  <a:t>Heatmap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8B5CF030-1382-8A74-D082-2948B179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961" y="122490"/>
                <a:ext cx="4473039" cy="1197864"/>
              </a:xfrm>
              <a:prstGeom prst="rect">
                <a:avLst/>
              </a:prstGeom>
              <a:blipFill>
                <a:blip r:embed="rId2"/>
                <a:stretch>
                  <a:fillRect l="-1362" t="-508" r="-1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>
            <a:extLst>
              <a:ext uri="{FF2B5EF4-FFF2-40B4-BE49-F238E27FC236}">
                <a16:creationId xmlns:a16="http://schemas.microsoft.com/office/drawing/2014/main" id="{2F0A4034-A0D8-7ABD-9C5A-B68844069357}"/>
              </a:ext>
            </a:extLst>
          </p:cNvPr>
          <p:cNvSpPr txBox="1">
            <a:spLocks/>
          </p:cNvSpPr>
          <p:nvPr/>
        </p:nvSpPr>
        <p:spPr>
          <a:xfrm>
            <a:off x="8415963" y="1320354"/>
            <a:ext cx="3570438" cy="194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3"/>
                </a:solidFill>
              </a:rPr>
              <a:t>학습에 사용된 </a:t>
            </a:r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주요 변수들 간 상관관계</a:t>
            </a:r>
            <a:endParaRPr lang="en-US" altLang="ko-KR" dirty="0">
              <a:solidFill>
                <a:schemeClr val="accent3"/>
              </a:solidFill>
            </a:endParaRPr>
          </a:p>
          <a:p>
            <a:endParaRPr lang="ko-KR" altLang="en-US" dirty="0">
              <a:solidFill>
                <a:schemeClr val="accent3"/>
              </a:solidFill>
            </a:endParaRPr>
          </a:p>
        </p:txBody>
      </p:sp>
      <p:pic>
        <p:nvPicPr>
          <p:cNvPr id="3" name="그림 2" descr="텍스트, 스크린샷, 사각형, 다채로움이(가) 표시된 사진">
            <a:extLst>
              <a:ext uri="{FF2B5EF4-FFF2-40B4-BE49-F238E27FC236}">
                <a16:creationId xmlns:a16="http://schemas.microsoft.com/office/drawing/2014/main" id="{E40A0093-DE8D-CB93-BEBE-553FACE7E3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6"/>
          <a:stretch>
            <a:fillRect/>
          </a:stretch>
        </p:blipFill>
        <p:spPr>
          <a:xfrm>
            <a:off x="0" y="-1"/>
            <a:ext cx="7743039" cy="692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73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5EA4B0C5-3366-5FB5-7F7D-0C75683D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1751" y="-469773"/>
            <a:ext cx="5138927" cy="1581912"/>
          </a:xfrm>
        </p:spPr>
        <p:txBody>
          <a:bodyPr>
            <a:normAutofit/>
          </a:bodyPr>
          <a:lstStyle/>
          <a:p>
            <a:r>
              <a:rPr lang="en-US" altLang="ko-KR" sz="4400" dirty="0">
                <a:solidFill>
                  <a:schemeClr val="accent3"/>
                </a:solidFill>
              </a:rPr>
              <a:t>Bar graph</a:t>
            </a:r>
            <a:endParaRPr lang="en-US" sz="4400" dirty="0">
              <a:solidFill>
                <a:schemeClr val="accent3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2EB9C85-E40D-265A-649A-C5F806E7740D}"/>
              </a:ext>
            </a:extLst>
          </p:cNvPr>
          <p:cNvSpPr txBox="1">
            <a:spLocks/>
          </p:cNvSpPr>
          <p:nvPr/>
        </p:nvSpPr>
        <p:spPr>
          <a:xfrm>
            <a:off x="4485876" y="6344793"/>
            <a:ext cx="5291487" cy="1197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상관계수 </a:t>
            </a:r>
            <a:r>
              <a:rPr lang="en-US" altLang="ko-KR" sz="2000" b="1" dirty="0"/>
              <a:t>(Correlation)</a:t>
            </a:r>
            <a:endParaRPr lang="en-US" sz="2000" b="1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4B2428-DC0A-E769-43C2-4712E11331F0}"/>
              </a:ext>
            </a:extLst>
          </p:cNvPr>
          <p:cNvSpPr txBox="1">
            <a:spLocks/>
          </p:cNvSpPr>
          <p:nvPr/>
        </p:nvSpPr>
        <p:spPr>
          <a:xfrm>
            <a:off x="4450897" y="-85725"/>
            <a:ext cx="5291487" cy="1197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/>
              <a:t>‘Winner’</a:t>
            </a:r>
            <a:r>
              <a:rPr lang="ko-KR" altLang="en-US" sz="2000" b="1" dirty="0"/>
              <a:t>와 변수와의 상관관계</a:t>
            </a:r>
            <a:endParaRPr lang="en-US" sz="2000" b="1" dirty="0"/>
          </a:p>
        </p:txBody>
      </p:sp>
      <p:pic>
        <p:nvPicPr>
          <p:cNvPr id="3" name="그림 2" descr="텍스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7AED71-366E-C9F0-D145-3BA2E1E63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2" b="2130"/>
          <a:stretch>
            <a:fillRect/>
          </a:stretch>
        </p:blipFill>
        <p:spPr>
          <a:xfrm>
            <a:off x="0" y="0"/>
            <a:ext cx="452085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CDAB8B-21D4-EA46-7D38-B8816656EA7A}"/>
              </a:ext>
            </a:extLst>
          </p:cNvPr>
          <p:cNvSpPr txBox="1"/>
          <p:nvPr/>
        </p:nvSpPr>
        <p:spPr>
          <a:xfrm>
            <a:off x="4606578" y="1496187"/>
            <a:ext cx="566137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상관관계가 높은 상위 </a:t>
            </a:r>
            <a:r>
              <a:rPr lang="en-US" altLang="ko-KR" sz="3200" dirty="0"/>
              <a:t>5</a:t>
            </a:r>
            <a:r>
              <a:rPr lang="ko-KR" altLang="en-US" sz="3200" dirty="0"/>
              <a:t>개 지표</a:t>
            </a:r>
            <a:endParaRPr lang="en-US" altLang="ko-KR" sz="3200" dirty="0"/>
          </a:p>
          <a:p>
            <a:pPr marL="457200" indent="-457200">
              <a:buAutoNum type="arabicPeriod"/>
            </a:pPr>
            <a:r>
              <a:rPr lang="en-US" altLang="ko-KR" sz="2400" dirty="0"/>
              <a:t>NR - </a:t>
            </a:r>
            <a:r>
              <a:rPr lang="en-US" altLang="ko-KR" sz="2000" dirty="0"/>
              <a:t>net rating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en-US" altLang="ko-KR" sz="2400" dirty="0"/>
              <a:t>LLP – </a:t>
            </a:r>
            <a:r>
              <a:rPr lang="en-US" altLang="ko-KR" sz="2000" dirty="0"/>
              <a:t>least lead point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en-US" altLang="ko-KR" sz="2400" dirty="0"/>
              <a:t>EFF – </a:t>
            </a:r>
            <a:r>
              <a:rPr lang="en-US" altLang="ko-KR" sz="2000" dirty="0"/>
              <a:t>efficient</a:t>
            </a:r>
          </a:p>
          <a:p>
            <a:endParaRPr lang="en-US" altLang="ko-KR" sz="2400" dirty="0"/>
          </a:p>
          <a:p>
            <a:pPr marL="457200" indent="-457200">
              <a:buAutoNum type="arabicPeriod" startAt="4"/>
            </a:pPr>
            <a:r>
              <a:rPr lang="en-US" altLang="ko-KR" sz="2400" dirty="0"/>
              <a:t>PP  - </a:t>
            </a:r>
            <a:r>
              <a:rPr lang="en-US" altLang="ko-KR" sz="2000" dirty="0"/>
              <a:t>personal point</a:t>
            </a:r>
          </a:p>
          <a:p>
            <a:pPr marL="457200" indent="-457200">
              <a:buAutoNum type="arabicPeriod" startAt="4"/>
            </a:pPr>
            <a:endParaRPr lang="en-US" altLang="ko-KR" sz="2400" dirty="0"/>
          </a:p>
          <a:p>
            <a:pPr marL="457200" indent="-457200">
              <a:buAutoNum type="arabicPeriod" startAt="4"/>
            </a:pPr>
            <a:r>
              <a:rPr lang="en-US" altLang="ko-KR" sz="2400" dirty="0"/>
              <a:t>TS% - </a:t>
            </a:r>
            <a:r>
              <a:rPr lang="en-US" altLang="ko-KR" sz="2000" dirty="0"/>
              <a:t>true shooting percentage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650990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353C-873E-4C9C-D174-D5ACAB34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58AFB-83F6-56DC-67E9-BDDA6D17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02" y="228502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795C1-1869-2074-C5CB-58451637B9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2402" y="1234440"/>
            <a:ext cx="10371727" cy="4389120"/>
          </a:xfrm>
        </p:spPr>
        <p:txBody>
          <a:bodyPr>
            <a:noAutofit/>
          </a:bodyPr>
          <a:lstStyle/>
          <a:p>
            <a:r>
              <a:rPr kumimoji="1" lang="en-US" altLang="ko-KR" sz="2000" dirty="0"/>
              <a:t>MLP: Perceptron</a:t>
            </a:r>
            <a:r>
              <a:rPr kumimoji="1" lang="ko-KR" altLang="en-US" sz="2000" dirty="0"/>
              <a:t>을 여러 층으로 쌓아 올린 기법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en-US" altLang="ko-KR" sz="2000" dirty="0"/>
              <a:t>Perceptron: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Perceptron</a:t>
            </a:r>
            <a:r>
              <a:rPr kumimoji="1" lang="ko-KR" altLang="en-US" sz="2000" dirty="0"/>
              <a:t>은 아주 간단한 인공지능 모델</a:t>
            </a:r>
            <a:r>
              <a:rPr kumimoji="1" lang="en-US" altLang="ko-KR" sz="2000" dirty="0"/>
              <a:t>.</a:t>
            </a:r>
          </a:p>
          <a:p>
            <a:pPr lvl="1"/>
            <a:r>
              <a:rPr kumimoji="1" lang="ko-KR" altLang="en-US" sz="2000" dirty="0" err="1"/>
              <a:t>입력값이</a:t>
            </a:r>
            <a:r>
              <a:rPr kumimoji="1" lang="ko-KR" altLang="en-US" sz="2000" dirty="0"/>
              <a:t> 들어오면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각 입력에 가중치를 곱해서 더하고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마지막에 활성 함수를 거쳐 결과를 나타냄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구조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입력층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(Input Layer): </a:t>
            </a:r>
            <a:r>
              <a:rPr kumimoji="1" lang="ko-KR" altLang="en-US" sz="2000" dirty="0"/>
              <a:t>데이터가 들어오는 부분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은닉층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(Hidden Layer): </a:t>
            </a:r>
            <a:r>
              <a:rPr kumimoji="1" lang="ko-KR" altLang="en-US" sz="2000" dirty="0"/>
              <a:t>데이터에서 패턴을 찾는 중간 계산 단계</a:t>
            </a:r>
            <a:r>
              <a:rPr kumimoji="1" lang="en-US" altLang="ko-KR" sz="2000" dirty="0"/>
              <a:t>. </a:t>
            </a:r>
            <a:r>
              <a:rPr kumimoji="1" lang="ko-KR" altLang="en-US" sz="2000" dirty="0"/>
              <a:t>여러 층을 거치면서 점점 복잡한 특징을 학습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출력층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(Output Layer): </a:t>
            </a:r>
            <a:r>
              <a:rPr kumimoji="1" lang="ko-KR" altLang="en-US" sz="2000" dirty="0"/>
              <a:t>최종 결과를 출력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76344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D2858-BF79-BE3C-7A26-0643FDEC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51" y="520213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모델 </a:t>
            </a:r>
            <a:r>
              <a:rPr lang="ko-KR" altLang="en-US" sz="4000" dirty="0" err="1"/>
              <a:t>아키텍쳐</a:t>
            </a:r>
            <a:endParaRPr lang="ko-KR" altLang="en-US" sz="40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CF49B8-1673-5B3F-9AF8-30EF025F81FA}"/>
              </a:ext>
            </a:extLst>
          </p:cNvPr>
          <p:cNvSpPr/>
          <p:nvPr/>
        </p:nvSpPr>
        <p:spPr>
          <a:xfrm>
            <a:off x="821688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C62552D-228E-BA31-533D-8FA6FC084500}"/>
              </a:ext>
            </a:extLst>
          </p:cNvPr>
          <p:cNvSpPr/>
          <p:nvPr/>
        </p:nvSpPr>
        <p:spPr>
          <a:xfrm>
            <a:off x="1026204" y="3085626"/>
            <a:ext cx="1685233" cy="9346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4C086-8828-68C3-A3B7-A683F1A372DE}"/>
              </a:ext>
            </a:extLst>
          </p:cNvPr>
          <p:cNvSpPr txBox="1"/>
          <p:nvPr/>
        </p:nvSpPr>
        <p:spPr>
          <a:xfrm>
            <a:off x="1250348" y="3386157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Input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CD07A2-C7B5-A1DF-2FBF-B6E1A64427BC}"/>
              </a:ext>
            </a:extLst>
          </p:cNvPr>
          <p:cNvSpPr/>
          <p:nvPr/>
        </p:nvSpPr>
        <p:spPr>
          <a:xfrm>
            <a:off x="3563052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F5137B2-3C56-32C4-D89D-52689EA20253}"/>
              </a:ext>
            </a:extLst>
          </p:cNvPr>
          <p:cNvSpPr/>
          <p:nvPr/>
        </p:nvSpPr>
        <p:spPr>
          <a:xfrm>
            <a:off x="3767567" y="3085626"/>
            <a:ext cx="1685233" cy="9379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F38AB-43BA-42B4-3998-937DABE2C73E}"/>
              </a:ext>
            </a:extLst>
          </p:cNvPr>
          <p:cNvSpPr txBox="1"/>
          <p:nvPr/>
        </p:nvSpPr>
        <p:spPr>
          <a:xfrm>
            <a:off x="3916650" y="3364980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Hidden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6E79205-468E-2F1C-2DB9-AD2FD627F851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915959" y="4926851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E8390EF-B6F0-61DA-A8BD-0C4D3039840A}"/>
              </a:ext>
            </a:extLst>
          </p:cNvPr>
          <p:cNvSpPr/>
          <p:nvPr/>
        </p:nvSpPr>
        <p:spPr>
          <a:xfrm>
            <a:off x="6304410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59B000-D445-E6F8-CFAC-D68355EEA651}"/>
              </a:ext>
            </a:extLst>
          </p:cNvPr>
          <p:cNvSpPr/>
          <p:nvPr/>
        </p:nvSpPr>
        <p:spPr>
          <a:xfrm>
            <a:off x="6508926" y="3085627"/>
            <a:ext cx="1685233" cy="93467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815F2C-24F1-8807-0F36-77FCA4DE75AC}"/>
              </a:ext>
            </a:extLst>
          </p:cNvPr>
          <p:cNvSpPr txBox="1"/>
          <p:nvPr/>
        </p:nvSpPr>
        <p:spPr>
          <a:xfrm>
            <a:off x="6629997" y="3364980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Hidden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1997AF7-01EA-C316-99F7-E4F52DD08DC7}"/>
              </a:ext>
            </a:extLst>
          </p:cNvPr>
          <p:cNvSpPr/>
          <p:nvPr/>
        </p:nvSpPr>
        <p:spPr>
          <a:xfrm>
            <a:off x="9045774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2ADF00E-BDF9-D193-2BE6-8066EB312ACC}"/>
              </a:ext>
            </a:extLst>
          </p:cNvPr>
          <p:cNvSpPr/>
          <p:nvPr/>
        </p:nvSpPr>
        <p:spPr>
          <a:xfrm>
            <a:off x="9250290" y="3085626"/>
            <a:ext cx="1685233" cy="93467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95BF5-6B83-D176-377A-7C427E1DB8CF}"/>
              </a:ext>
            </a:extLst>
          </p:cNvPr>
          <p:cNvSpPr txBox="1"/>
          <p:nvPr/>
        </p:nvSpPr>
        <p:spPr>
          <a:xfrm>
            <a:off x="9417796" y="3362411"/>
            <a:ext cx="1472227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Output layer</a:t>
            </a:r>
            <a:endParaRPr lang="ko-KR" altLang="en-US" b="1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D9C586A-3302-392B-230D-55F06B423DA2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8398681" y="4926851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9E3DC7B-1E3F-C5E0-DA5C-57D2562B404C}"/>
              </a:ext>
            </a:extLst>
          </p:cNvPr>
          <p:cNvCxnSpPr>
            <a:cxnSpLocks/>
          </p:cNvCxnSpPr>
          <p:nvPr/>
        </p:nvCxnSpPr>
        <p:spPr>
          <a:xfrm>
            <a:off x="5657317" y="4924350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A339620-3832-936B-0A69-391C86A2A19C}"/>
              </a:ext>
            </a:extLst>
          </p:cNvPr>
          <p:cNvSpPr txBox="1"/>
          <p:nvPr/>
        </p:nvSpPr>
        <p:spPr>
          <a:xfrm>
            <a:off x="1127144" y="3835435"/>
            <a:ext cx="14833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21-22</a:t>
            </a:r>
          </a:p>
          <a:p>
            <a:pPr algn="ctr"/>
            <a:r>
              <a:rPr lang="en-US" altLang="ko-KR" b="1" dirty="0"/>
              <a:t>22-23</a:t>
            </a:r>
          </a:p>
          <a:p>
            <a:pPr algn="ctr"/>
            <a:r>
              <a:rPr lang="en-US" altLang="ko-KR" b="1" dirty="0"/>
              <a:t>23-24</a:t>
            </a:r>
          </a:p>
          <a:p>
            <a:pPr algn="ctr"/>
            <a:r>
              <a:rPr lang="en-US" altLang="ko-KR" b="1" dirty="0"/>
              <a:t>24-25</a:t>
            </a:r>
          </a:p>
          <a:p>
            <a:pPr algn="ctr"/>
            <a:r>
              <a:rPr lang="en-US" altLang="ko-KR" b="1" dirty="0"/>
              <a:t>Game data</a:t>
            </a:r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A27E54-1A5E-30DE-1828-A8FCC609C643}"/>
              </a:ext>
            </a:extLst>
          </p:cNvPr>
          <p:cNvSpPr txBox="1"/>
          <p:nvPr/>
        </p:nvSpPr>
        <p:spPr>
          <a:xfrm>
            <a:off x="3868504" y="4020306"/>
            <a:ext cx="1483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120 Neurons</a:t>
            </a:r>
          </a:p>
          <a:p>
            <a:pPr algn="ctr"/>
            <a:r>
              <a:rPr lang="en-US" altLang="ko-KR" b="1" dirty="0" err="1"/>
              <a:t>BatchNorm</a:t>
            </a:r>
            <a:endParaRPr lang="en-US" altLang="ko-KR" b="1" dirty="0"/>
          </a:p>
          <a:p>
            <a:pPr algn="ctr"/>
            <a:r>
              <a:rPr lang="en-US" altLang="ko-KR" b="1" dirty="0"/>
              <a:t>Sigmoid</a:t>
            </a:r>
          </a:p>
          <a:p>
            <a:pPr algn="ctr"/>
            <a:r>
              <a:rPr lang="en-US" altLang="ko-KR" b="1" dirty="0"/>
              <a:t>Dropout 0.1</a:t>
            </a:r>
          </a:p>
          <a:p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CCD63-6BAA-BC43-EAF6-ED93E6803061}"/>
              </a:ext>
            </a:extLst>
          </p:cNvPr>
          <p:cNvSpPr txBox="1"/>
          <p:nvPr/>
        </p:nvSpPr>
        <p:spPr>
          <a:xfrm>
            <a:off x="6609866" y="4020306"/>
            <a:ext cx="1483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60 Neurons</a:t>
            </a:r>
          </a:p>
          <a:p>
            <a:pPr algn="ctr"/>
            <a:r>
              <a:rPr lang="en-US" altLang="ko-KR" b="1" dirty="0" err="1"/>
              <a:t>BatchNorm</a:t>
            </a:r>
            <a:endParaRPr lang="en-US" altLang="ko-KR" b="1" dirty="0"/>
          </a:p>
          <a:p>
            <a:pPr algn="ctr"/>
            <a:r>
              <a:rPr lang="en-US" altLang="ko-KR" b="1" dirty="0"/>
              <a:t>Sigmoid</a:t>
            </a:r>
          </a:p>
          <a:p>
            <a:pPr algn="ctr"/>
            <a:r>
              <a:rPr lang="en-US" altLang="ko-KR" b="1" dirty="0"/>
              <a:t>Dropout 0.1</a:t>
            </a:r>
          </a:p>
          <a:p>
            <a:pPr algn="ctr"/>
            <a:endParaRPr lang="en-US" altLang="ko-KR" b="1" dirty="0"/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743FF-C128-62CC-279A-FC48CEC87AC6}"/>
              </a:ext>
            </a:extLst>
          </p:cNvPr>
          <p:cNvSpPr txBox="1"/>
          <p:nvPr/>
        </p:nvSpPr>
        <p:spPr>
          <a:xfrm>
            <a:off x="9351229" y="4110651"/>
            <a:ext cx="1483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2 Neurons</a:t>
            </a:r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 err="1"/>
              <a:t>Softmax</a:t>
            </a: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552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553BF-45A6-DB8E-3A48-BC11CB36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71" y="501136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학습 파라미터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C43C01-3904-BFAE-3962-0D8500B9B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54143"/>
              </p:ext>
            </p:extLst>
          </p:nvPr>
        </p:nvGraphicFramePr>
        <p:xfrm>
          <a:off x="612648" y="3224814"/>
          <a:ext cx="9994391" cy="281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749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416308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914558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</a:rPr>
                        <a:t>하이퍼파라미터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리스트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최종 선정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Batch size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[16, 32, 64, 128]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32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Dropout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[0.1, 0.2, 0.3, 0.4, 0.5]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0.1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Patience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[10, 15, 20, 30]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581953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Activation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</a:t>
                      </a:r>
                      <a:r>
                        <a:rPr lang="en-US" altLang="ko-KR" sz="2000" dirty="0" err="1"/>
                        <a:t>Relu</a:t>
                      </a:r>
                      <a:r>
                        <a:rPr lang="en-US" altLang="ko-KR" sz="2000" dirty="0"/>
                        <a:t>, Sigmoid, </a:t>
                      </a:r>
                      <a:r>
                        <a:rPr lang="en-US" altLang="ko-KR" sz="2000" dirty="0" err="1"/>
                        <a:t>Softmax</a:t>
                      </a:r>
                      <a:r>
                        <a:rPr lang="en-US" altLang="ko-KR" sz="2000" dirty="0"/>
                        <a:t>, </a:t>
                      </a:r>
                      <a:r>
                        <a:rPr lang="en-US" altLang="ko-KR" sz="2000" dirty="0" err="1"/>
                        <a:t>BatchNorm</a:t>
                      </a:r>
                      <a:r>
                        <a:rPr lang="en-US" altLang="ko-KR" sz="2000" dirty="0"/>
                        <a:t>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Softmax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783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D53BF1-9E70-02A1-AD18-4756D8DCEADD}"/>
              </a:ext>
            </a:extLst>
          </p:cNvPr>
          <p:cNvSpPr txBox="1"/>
          <p:nvPr/>
        </p:nvSpPr>
        <p:spPr>
          <a:xfrm>
            <a:off x="612647" y="1671275"/>
            <a:ext cx="9994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승패예측 모델을 개발하는 과정에서 통상적으로 사용되는 기법들을 수정 및 보완 적용하며</a:t>
            </a:r>
            <a:r>
              <a:rPr lang="en-US" altLang="ko-KR" sz="2400" dirty="0"/>
              <a:t>, </a:t>
            </a:r>
            <a:r>
              <a:rPr lang="ko-KR" altLang="en-US" sz="2400" dirty="0"/>
              <a:t>가장 성능이 좋게 나오는 조합으로 선정하였다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07699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5E46-9683-68F9-F7C0-02A88C0A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BB1C1-266C-8537-E3A6-898D1404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9" y="437673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결과 </a:t>
            </a:r>
            <a:br>
              <a:rPr lang="en-US" altLang="ko-KR" sz="3600" dirty="0"/>
            </a:br>
            <a:r>
              <a:rPr lang="en-US" altLang="ko-KR" sz="3600" dirty="0"/>
              <a:t> </a:t>
            </a:r>
            <a:r>
              <a:rPr lang="en-US" altLang="ko-KR" dirty="0"/>
              <a:t>MLP </a:t>
            </a:r>
            <a:r>
              <a:rPr lang="ko-KR" altLang="en-US" sz="2800" dirty="0"/>
              <a:t>알고리즘을</a:t>
            </a:r>
            <a:r>
              <a:rPr lang="ko-KR" altLang="en-US" dirty="0"/>
              <a:t> </a:t>
            </a:r>
            <a:r>
              <a:rPr lang="ko-KR" altLang="en-US" sz="2800" dirty="0"/>
              <a:t>활용한 모델 학습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9856E60-CE20-6AB2-598A-6DD998715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411928"/>
              </p:ext>
            </p:extLst>
          </p:nvPr>
        </p:nvGraphicFramePr>
        <p:xfrm>
          <a:off x="643861" y="2187565"/>
          <a:ext cx="7824798" cy="166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266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608266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608266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Train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0.9580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0.1365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Validation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0.9685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0.1292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Test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0.9674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0.1305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855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04E3BF-42DC-2901-B328-A2E13B7C0F73}"/>
              </a:ext>
            </a:extLst>
          </p:cNvPr>
          <p:cNvSpPr txBox="1"/>
          <p:nvPr/>
        </p:nvSpPr>
        <p:spPr>
          <a:xfrm>
            <a:off x="387811" y="1551377"/>
            <a:ext cx="10091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과적합을 방지하기 위해 </a:t>
            </a:r>
            <a:r>
              <a:rPr lang="en-US" altLang="ko-KR" sz="2000" dirty="0" err="1"/>
              <a:t>EarlyStopping</a:t>
            </a:r>
            <a:r>
              <a:rPr lang="ko-KR" altLang="en-US" sz="2000" dirty="0"/>
              <a:t>과 </a:t>
            </a:r>
            <a:r>
              <a:rPr lang="en-US" altLang="ko-KR" sz="2000" dirty="0"/>
              <a:t>drop out </a:t>
            </a:r>
            <a:r>
              <a:rPr lang="ko-KR" altLang="en-US" sz="2000" dirty="0"/>
              <a:t>적용하여 모델의 </a:t>
            </a:r>
            <a:r>
              <a:rPr lang="en-US" altLang="ko-KR" sz="2000" dirty="0"/>
              <a:t>Epoch</a:t>
            </a:r>
            <a:r>
              <a:rPr lang="ko-KR" altLang="en-US" sz="2000" dirty="0"/>
              <a:t>를 설정하였다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12" name="그림 11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26E34C-2EB2-754D-8322-5C98ACC5C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0" y="3851264"/>
            <a:ext cx="3844663" cy="2883497"/>
          </a:xfrm>
          <a:prstGeom prst="rect">
            <a:avLst/>
          </a:prstGeom>
        </p:spPr>
      </p:pic>
      <p:pic>
        <p:nvPicPr>
          <p:cNvPr id="14" name="그림 13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B25AAB-B079-EE0F-8F0D-61152ED88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473" y="3851263"/>
            <a:ext cx="3844663" cy="288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9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7992-0294-2A5F-FCD1-88CAF17E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3C62F-03E6-AC28-66EF-AD0948680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 </a:t>
            </a:r>
            <a:r>
              <a:rPr lang="en-US" altLang="ko-KR" dirty="0"/>
              <a:t>– Final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5E7ED91-44C2-2AB6-02F4-E6703B533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88370"/>
              </p:ext>
            </p:extLst>
          </p:nvPr>
        </p:nvGraphicFramePr>
        <p:xfrm>
          <a:off x="6333194" y="1352382"/>
          <a:ext cx="5334000" cy="30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025">
                  <a:extLst>
                    <a:ext uri="{9D8B030D-6E8A-4147-A177-3AD203B41FA5}">
                      <a16:colId xmlns:a16="http://schemas.microsoft.com/office/drawing/2014/main" val="3777140694"/>
                    </a:ext>
                  </a:extLst>
                </a:gridCol>
                <a:gridCol w="1179070">
                  <a:extLst>
                    <a:ext uri="{9D8B030D-6E8A-4147-A177-3AD203B41FA5}">
                      <a16:colId xmlns:a16="http://schemas.microsoft.com/office/drawing/2014/main" val="2189392625"/>
                    </a:ext>
                  </a:extLst>
                </a:gridCol>
                <a:gridCol w="1684572">
                  <a:extLst>
                    <a:ext uri="{9D8B030D-6E8A-4147-A177-3AD203B41FA5}">
                      <a16:colId xmlns:a16="http://schemas.microsoft.com/office/drawing/2014/main" val="749029015"/>
                    </a:ext>
                  </a:extLst>
                </a:gridCol>
                <a:gridCol w="1680333">
                  <a:extLst>
                    <a:ext uri="{9D8B030D-6E8A-4147-A177-3AD203B41FA5}">
                      <a16:colId xmlns:a16="http://schemas.microsoft.com/office/drawing/2014/main" val="660343506"/>
                    </a:ext>
                  </a:extLst>
                </a:gridCol>
              </a:tblGrid>
              <a:tr h="495443">
                <a:tc rowSpan="2" gridSpan="2"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승패예측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시스템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준거분류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463901"/>
                  </a:ext>
                </a:extLst>
              </a:tr>
              <a:tr h="46542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승</a:t>
                      </a:r>
                      <a:endParaRPr lang="en-US" altLang="ko-KR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98937"/>
                  </a:ext>
                </a:extLst>
              </a:tr>
              <a:tr h="1053257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예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측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분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118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72964"/>
                  </a:ext>
                </a:extLst>
              </a:tr>
              <a:tr h="105325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93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903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0FE72D-0305-599C-6D2A-8CF4E4E6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59570"/>
              </p:ext>
            </p:extLst>
          </p:nvPr>
        </p:nvGraphicFramePr>
        <p:xfrm>
          <a:off x="6333194" y="4654082"/>
          <a:ext cx="5334000" cy="1556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53566069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00224521"/>
                    </a:ext>
                  </a:extLst>
                </a:gridCol>
              </a:tblGrid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분류정확확률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(Acc)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0.977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657847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민감도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0.992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20868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특이도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(Spe)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</a:rPr>
                        <a:t>0.967</a:t>
                      </a:r>
                      <a:endParaRPr lang="ko-KR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73437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C3282CF3-2421-F63C-976C-592A0901C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4" y="1670858"/>
            <a:ext cx="5786201" cy="443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29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C761-E6BB-F3CA-FDAE-30952AA9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3702C92-454E-4082-A2C7-438721EDD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63" t="12468" r="8543" b="23328"/>
          <a:stretch>
            <a:fillRect/>
          </a:stretch>
        </p:blipFill>
        <p:spPr>
          <a:xfrm>
            <a:off x="209756" y="1541092"/>
            <a:ext cx="10372144" cy="50221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09DFC52-7245-8678-6A39-8E24CB8B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 </a:t>
            </a:r>
            <a:r>
              <a:rPr lang="en-US" altLang="ko-KR" dirty="0"/>
              <a:t>– Final model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81D1129-D8D4-DFA6-1816-9947DA9D6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30237"/>
              </p:ext>
            </p:extLst>
          </p:nvPr>
        </p:nvGraphicFramePr>
        <p:xfrm>
          <a:off x="299573" y="901012"/>
          <a:ext cx="1009992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412">
                  <a:extLst>
                    <a:ext uri="{9D8B030D-6E8A-4147-A177-3AD203B41FA5}">
                      <a16:colId xmlns:a16="http://schemas.microsoft.com/office/drawing/2014/main" val="248802301"/>
                    </a:ext>
                  </a:extLst>
                </a:gridCol>
                <a:gridCol w="1293542">
                  <a:extLst>
                    <a:ext uri="{9D8B030D-6E8A-4147-A177-3AD203B41FA5}">
                      <a16:colId xmlns:a16="http://schemas.microsoft.com/office/drawing/2014/main" val="369738466"/>
                    </a:ext>
                  </a:extLst>
                </a:gridCol>
                <a:gridCol w="1527717">
                  <a:extLst>
                    <a:ext uri="{9D8B030D-6E8A-4147-A177-3AD203B41FA5}">
                      <a16:colId xmlns:a16="http://schemas.microsoft.com/office/drawing/2014/main" val="3468478446"/>
                    </a:ext>
                  </a:extLst>
                </a:gridCol>
                <a:gridCol w="1471961">
                  <a:extLst>
                    <a:ext uri="{9D8B030D-6E8A-4147-A177-3AD203B41FA5}">
                      <a16:colId xmlns:a16="http://schemas.microsoft.com/office/drawing/2014/main" val="4025192374"/>
                    </a:ext>
                  </a:extLst>
                </a:gridCol>
                <a:gridCol w="1527717">
                  <a:extLst>
                    <a:ext uri="{9D8B030D-6E8A-4147-A177-3AD203B41FA5}">
                      <a16:colId xmlns:a16="http://schemas.microsoft.com/office/drawing/2014/main" val="251541654"/>
                    </a:ext>
                  </a:extLst>
                </a:gridCol>
                <a:gridCol w="1527918">
                  <a:extLst>
                    <a:ext uri="{9D8B030D-6E8A-4147-A177-3AD203B41FA5}">
                      <a16:colId xmlns:a16="http://schemas.microsoft.com/office/drawing/2014/main" val="227987892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8144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경기</a:t>
                      </a:r>
                      <a:endParaRPr lang="en-US" altLang="ko-KR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고유번호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Home</a:t>
                      </a:r>
                    </a:p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Away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1Quarter</a:t>
                      </a:r>
                    </a:p>
                    <a:p>
                      <a:pPr latinLnBrk="1"/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2Quarter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3Quarter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4Quarter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Overtime</a:t>
                      </a: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연장전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2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257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8F942-9DE1-4324-CFC9-F0109E55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1344" y="318619"/>
            <a:ext cx="4045078" cy="965454"/>
          </a:xfrm>
        </p:spPr>
        <p:txBody>
          <a:bodyPr vert="horz" anchor="t">
            <a:normAutofit/>
          </a:bodyPr>
          <a:lstStyle/>
          <a:p>
            <a:r>
              <a:rPr lang="en-US" altLang="ko-KR" sz="4400" dirty="0"/>
              <a:t>Website</a:t>
            </a:r>
            <a:endParaRPr lang="ko-KR" altLang="en-US" sz="4400" dirty="0"/>
          </a:p>
        </p:txBody>
      </p:sp>
      <p:pic>
        <p:nvPicPr>
          <p:cNvPr id="3" name="그림 2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85BB15-E806-697A-BFD5-15A5BF36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98228" cy="6858000"/>
          </a:xfrm>
          <a:prstGeom prst="rect">
            <a:avLst/>
          </a:prstGeom>
        </p:spPr>
      </p:pic>
      <p:pic>
        <p:nvPicPr>
          <p:cNvPr id="5" name="그림 4" descr="패턴, 사각형, 예술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4BFEC4-DAC8-B4B4-F69A-2D735B38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810" y="4818105"/>
            <a:ext cx="1916455" cy="1916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10786E-B029-D324-81F9-E51A56AF24DF}"/>
              </a:ext>
            </a:extLst>
          </p:cNvPr>
          <p:cNvSpPr txBox="1"/>
          <p:nvPr/>
        </p:nvSpPr>
        <p:spPr>
          <a:xfrm>
            <a:off x="6368143" y="1795702"/>
            <a:ext cx="55843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실시간 농구 경기 데이터를 기반으로 승패 확률을 시각적으로 제공하는 플랫폼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경기가 진행되면서 예측 결과가 어떻게 달라지는지를 한눈에 확인할 수 있어</a:t>
            </a:r>
            <a:r>
              <a:rPr lang="en-US" altLang="ko-KR"/>
              <a:t>, </a:t>
            </a:r>
            <a:r>
              <a:rPr lang="ko-KR" altLang="en-US"/>
              <a:t>수학적 모델의 판단 과정을 직관적으로 이해할 수 있다</a:t>
            </a:r>
            <a:r>
              <a:rPr lang="en-US" altLang="ko-KR"/>
              <a:t>. </a:t>
            </a:r>
            <a:r>
              <a:rPr lang="ko-KR" altLang="en-US"/>
              <a:t>이를 통해 복잡한 수식이나 계산 과정보다 예측 결과와 그 변화 자체에 집중할 수 있도록 구성했다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3370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149A4-62A3-447E-1EC6-555643AD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FCB6E-F089-A0BF-4182-578C6380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8" y="385294"/>
            <a:ext cx="6658531" cy="965454"/>
          </a:xfrm>
        </p:spPr>
        <p:txBody>
          <a:bodyPr vert="horz" anchor="t">
            <a:normAutofit/>
          </a:bodyPr>
          <a:lstStyle/>
          <a:p>
            <a:r>
              <a:rPr lang="en-US" altLang="ko-KR" sz="4400" dirty="0"/>
              <a:t>Website playing example</a:t>
            </a:r>
            <a:endParaRPr lang="ko-KR" altLang="en-US" sz="4400" dirty="0"/>
          </a:p>
        </p:txBody>
      </p:sp>
      <p:pic>
        <p:nvPicPr>
          <p:cNvPr id="5" name="그림 4" descr="패턴, 사각형, 예술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D044B1-534F-C9AB-D8D4-1290BD21B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810" y="4818105"/>
            <a:ext cx="1916455" cy="1916455"/>
          </a:xfrm>
          <a:prstGeom prst="rect">
            <a:avLst/>
          </a:prstGeom>
        </p:spPr>
      </p:pic>
      <p:pic>
        <p:nvPicPr>
          <p:cNvPr id="3" name="KakaoTalk_20251220_185454073">
            <a:hlinkClick r:id="" action="ppaction://media"/>
            <a:extLst>
              <a:ext uri="{FF2B5EF4-FFF2-40B4-BE49-F238E27FC236}">
                <a16:creationId xmlns:a16="http://schemas.microsoft.com/office/drawing/2014/main" id="{779BB8D4-52A0-9955-D080-B4D1FFC96E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3768" y="1214824"/>
            <a:ext cx="8300556" cy="514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9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861DD-5060-8728-4623-8E9E6BC0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513637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향후 발전가능성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16C39-A140-0C32-7A7A-30541311AF82}"/>
              </a:ext>
            </a:extLst>
          </p:cNvPr>
          <p:cNvSpPr txBox="1"/>
          <p:nvPr/>
        </p:nvSpPr>
        <p:spPr>
          <a:xfrm>
            <a:off x="474996" y="1701625"/>
            <a:ext cx="1087221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승률 분석 모델을 학습 시킬 때에</a:t>
            </a:r>
            <a:r>
              <a:rPr lang="en-US" altLang="ko-KR" sz="2400" dirty="0"/>
              <a:t> </a:t>
            </a:r>
            <a:r>
              <a:rPr lang="ko-KR" altLang="en-US" sz="2400" dirty="0"/>
              <a:t>스포츠 분석의 단위를 프로 구단의 </a:t>
            </a:r>
            <a:r>
              <a:rPr lang="en-US" altLang="ko-KR" sz="2400" dirty="0"/>
              <a:t>10</a:t>
            </a:r>
            <a:r>
              <a:rPr lang="ko-KR" altLang="en-US" sz="2400" dirty="0"/>
              <a:t>개 팀에 대해 데이터 학습을 하였는데</a:t>
            </a:r>
            <a:r>
              <a:rPr lang="en-US" altLang="ko-KR" sz="2400" dirty="0"/>
              <a:t>, </a:t>
            </a:r>
            <a:r>
              <a:rPr lang="ko-KR" altLang="en-US" sz="2400" dirty="0"/>
              <a:t>향후 발전 가능성의 방향성을 각 구단의 선수들에 대한 모든 데이터를 학습한다면</a:t>
            </a:r>
            <a:r>
              <a:rPr lang="en-US" altLang="ko-KR" sz="2400" dirty="0"/>
              <a:t>, </a:t>
            </a:r>
            <a:r>
              <a:rPr lang="ko-KR" altLang="en-US" sz="2400" dirty="0"/>
              <a:t>이번 프로젝트에서 고려하지 못한 요소들인</a:t>
            </a:r>
            <a:r>
              <a:rPr lang="en-US" altLang="ko-KR" sz="2400" dirty="0"/>
              <a:t> </a:t>
            </a:r>
            <a:r>
              <a:rPr lang="ko-KR" altLang="en-US" sz="2400" dirty="0"/>
              <a:t>선수 부상에 대한 변수나 핵심 선수의 파울 아웃과 같은 경기 내적으로 일어날 수 있는 추가적 변수 발생 상황에 대해서도 학습할 수 있을 것이다</a:t>
            </a:r>
            <a:r>
              <a:rPr lang="en-US" altLang="ko-KR" sz="2400" dirty="0"/>
              <a:t>.  </a:t>
            </a:r>
          </a:p>
          <a:p>
            <a:endParaRPr lang="en-US" altLang="ko-KR" sz="2400" dirty="0"/>
          </a:p>
          <a:p>
            <a:r>
              <a:rPr lang="ko-KR" altLang="en-US" sz="2400" dirty="0"/>
              <a:t>또한</a:t>
            </a:r>
            <a:r>
              <a:rPr lang="en-US" altLang="ko-KR" sz="2400" dirty="0"/>
              <a:t>, </a:t>
            </a:r>
            <a:r>
              <a:rPr lang="ko-KR" altLang="en-US" sz="2400" dirty="0"/>
              <a:t>기존 논문보다 더 많고</a:t>
            </a:r>
            <a:r>
              <a:rPr lang="en-US" altLang="ko-KR" sz="2400" dirty="0"/>
              <a:t>,</a:t>
            </a:r>
            <a:r>
              <a:rPr lang="ko-KR" altLang="en-US" sz="2400" dirty="0"/>
              <a:t> 예측하기 힘든 변수들을 사용했음에도</a:t>
            </a:r>
            <a:r>
              <a:rPr lang="en-US" altLang="ko-KR" sz="2400" dirty="0"/>
              <a:t>, </a:t>
            </a:r>
            <a:r>
              <a:rPr lang="ko-KR" altLang="en-US" sz="2400" dirty="0"/>
              <a:t>승률 예측 정확도 면에서 더 좋은 결과값을 만들어냈다</a:t>
            </a:r>
            <a:r>
              <a:rPr lang="en-US" altLang="ko-KR" sz="2400" dirty="0"/>
              <a:t>. </a:t>
            </a:r>
            <a:r>
              <a:rPr lang="ko-KR" altLang="en-US" sz="2400" dirty="0"/>
              <a:t>또한 로컬 웹페이지를 구축한 뒤 배포하는 형태로 이 프로젝트를 마무리하였지만</a:t>
            </a:r>
            <a:r>
              <a:rPr lang="en-US" altLang="ko-KR" sz="2400" dirty="0"/>
              <a:t>, </a:t>
            </a:r>
            <a:r>
              <a:rPr lang="ko-KR" altLang="en-US" sz="2400" dirty="0"/>
              <a:t>이런 서비스를 제공하는 매체가 없다는 점을 생각하였을 때</a:t>
            </a:r>
            <a:r>
              <a:rPr lang="en-US" altLang="ko-KR" sz="2400" dirty="0"/>
              <a:t>, </a:t>
            </a:r>
            <a:r>
              <a:rPr lang="ko-KR" altLang="en-US" sz="2400" dirty="0"/>
              <a:t>향후 더 많은 기능을 추가하여 일반인부터 프로 구단에 까지 도움을 줄 수 있을 것이라 생각된다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0661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2739-783F-5F90-02B3-08D73350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D965E-38F2-008C-224C-378A8BF9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513637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참고문헌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ADA99-1C5B-0EF8-4C1F-FA98EA364F70}"/>
              </a:ext>
            </a:extLst>
          </p:cNvPr>
          <p:cNvSpPr txBox="1"/>
          <p:nvPr/>
        </p:nvSpPr>
        <p:spPr>
          <a:xfrm>
            <a:off x="474992" y="2355074"/>
            <a:ext cx="10872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구승환</a:t>
            </a:r>
            <a:r>
              <a:rPr lang="en-US" altLang="ko-KR" sz="2400" dirty="0"/>
              <a:t>(2009).“</a:t>
            </a:r>
            <a:r>
              <a:rPr lang="ko-KR" altLang="en-US" sz="2400" dirty="0"/>
              <a:t>국내 남자 프로농구 승패 예측 모형 비교 연구</a:t>
            </a:r>
            <a:r>
              <a:rPr lang="en-US" altLang="ko-KR" sz="2400" dirty="0"/>
              <a:t>”.[KCI],</a:t>
            </a:r>
            <a:r>
              <a:rPr lang="en-US" altLang="ko-KR" sz="2400" dirty="0">
                <a:solidFill>
                  <a:srgbClr val="4485DC"/>
                </a:solidFill>
              </a:rPr>
              <a:t> </a:t>
            </a:r>
            <a:r>
              <a:rPr lang="en-US" altLang="ko-KR" sz="2400" dirty="0"/>
              <a:t>no.4, </a:t>
            </a:r>
            <a:r>
              <a:rPr lang="ko-KR" altLang="en-US" sz="2400" dirty="0"/>
              <a:t>통권 </a:t>
            </a:r>
            <a:r>
              <a:rPr lang="en-US" altLang="ko-KR" sz="2400" dirty="0"/>
              <a:t>80</a:t>
            </a:r>
            <a:r>
              <a:rPr lang="ko-KR" altLang="en-US" sz="2400" dirty="0"/>
              <a:t>호 </a:t>
            </a:r>
            <a:r>
              <a:rPr lang="en-US" altLang="ko-KR" sz="2400" dirty="0"/>
              <a:t>pp. 704-711 </a:t>
            </a:r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3EEAB-8D27-6545-9448-9B6B4C0E6953}"/>
              </a:ext>
            </a:extLst>
          </p:cNvPr>
          <p:cNvSpPr txBox="1"/>
          <p:nvPr/>
        </p:nvSpPr>
        <p:spPr>
          <a:xfrm>
            <a:off x="474993" y="3792071"/>
            <a:ext cx="10872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윤효준</a:t>
            </a:r>
            <a:r>
              <a:rPr lang="en-US" altLang="ko-KR" sz="2400" dirty="0"/>
              <a:t>(2025).“</a:t>
            </a:r>
            <a:r>
              <a:rPr lang="ko-KR" altLang="en-US" sz="2400" dirty="0"/>
              <a:t>딥러닝 기반의 한국프로농구 실시간 승패예측 시스템 개발</a:t>
            </a:r>
            <a:r>
              <a:rPr lang="en-US" altLang="ko-KR" sz="2400" dirty="0"/>
              <a:t>”.[KCI],</a:t>
            </a:r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altLang="ko-KR" sz="2400" dirty="0"/>
              <a:t>vol.43, no.1, pp. 63-71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90009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DBA32-6CE3-0029-D7DE-2DB5EDA0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3418"/>
            <a:ext cx="8430768" cy="1842020"/>
          </a:xfrm>
        </p:spPr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09724-BACC-673D-510B-2B5521BB5C7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9417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18151</TotalTime>
  <Words>1526</Words>
  <Application>Microsoft Macintosh PowerPoint</Application>
  <PresentationFormat>와이드스크린</PresentationFormat>
  <Paragraphs>363</Paragraphs>
  <Slides>25</Slides>
  <Notes>4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맑은 고딕</vt:lpstr>
      <vt:lpstr>Aptos</vt:lpstr>
      <vt:lpstr>Aptos Light</vt:lpstr>
      <vt:lpstr>Arial</vt:lpstr>
      <vt:lpstr>Cambria Math</vt:lpstr>
      <vt:lpstr>Chroma</vt:lpstr>
      <vt:lpstr>스포츠 데이터 분석  실시간 승률 예측</vt:lpstr>
      <vt:lpstr>목차</vt:lpstr>
      <vt:lpstr>주제 선정 동기</vt:lpstr>
      <vt:lpstr>데이터 선정</vt:lpstr>
      <vt:lpstr>데이터 수집 및 처리 과정 </vt:lpstr>
      <vt:lpstr>데이터 </vt:lpstr>
      <vt:lpstr>변수 내 핵심 지표들(Secondary Metrics) </vt:lpstr>
      <vt:lpstr>Possessions</vt:lpstr>
      <vt:lpstr>Net Rating</vt:lpstr>
      <vt:lpstr> Four Factors </vt:lpstr>
      <vt:lpstr>승률에 영향을 주는 변수들의 상관관계</vt:lpstr>
      <vt:lpstr>PowerPoint 프레젠테이션</vt:lpstr>
      <vt:lpstr>PowerPoint 프레젠테이션</vt:lpstr>
      <vt:lpstr>Bar graph</vt:lpstr>
      <vt:lpstr>Multi-Layer Perceptron</vt:lpstr>
      <vt:lpstr>모델 아키텍쳐</vt:lpstr>
      <vt:lpstr>학습 파라미터</vt:lpstr>
      <vt:lpstr>연구 결과   MLP 알고리즘을 활용한 모델 학습 결과</vt:lpstr>
      <vt:lpstr>승패 예측 시스템 성능 검증 – Final model</vt:lpstr>
      <vt:lpstr>승패 예측 시스템 성능 검증 – Final model</vt:lpstr>
      <vt:lpstr>Website</vt:lpstr>
      <vt:lpstr>Website playing example</vt:lpstr>
      <vt:lpstr>향후 발전가능성</vt:lpstr>
      <vt:lpstr>참고문헌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민찬 주</dc:creator>
  <cp:lastModifiedBy>민찬 주</cp:lastModifiedBy>
  <cp:revision>40</cp:revision>
  <dcterms:created xsi:type="dcterms:W3CDTF">2025-09-20T07:51:50Z</dcterms:created>
  <dcterms:modified xsi:type="dcterms:W3CDTF">2025-12-20T14:49:25Z</dcterms:modified>
</cp:coreProperties>
</file>